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Cai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airo-bold.fntdata"/><Relationship Id="rId16" Type="http://schemas.openxmlformats.org/officeDocument/2006/relationships/font" Target="fonts/Cai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1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31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5448300"/>
            <a:ext cx="3810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05551" y="571500"/>
            <a:ext cx="718089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مقدمة في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750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 الوسائط المتعددة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0" y="4305300"/>
            <a:ext cx="6286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A5B1C2"/>
                </a:solidFill>
                <a:latin typeface="Cairo"/>
                <a:ea typeface="Cairo"/>
                <a:cs typeface="Cairo"/>
                <a:sym typeface="Cairo"/>
              </a:rPr>
              <a:t>عالم التكنولوجيا الممتع للصف الأول الابتدائي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5543550"/>
            <a:ext cx="36195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3575"/>
            <a:ext cx="5286375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9077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743700" y="2724150"/>
            <a:ext cx="469058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B3B5A"/>
                </a:solidFill>
                <a:latin typeface="Cairo"/>
                <a:ea typeface="Cairo"/>
                <a:cs typeface="Cairo"/>
                <a:sym typeface="Cairo"/>
              </a:rPr>
              <a:t>متعدد + وسائط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43700" y="3724275"/>
            <a:ext cx="446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متعدد: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 يعني أكثر من واحد.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43700" y="4438650"/>
            <a:ext cx="44672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وسائط: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 طرق للتواصل ومشاركة الأفكار.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43700" y="5581650"/>
            <a:ext cx="44672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تستخدم النصوص والأصوات والفيديو والصور لنقل المعلومات.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581275"/>
            <a:ext cx="4905375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28575" y="571500"/>
            <a:ext cx="1140142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ما هي الوسائط المتعددة؟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11525250" y="571500"/>
            <a:ext cx="95250" cy="981075"/>
          </a:xfrm>
          <a:prstGeom prst="rect">
            <a:avLst/>
          </a:prstGeom>
          <a:solidFill>
            <a:srgbClr val="FED3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691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24137"/>
            <a:ext cx="528637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157412"/>
            <a:ext cx="4905375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81075" y="3186112"/>
            <a:ext cx="38957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تتكون من حروف وأرقام.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81075" y="3852862"/>
            <a:ext cx="38957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نراها في الجمل والقصص.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81075" y="4519612"/>
            <a:ext cx="38957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نستخدم </a:t>
            </a: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لوحة المفاتيح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 للكتابة.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28575" y="571500"/>
            <a:ext cx="1140142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1. ملفات النصوص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1525250" y="571500"/>
            <a:ext cx="95250" cy="981075"/>
          </a:xfrm>
          <a:prstGeom prst="rect">
            <a:avLst/>
          </a:prstGeom>
          <a:solidFill>
            <a:srgbClr val="FED3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14925" y="3186112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14925" y="3852862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14925" y="4519612"/>
            <a:ext cx="3333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96050"/>
            <a:ext cx="1104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33575"/>
            <a:ext cx="5381625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33575"/>
            <a:ext cx="5381625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686550"/>
            <a:ext cx="106680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504384" y="3943350"/>
            <a:ext cx="48506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B3B5A"/>
                </a:solidFill>
                <a:latin typeface="Cairo"/>
                <a:ea typeface="Cairo"/>
                <a:cs typeface="Cairo"/>
                <a:sym typeface="Cairo"/>
              </a:rPr>
              <a:t>الموسيقى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619875" y="4943475"/>
            <a:ext cx="46196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نستمع للأناشيد الجميلة.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37009" y="3943350"/>
            <a:ext cx="48506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B3B5A"/>
                </a:solidFill>
                <a:latin typeface="Cairo"/>
                <a:ea typeface="Cairo"/>
                <a:cs typeface="Cairo"/>
                <a:sym typeface="Cairo"/>
              </a:rPr>
              <a:t>الأصوات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4943475"/>
            <a:ext cx="46196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أصواتنا المسجلة والكلام.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312" y="260032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09900" y="2600325"/>
            <a:ext cx="5048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28575" y="571500"/>
            <a:ext cx="1140142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2. ملفات الصوت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11525250" y="571500"/>
            <a:ext cx="95250" cy="981075"/>
          </a:xfrm>
          <a:prstGeom prst="rect">
            <a:avLst/>
          </a:prstGeom>
          <a:solidFill>
            <a:srgbClr val="FED3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09825"/>
            <a:ext cx="5286375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691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157412"/>
            <a:ext cx="4905375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743700" y="2971800"/>
            <a:ext cx="38957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الفيديو هو صور تتحرك.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43700" y="3638550"/>
            <a:ext cx="38957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نسجله بـ </a:t>
            </a: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الكاميرا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43700" y="4305300"/>
            <a:ext cx="38957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نشاهد الأفلام والمقاطع القصيرة.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28575" y="571500"/>
            <a:ext cx="1140142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3. ملفات الفيديو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1525250" y="571500"/>
            <a:ext cx="95250" cy="981075"/>
          </a:xfrm>
          <a:prstGeom prst="rect">
            <a:avLst/>
          </a:prstGeom>
          <a:solidFill>
            <a:srgbClr val="FED3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77550" y="2971800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77550" y="3638550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77550" y="4305300"/>
            <a:ext cx="3333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3843337"/>
            <a:ext cx="457200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638925" y="766762"/>
            <a:ext cx="460057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الرسوم المتحركة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11334750" y="766762"/>
            <a:ext cx="95250" cy="981075"/>
          </a:xfrm>
          <a:prstGeom prst="rect">
            <a:avLst/>
          </a:prstGeom>
          <a:solidFill>
            <a:srgbClr val="FED3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858000" y="2414587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هي طريقة لجعل الصور تبدو وكأنها تتحرك!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267575" y="4538662"/>
            <a:ext cx="37528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مثل أفلام الكرتون التي نحبها جميعاً.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691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00275"/>
            <a:ext cx="528637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157412"/>
            <a:ext cx="4905375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981075" y="2895600"/>
            <a:ext cx="446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نستخدم برامج مختلفة لفتح الملفات: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81075" y="3609975"/>
            <a:ext cx="38957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المفكرة (Notepad)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 للنصوص.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81075" y="4276725"/>
            <a:ext cx="38957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الرسام (MS Paint)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 للصور.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81075" y="4943475"/>
            <a:ext cx="38957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مشغل الوسائط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 للفيديو.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28575" y="571500"/>
            <a:ext cx="1140142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برامج مفيدة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11525250" y="571500"/>
            <a:ext cx="95250" cy="981075"/>
          </a:xfrm>
          <a:prstGeom prst="rect">
            <a:avLst/>
          </a:prstGeom>
          <a:solidFill>
            <a:srgbClr val="FED3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14925" y="3609975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14925" y="4276725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14925" y="4943475"/>
            <a:ext cx="3333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86375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69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743700" y="2728912"/>
            <a:ext cx="469058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B3B5A"/>
                </a:solidFill>
                <a:latin typeface="Cairo"/>
                <a:ea typeface="Cairo"/>
                <a:cs typeface="Cairo"/>
                <a:sym typeface="Cairo"/>
              </a:rPr>
              <a:t>التكبير والتصغير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743700" y="3729037"/>
            <a:ext cx="446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علامة </a:t>
            </a: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(+)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 لتكبير الصورة.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743700" y="4443412"/>
            <a:ext cx="446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علامة </a:t>
            </a:r>
            <a:r>
              <a:rPr b="1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(-)</a:t>
            </a: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 لتصغير الصورة.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743700" y="5157787"/>
            <a:ext cx="4467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الأسهم للتنقل بين الصور!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157412"/>
            <a:ext cx="4905375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28575" y="571500"/>
            <a:ext cx="1140142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أدوات الصور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1525250" y="571500"/>
            <a:ext cx="95250" cy="981075"/>
          </a:xfrm>
          <a:prstGeom prst="rect">
            <a:avLst/>
          </a:prstGeom>
          <a:solidFill>
            <a:srgbClr val="FED3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96050"/>
            <a:ext cx="11049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33575"/>
            <a:ext cx="5381625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33575"/>
            <a:ext cx="5381625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686550"/>
            <a:ext cx="10668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6504384" y="3943350"/>
            <a:ext cx="48506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B3B5A"/>
                </a:solidFill>
                <a:latin typeface="Cairo"/>
                <a:ea typeface="Cairo"/>
                <a:cs typeface="Cairo"/>
                <a:sym typeface="Cairo"/>
              </a:rPr>
              <a:t>تشغيل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619875" y="4943475"/>
            <a:ext cx="46196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لنبدأ الفيديو!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37009" y="3943350"/>
            <a:ext cx="48506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B3B5A"/>
                </a:solidFill>
                <a:latin typeface="Cairo"/>
                <a:ea typeface="Cairo"/>
                <a:cs typeface="Cairo"/>
                <a:sym typeface="Cairo"/>
              </a:rPr>
              <a:t>إيقاف مؤقت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52500" y="4943475"/>
            <a:ext cx="46196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B6584"/>
                </a:solidFill>
                <a:latin typeface="Cairo"/>
                <a:ea typeface="Cairo"/>
                <a:cs typeface="Cairo"/>
                <a:sym typeface="Cairo"/>
              </a:rPr>
              <a:t>لنتوقف قليلاً!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77275" y="2600325"/>
            <a:ext cx="5048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52762" y="2600325"/>
            <a:ext cx="4191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28575" y="571500"/>
            <a:ext cx="1140142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التشغيل والإيقاف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11525250" y="571500"/>
            <a:ext cx="95250" cy="981075"/>
          </a:xfrm>
          <a:prstGeom prst="rect">
            <a:avLst/>
          </a:prstGeom>
          <a:solidFill>
            <a:srgbClr val="FED3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7837" y="1314450"/>
            <a:ext cx="10763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2455545" y="2552700"/>
            <a:ext cx="728091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4B7BEC"/>
                </a:solidFill>
                <a:latin typeface="Cairo"/>
                <a:ea typeface="Cairo"/>
                <a:cs typeface="Cairo"/>
                <a:sym typeface="Cairo"/>
              </a:rPr>
              <a:t>شكراً لكم يا أبطال!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629150" y="4686300"/>
            <a:ext cx="2933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A5B1C2"/>
                </a:solidFill>
                <a:latin typeface="Cairo"/>
                <a:ea typeface="Cairo"/>
                <a:cs typeface="Cairo"/>
                <a:sym typeface="Cairo"/>
              </a:rPr>
              <a:t>هل لديكم أي سؤال؟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