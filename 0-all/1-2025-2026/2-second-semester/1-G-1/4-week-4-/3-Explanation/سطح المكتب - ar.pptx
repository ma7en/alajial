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1905000"/>
            <a:ext cx="4025900" cy="736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19100"/>
            <a:ext cx="2870200" cy="698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2100" y="914400"/>
            <a:ext cx="977900" cy="7239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309620" y="1917700"/>
            <a:ext cx="4831080" cy="71219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5609"/>
              </a:lnSpc>
              <a:buNone/>
            </a:pPr>
            <a:r>
              <a:rPr lang="en-US" sz="5700" b="1" spc="-108" kern="0" dirty="0">
                <a:solidFill>
                  <a:srgbClr val="10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UlxIJ98l Ga</a:t>
            </a:r>
            <a:pPr algn="r" indent="0" marL="0">
              <a:lnSpc>
                <a:spcPts val="5609"/>
              </a:lnSpc>
              <a:buNone/>
            </a:pPr>
            <a:r>
              <a:rPr lang="en-US" sz="5700" b="1" spc="-114" kern="0" dirty="0">
                <a:solidFill>
                  <a:srgbClr val="10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5700" dirty="0"/>
          </a:p>
        </p:txBody>
      </p:sp>
      <p:sp>
        <p:nvSpPr>
          <p:cNvPr id="10" name="Text 1"/>
          <p:cNvSpPr/>
          <p:nvPr/>
        </p:nvSpPr>
        <p:spPr>
          <a:xfrm>
            <a:off x="7416800" y="431800"/>
            <a:ext cx="2870200" cy="2248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771"/>
              </a:lnSpc>
              <a:buNone/>
            </a:pPr>
            <a:r>
              <a:rPr lang="en-US" sz="1800" spc="-48" kern="0" dirty="0">
                <a:solidFill>
                  <a:srgbClr val="204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7429500" y="656630"/>
            <a:ext cx="2870200" cy="3317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614"/>
              </a:lnSpc>
              <a:buNone/>
            </a:pPr>
            <a:r>
              <a:rPr lang="en-US" sz="3300" spc="-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3300" dirty="0"/>
          </a:p>
        </p:txBody>
      </p:sp>
      <p:sp>
        <p:nvSpPr>
          <p:cNvPr id="12" name="Text 3"/>
          <p:cNvSpPr/>
          <p:nvPr/>
        </p:nvSpPr>
        <p:spPr>
          <a:xfrm>
            <a:off x="7981156" y="988417"/>
            <a:ext cx="287020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900" spc="-12" kern="0" dirty="0">
                <a:solidFill>
                  <a:srgbClr val="28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</a:t>
            </a:r>
            <a:endParaRPr lang="en-US" sz="900" dirty="0"/>
          </a:p>
        </p:txBody>
      </p:sp>
      <p:sp>
        <p:nvSpPr>
          <p:cNvPr id="13" name="Text 4"/>
          <p:cNvSpPr/>
          <p:nvPr/>
        </p:nvSpPr>
        <p:spPr>
          <a:xfrm>
            <a:off x="5384800" y="927100"/>
            <a:ext cx="1402080" cy="7034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5540"/>
              </a:lnSpc>
              <a:buNone/>
            </a:pPr>
            <a:r>
              <a:rPr lang="en-US" sz="5700" spc="-30" kern="0" dirty="0">
                <a:solidFill>
                  <a:srgbClr val="40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oJI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0346261872640:33cbff927d2545c6ead8d255c9ec88d0:0:0/8e194f05-f69e-400c-9002-19fc847e3595/2018940346261872640:33cbff927d2545c6ead8d255c9ec88d0:0:0_page_2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894" y="3449538"/>
            <a:ext cx="4608463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86" y="2729359"/>
            <a:ext cx="4572000" cy="281166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942659" y="647700"/>
            <a:ext cx="6864787" cy="56063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415"/>
              </a:lnSpc>
              <a:buNone/>
            </a:pPr>
            <a:r>
              <a:rPr lang="en-US" sz="4050" b="1" dirty="0">
                <a:solidFill>
                  <a:srgbClr val="16409A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ما هو سطح المكتب؟</a:t>
            </a:r>
            <a:endParaRPr lang="en-US" sz="4050" dirty="0"/>
          </a:p>
        </p:txBody>
      </p:sp>
      <p:sp>
        <p:nvSpPr>
          <p:cNvPr id="6" name="Text 1"/>
          <p:cNvSpPr/>
          <p:nvPr/>
        </p:nvSpPr>
        <p:spPr>
          <a:xfrm>
            <a:off x="11334750" y="1838325"/>
            <a:ext cx="11504265" cy="125759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951"/>
              </a:lnSpc>
              <a:buNone/>
            </a:pPr>
            <a:r>
              <a:rPr lang="en-US" sz="3075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سطح المكتب هو شاشة الحاسوب حيث توجد جميع الأيقونات مرتبة</a:t>
            </a:r>
            <a:pPr indent="0" marL="0">
              <a:lnSpc>
                <a:spcPts val="4951"/>
              </a:lnSpc>
              <a:buNone/>
            </a:pPr>
            <a:r>
              <a:rPr lang="en-US" sz="3075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4951"/>
              </a:lnSpc>
              <a:buNone/>
            </a:pPr>
            <a:r>
              <a:rPr lang="en-US" sz="3075" dirty="0">
                <a:solidFill>
                  <a:srgbClr val="3D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مثل الكتب في المكتبة</a:t>
            </a:r>
            <a:endParaRPr lang="en-US" sz="30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0346261872640:33cbff927d2545c6ead8d255c9ec88d0:0:0/57775eca-c0a8-420e-b256-d5b728e21978/2018940346261872640:33cbff927d2545c6ead8d255c9ec88d0:0:0_page_3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396" y="2962573"/>
            <a:ext cx="3401467" cy="206424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294" y="2962573"/>
            <a:ext cx="3377059" cy="20779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88" y="2962573"/>
            <a:ext cx="3377059" cy="206424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773998" y="457200"/>
            <a:ext cx="5004018" cy="6460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087"/>
              </a:lnSpc>
              <a:buNone/>
            </a:pPr>
            <a:r>
              <a:rPr lang="en-US" sz="4275" b="1" dirty="0">
                <a:solidFill>
                  <a:srgbClr val="1E3F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خلفية الشاشة</a:t>
            </a:r>
            <a:endParaRPr lang="en-US" sz="4275" dirty="0"/>
          </a:p>
        </p:txBody>
      </p:sp>
      <p:sp>
        <p:nvSpPr>
          <p:cNvPr id="7" name="Text 1"/>
          <p:cNvSpPr/>
          <p:nvPr/>
        </p:nvSpPr>
        <p:spPr>
          <a:xfrm>
            <a:off x="2419350" y="1495425"/>
            <a:ext cx="8046690" cy="107453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23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الصورة الخلفية لسطح المكتب تسمى خلفية الشاشة</a:t>
            </a:r>
            <a:pPr algn="ctr" indent="0" marL="0">
              <a:lnSpc>
                <a:spcPts val="423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423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ويمكن تغييرها واستخدام رسوماتك الخاصة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1417618" y="5905500"/>
            <a:ext cx="184808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81"/>
              </a:lnSpc>
              <a:buNone/>
            </a:pPr>
            <a:r>
              <a:rPr lang="en-US" sz="1875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مناظر طبيعية</a:t>
            </a:r>
            <a:endParaRPr lang="en-US" sz="1875" dirty="0"/>
          </a:p>
        </p:txBody>
      </p:sp>
      <p:sp>
        <p:nvSpPr>
          <p:cNvPr id="9" name="Text 3"/>
          <p:cNvSpPr/>
          <p:nvPr/>
        </p:nvSpPr>
        <p:spPr>
          <a:xfrm>
            <a:off x="5197033" y="5905500"/>
            <a:ext cx="198649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81"/>
              </a:lnSpc>
              <a:buNone/>
            </a:pPr>
            <a:r>
              <a:rPr lang="en-US" sz="1875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حيوانات طبيفة</a:t>
            </a:r>
            <a:endParaRPr lang="en-US" sz="1875" dirty="0"/>
          </a:p>
        </p:txBody>
      </p:sp>
      <p:sp>
        <p:nvSpPr>
          <p:cNvPr id="10" name="Text 4"/>
          <p:cNvSpPr/>
          <p:nvPr/>
        </p:nvSpPr>
        <p:spPr>
          <a:xfrm>
            <a:off x="9471853" y="5905500"/>
            <a:ext cx="98065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81"/>
              </a:lnSpc>
              <a:buNone/>
            </a:pPr>
            <a:r>
              <a:rPr lang="en-US" sz="1875" dirty="0">
                <a:solidFill>
                  <a:srgbClr val="3838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الفضاء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0346261872640:33cbff927d2545c6ead8d255c9ec88d0:0:0/a0d9326f-ff4c-4cfa-b354-c4072a644f20/2018940346261872640:33cbff927d2545c6ead8d255c9ec88d0:0:0_page_4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961" y="5095429"/>
            <a:ext cx="975271" cy="9532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467" y="5095429"/>
            <a:ext cx="877788" cy="96009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490" y="5095429"/>
            <a:ext cx="963067" cy="9600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9" y="5143500"/>
            <a:ext cx="1011882" cy="857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0494" y="5095429"/>
            <a:ext cx="963067" cy="95324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1294" y="5129659"/>
            <a:ext cx="1084957" cy="8846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1553" y="5054203"/>
            <a:ext cx="841177" cy="103554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6596" y="5054203"/>
            <a:ext cx="865584" cy="103554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879" y="5061198"/>
            <a:ext cx="902196" cy="1035546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377214" y="523875"/>
            <a:ext cx="3709035" cy="73669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801"/>
              </a:lnSpc>
              <a:buNone/>
            </a:pPr>
            <a:r>
              <a:rPr lang="en-US" sz="4875" b="1" dirty="0">
                <a:solidFill>
                  <a:srgbClr val="1E41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الأيقونات</a:t>
            </a:r>
            <a:endParaRPr lang="en-US" sz="4875" dirty="0"/>
          </a:p>
        </p:txBody>
      </p:sp>
      <p:sp>
        <p:nvSpPr>
          <p:cNvPr id="13" name="Text 1"/>
          <p:cNvSpPr/>
          <p:nvPr/>
        </p:nvSpPr>
        <p:spPr>
          <a:xfrm>
            <a:off x="1724025" y="2057400"/>
            <a:ext cx="9660136" cy="146625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773"/>
              </a:lnSpc>
              <a:buNone/>
            </a:pPr>
            <a:r>
              <a:rPr lang="en-US" sz="3225" b="1" dirty="0">
                <a:solidFill>
                  <a:srgbClr val="3434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الأشياء الصغيرة على الشاشة تسمى أيقونات</a:t>
            </a:r>
            <a:pPr algn="ctr" indent="0" marL="0">
              <a:lnSpc>
                <a:spcPts val="5773"/>
              </a:lnSpc>
              <a:buNone/>
            </a:pPr>
            <a:r>
              <a:rPr lang="en-US" sz="3225" b="1" dirty="0">
                <a:solidFill>
                  <a:srgbClr val="3434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5773"/>
              </a:lnSpc>
              <a:buNone/>
            </a:pPr>
            <a:r>
              <a:rPr lang="en-US" sz="3225" b="1" dirty="0">
                <a:solidFill>
                  <a:srgbClr val="3434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وهي ملفات أو مجلدات أو تطبيقات</a:t>
            </a:r>
            <a:endParaRPr lang="en-US" sz="3225" dirty="0"/>
          </a:p>
        </p:txBody>
      </p:sp>
      <p:sp>
        <p:nvSpPr>
          <p:cNvPr id="14" name="Text 2"/>
          <p:cNvSpPr/>
          <p:nvPr/>
        </p:nvSpPr>
        <p:spPr>
          <a:xfrm>
            <a:off x="1561252" y="4352925"/>
            <a:ext cx="1496080" cy="4668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77"/>
              </a:lnSpc>
              <a:buNone/>
            </a:pPr>
            <a:r>
              <a:rPr lang="en-US" sz="2850" b="1" dirty="0">
                <a:solidFill>
                  <a:srgbClr val="1E41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ملفات</a:t>
            </a:r>
            <a:endParaRPr lang="en-US" sz="2850" dirty="0"/>
          </a:p>
        </p:txBody>
      </p:sp>
      <p:sp>
        <p:nvSpPr>
          <p:cNvPr id="15" name="Text 3"/>
          <p:cNvSpPr/>
          <p:nvPr/>
        </p:nvSpPr>
        <p:spPr>
          <a:xfrm>
            <a:off x="5280481" y="4352925"/>
            <a:ext cx="1785223" cy="4668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77"/>
              </a:lnSpc>
              <a:buNone/>
            </a:pPr>
            <a:r>
              <a:rPr lang="en-US" sz="2850" b="1" dirty="0">
                <a:solidFill>
                  <a:srgbClr val="1E41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مجلدات</a:t>
            </a:r>
            <a:endParaRPr lang="en-US" sz="2850" dirty="0"/>
          </a:p>
        </p:txBody>
      </p:sp>
      <p:sp>
        <p:nvSpPr>
          <p:cNvPr id="16" name="Text 4"/>
          <p:cNvSpPr/>
          <p:nvPr/>
        </p:nvSpPr>
        <p:spPr>
          <a:xfrm>
            <a:off x="8995410" y="4352925"/>
            <a:ext cx="2011680" cy="45467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580"/>
              </a:lnSpc>
              <a:buNone/>
            </a:pPr>
            <a:r>
              <a:rPr lang="en-US" sz="2775" b="1" dirty="0">
                <a:solidFill>
                  <a:srgbClr val="1E41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تطبيقات</a:t>
            </a:r>
            <a:endParaRPr lang="en-US" sz="27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0346261872640:33cbff927d2545c6ead8d255c9ec88d0:0:0/0498c851-7e56-48a2-b3d7-114ca4743986/2018940346261872640:33cbff927d2545c6ead8d255c9ec88d0:0:0_page_5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279" y="4107805"/>
            <a:ext cx="1718965" cy="211901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679" y="4224486"/>
            <a:ext cx="1718965" cy="200932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286" y="1350913"/>
            <a:ext cx="1219200" cy="14949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882" y="3936355"/>
            <a:ext cx="4437757" cy="258544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769" y="1350913"/>
            <a:ext cx="1779984" cy="150867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18930" y="447675"/>
            <a:ext cx="10347543" cy="54679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305"/>
              </a:lnSpc>
              <a:buNone/>
            </a:pPr>
            <a:r>
              <a:rPr lang="en-US" sz="3075" b="1" dirty="0">
                <a:solidFill>
                  <a:srgbClr val="003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أيقونة جهاز الكمبيوتر وسيلة المحفوظات</a:t>
            </a:r>
            <a:endParaRPr lang="en-US" sz="3075" dirty="0"/>
          </a:p>
        </p:txBody>
      </p:sp>
      <p:sp>
        <p:nvSpPr>
          <p:cNvPr id="9" name="Text 1"/>
          <p:cNvSpPr/>
          <p:nvPr/>
        </p:nvSpPr>
        <p:spPr>
          <a:xfrm>
            <a:off x="1495425" y="3000375"/>
            <a:ext cx="3771900" cy="34677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03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أيقونة جهاز الكمبيوتر</a:t>
            </a:r>
            <a:endParaRPr lang="en-US" sz="2100" dirty="0"/>
          </a:p>
        </p:txBody>
      </p:sp>
      <p:sp>
        <p:nvSpPr>
          <p:cNvPr id="10" name="Text 2"/>
          <p:cNvSpPr/>
          <p:nvPr/>
        </p:nvSpPr>
        <p:spPr>
          <a:xfrm>
            <a:off x="7668964" y="3000375"/>
            <a:ext cx="2841427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003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سيلة المحفوظات</a:t>
            </a:r>
            <a:endParaRPr lang="en-US" sz="1950" dirty="0"/>
          </a:p>
        </p:txBody>
      </p:sp>
      <p:sp>
        <p:nvSpPr>
          <p:cNvPr id="11" name="Text 3"/>
          <p:cNvSpPr/>
          <p:nvPr/>
        </p:nvSpPr>
        <p:spPr>
          <a:xfrm>
            <a:off x="755913" y="3467100"/>
            <a:ext cx="5330845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435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تُظهر محتويات الجهاز عند النقر عليها مرتين.</a:t>
            </a:r>
            <a:endParaRPr lang="en-US" sz="1575" dirty="0"/>
          </a:p>
        </p:txBody>
      </p:sp>
      <p:sp>
        <p:nvSpPr>
          <p:cNvPr id="12" name="Text 4"/>
          <p:cNvSpPr/>
          <p:nvPr/>
        </p:nvSpPr>
        <p:spPr>
          <a:xfrm>
            <a:off x="6181546" y="3467100"/>
            <a:ext cx="6060043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435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تحفظ الملفات المحفوظة مؤقتًا ويمكن استعادتها.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0346261872640:33cbff927d2545c6ead8d255c9ec88d0:1:0/fdb687bd-eb4b-4c0f-b649-7d1a2e8968bf/2018940346261872640:33cbff927d2545c6ead8d255c9ec88d0:1:0_page_6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69" y="3607296"/>
            <a:ext cx="8302675" cy="19475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13677" y="647700"/>
            <a:ext cx="9039880" cy="5829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90"/>
              </a:lnSpc>
              <a:buNone/>
            </a:pPr>
            <a:r>
              <a:rPr lang="en-US" sz="3825" b="1" dirty="0">
                <a:solidFill>
                  <a:srgbClr val="0031A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شريط المهام وشريط البحث</a:t>
            </a:r>
            <a:endParaRPr lang="en-US" sz="3825" dirty="0"/>
          </a:p>
        </p:txBody>
      </p:sp>
      <p:sp>
        <p:nvSpPr>
          <p:cNvPr id="5" name="Text 1"/>
          <p:cNvSpPr/>
          <p:nvPr/>
        </p:nvSpPr>
        <p:spPr>
          <a:xfrm>
            <a:off x="1323975" y="1990725"/>
            <a:ext cx="10477500" cy="130998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157"/>
              </a:lnSpc>
              <a:buNone/>
            </a:pPr>
            <a:r>
              <a:rPr lang="en-US" sz="2700" dirty="0">
                <a:solidFill>
                  <a:srgbClr val="292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شريط المهام في أسفل الشاشة يحتوي على التطبيقات المستخدمة</a:t>
            </a:r>
            <a:pPr algn="ctr" indent="0" marL="0">
              <a:lnSpc>
                <a:spcPts val="5157"/>
              </a:lnSpc>
              <a:buNone/>
            </a:pPr>
            <a:r>
              <a:rPr lang="en-US" sz="2700" dirty="0">
                <a:solidFill>
                  <a:srgbClr val="292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5157"/>
              </a:lnSpc>
              <a:buNone/>
            </a:pPr>
            <a:r>
              <a:rPr lang="en-US" sz="2700" dirty="0">
                <a:solidFill>
                  <a:srgbClr val="292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وشريط البحث في الحاسوب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4086225" y="5972175"/>
            <a:ext cx="2237958" cy="33605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1A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شريط البحث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0346261872640:33cbff927d2545c6ead8d255c9ec88d0:1:0/29692117-3fbf-4739-ab0d-f7a7096bfe1b/2018940346261872640:33cbff927d2545c6ead8d255c9ec88d0:1:0_page_7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459" y="4711303"/>
            <a:ext cx="3681859" cy="135775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192" y="1844725"/>
            <a:ext cx="2572494" cy="264705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68745" y="419100"/>
            <a:ext cx="3696355" cy="73669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801"/>
              </a:lnSpc>
              <a:buNone/>
            </a:pPr>
            <a:r>
              <a:rPr lang="en-US" sz="4875" b="1" dirty="0">
                <a:solidFill>
                  <a:srgbClr val="163F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زر البداية</a:t>
            </a:r>
            <a:endParaRPr lang="en-US" sz="4875" dirty="0"/>
          </a:p>
        </p:txBody>
      </p:sp>
      <p:sp>
        <p:nvSpPr>
          <p:cNvPr id="6" name="Text 1"/>
          <p:cNvSpPr/>
          <p:nvPr/>
        </p:nvSpPr>
        <p:spPr>
          <a:xfrm>
            <a:off x="1019175" y="2590800"/>
            <a:ext cx="6548438" cy="216232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5675"/>
              </a:lnSpc>
              <a:buNone/>
            </a:pPr>
            <a:r>
              <a:rPr lang="en-US" sz="3525" dirty="0">
                <a:solidFill>
                  <a:srgbClr val="364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الزر المربع في الزاوية اليسرى</a:t>
            </a:r>
            <a:pPr algn="r" indent="0" marL="0">
              <a:lnSpc>
                <a:spcPts val="5675"/>
              </a:lnSpc>
              <a:buNone/>
            </a:pPr>
            <a:r>
              <a:rPr lang="en-US" sz="3525" dirty="0">
                <a:solidFill>
                  <a:srgbClr val="364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5675"/>
              </a:lnSpc>
              <a:buNone/>
            </a:pPr>
            <a:r>
              <a:rPr lang="en-US" sz="3525" dirty="0">
                <a:solidFill>
                  <a:srgbClr val="364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يسمح بالوصول لجميع التطبيقات</a:t>
            </a:r>
            <a:pPr algn="r" indent="0" marL="0">
              <a:lnSpc>
                <a:spcPts val="5675"/>
              </a:lnSpc>
              <a:buNone/>
            </a:pPr>
            <a:r>
              <a:rPr lang="en-US" sz="3525" dirty="0">
                <a:solidFill>
                  <a:srgbClr val="364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5675"/>
              </a:lnSpc>
              <a:buNone/>
            </a:pPr>
            <a:r>
              <a:rPr lang="en-US" sz="3525" dirty="0">
                <a:solidFill>
                  <a:srgbClr val="364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في الحاسوب</a:t>
            </a:r>
            <a:endParaRPr lang="en-US" sz="35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0346261872640:33cbff927d2545c6ead8d255c9ec88d0:1:0/f9cb5232-d713-4ee1-9196-04ee645964ee/2018940346261872640:33cbff927d2545c6ead8d255c9ec88d0:1:0_page_8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365" y="3895279"/>
            <a:ext cx="3096667" cy="23041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55" y="1659582"/>
            <a:ext cx="2035969" cy="211216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86876" y="638175"/>
            <a:ext cx="7933492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463"/>
              </a:lnSpc>
              <a:buNone/>
            </a:pPr>
            <a:r>
              <a:rPr lang="en-US" sz="3750" b="1" dirty="0">
                <a:solidFill>
                  <a:srgbClr val="0031A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كيفية تغيير خلفية الشاشة</a:t>
            </a:r>
            <a:endParaRPr lang="en-US" sz="3750" dirty="0"/>
          </a:p>
        </p:txBody>
      </p:sp>
      <p:sp>
        <p:nvSpPr>
          <p:cNvPr id="6" name="Text 1"/>
          <p:cNvSpPr/>
          <p:nvPr/>
        </p:nvSpPr>
        <p:spPr>
          <a:xfrm>
            <a:off x="4470856" y="1905000"/>
            <a:ext cx="1785223" cy="328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2175" b="1" dirty="0">
                <a:solidFill>
                  <a:srgbClr val="3940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الخطوات: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808494" y="2800350"/>
            <a:ext cx="6185773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3940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١. اضغط بالزر الأيمن على سطح المكتب</a:t>
            </a:r>
            <a:endParaRPr lang="en-US" sz="2175" dirty="0"/>
          </a:p>
        </p:txBody>
      </p:sp>
      <p:sp>
        <p:nvSpPr>
          <p:cNvPr id="8" name="Text 3"/>
          <p:cNvSpPr/>
          <p:nvPr/>
        </p:nvSpPr>
        <p:spPr>
          <a:xfrm>
            <a:off x="406718" y="3724275"/>
            <a:ext cx="6663690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3940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٢. اختر 'إضفاء الطابع الشخصي' من القائمة</a:t>
            </a:r>
            <a:endParaRPr lang="en-US" sz="2175" dirty="0"/>
          </a:p>
        </p:txBody>
      </p:sp>
      <p:sp>
        <p:nvSpPr>
          <p:cNvPr id="9" name="Text 4"/>
          <p:cNvSpPr/>
          <p:nvPr/>
        </p:nvSpPr>
        <p:spPr>
          <a:xfrm>
            <a:off x="2299246" y="4743450"/>
            <a:ext cx="4413052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90"/>
              </a:lnSpc>
              <a:buNone/>
            </a:pPr>
            <a:r>
              <a:rPr lang="en-US" sz="2250" dirty="0">
                <a:solidFill>
                  <a:srgbClr val="3940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٣. اختر الخلفية المفضلة لك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2026-02-04T09:04:33Z</dcterms:created>
  <dcterms:modified xsi:type="dcterms:W3CDTF">2026-02-04T09:04:33Z</dcterms:modified>
</cp:coreProperties>
</file>