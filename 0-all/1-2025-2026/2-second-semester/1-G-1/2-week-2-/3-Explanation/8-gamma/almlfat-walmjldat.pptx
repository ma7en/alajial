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DM Sans Medium"/>
      <p:regular r:id="rId17"/>
    </p:embeddedFont>
    <p:embeddedFont>
      <p:font typeface="DM Sans Medium"/>
      <p:regular r:id="rId18"/>
    </p:embeddedFont>
    <p:embeddedFont>
      <p:font typeface="DM Sans Medium"/>
      <p:regular r:id="rId19"/>
    </p:embeddedFont>
    <p:embeddedFont>
      <p:font typeface="DM Sans Medium"/>
      <p:regular r:id="rId20"/>
    </p:embeddedFont>
    <p:embeddedFont>
      <p:font typeface="Inter"/>
      <p:regular r:id="rId21"/>
    </p:embeddedFont>
    <p:embeddedFont>
      <p:font typeface="Inter"/>
      <p:regular r:id="rId22"/>
    </p:embeddedFont>
    <p:embeddedFont>
      <p:font typeface="Inter"/>
      <p:regular r:id="rId23"/>
    </p:embeddedFont>
    <p:embeddedFont>
      <p:font typeface="Inter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image" Target="../media/image-6-8.png"/><Relationship Id="rId9" Type="http://schemas.openxmlformats.org/officeDocument/2006/relationships/image" Target="../media/image-6-9.svg"/><Relationship Id="rId10" Type="http://schemas.openxmlformats.org/officeDocument/2006/relationships/slideLayout" Target="../slideLayouts/slideLayout7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slideLayout" Target="../slideLayouts/slideLayout9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slideLayout" Target="../slideLayouts/slideLayout11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66021" y="306050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الملفات والمجلدات </a:t>
            </a:r>
            <a:pPr rtl="1" algn="r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📁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10944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الدرس الثامن — الصف الأول الابتدائي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12621101" y="4735116"/>
            <a:ext cx="1215509" cy="426244"/>
          </a:xfrm>
          <a:prstGeom prst="roundRect">
            <a:avLst>
              <a:gd name="adj" fmla="val 6386"/>
            </a:avLst>
          </a:prstGeom>
          <a:solidFill>
            <a:srgbClr val="110745"/>
          </a:solidFill>
          <a:ln/>
        </p:spPr>
      </p:sp>
      <p:sp>
        <p:nvSpPr>
          <p:cNvPr id="6" name="Text 3"/>
          <p:cNvSpPr/>
          <p:nvPr/>
        </p:nvSpPr>
        <p:spPr>
          <a:xfrm>
            <a:off x="12757190" y="4803100"/>
            <a:ext cx="94333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💻</a:t>
            </a:r>
            <a:pPr rtl="1" algn="r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الحاسوب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0905649" y="4727496"/>
            <a:ext cx="1602105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AC9EF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049357" y="4803100"/>
            <a:ext cx="131468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📂</a:t>
            </a:r>
            <a:pPr rtl="1" algn="r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تنظيم الملفات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لماذا نستخدم الملفات والمجلدات؟ </a:t>
            </a:r>
            <a:pPr rtl="1" algn="r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🤔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نستخدم الحاسوب لأعمال كثيرة. لحفظ أعمالنا بشكل </a:t>
            </a:r>
            <a:pPr rtl="1" algn="r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منظم وسهل الإيجاد</a:t>
            </a:r>
            <a:pPr rtl="1"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، نستخدم </a:t>
            </a:r>
            <a:pPr rtl="1" algn="r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الملفات</a:t>
            </a:r>
            <a:pPr rtl="1"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و</a:t>
            </a:r>
            <a:pPr rtl="1" algn="r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المجلدات</a:t>
            </a:r>
            <a:pPr rtl="1"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!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66021" y="176843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ما هو الملف؟ </a:t>
            </a:r>
            <a:pPr rtl="1" algn="r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📄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3084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الملف يحفظ المعلومات على الحاسوب. هناك أنواع مختلفة من الملفات:</a:t>
            </a: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68770" y="3548896"/>
            <a:ext cx="1767840" cy="1767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001375" y="5600224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📝</a:t>
            </a:r>
            <a:pPr rtl="1"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مستند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788610" y="6098262"/>
            <a:ext cx="304800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ملف نصي مثل الواجبات</a:t>
            </a:r>
            <a:endParaRPr lang="en-US" sz="1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7283" y="3548896"/>
            <a:ext cx="1767840" cy="17678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669887" y="5600224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🖼️</a:t>
            </a:r>
            <a:pPr rtl="1"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صورة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7457003" y="6098262"/>
            <a:ext cx="30481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ملف يحتوي على صور</a:t>
            </a:r>
            <a:endParaRPr lang="en-US" sz="1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5676" y="3548896"/>
            <a:ext cx="1767840" cy="17678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338280" y="5600224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🎵</a:t>
            </a:r>
            <a:pPr rtl="1"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موسيقى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4125397" y="6098262"/>
            <a:ext cx="30481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ملف صوتي MP3</a:t>
            </a:r>
            <a:endParaRPr lang="en-US" sz="17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4069" y="3548896"/>
            <a:ext cx="1767840" cy="176784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06673" y="5600224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🎬</a:t>
            </a:r>
            <a:pPr rtl="1"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فيديو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793790" y="6098262"/>
            <a:ext cx="30481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ملف يحتوي على مقاطع فيديو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66021" y="198274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ما هو المجلد؟ </a:t>
            </a:r>
            <a:pPr rtl="1" algn="r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🎒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2183" y="3286839"/>
            <a:ext cx="1333500" cy="14859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3790" y="5283041"/>
            <a:ext cx="13042821" cy="963811"/>
          </a:xfrm>
          <a:prstGeom prst="roundRect">
            <a:avLst>
              <a:gd name="adj" fmla="val 3530"/>
            </a:avLst>
          </a:prstGeom>
          <a:solidFill>
            <a:srgbClr val="110745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6308" y="5627132"/>
            <a:ext cx="283488" cy="22681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20604" y="5566529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📌</a:t>
            </a:r>
            <a:pPr rtl="1"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الملفات مثل الكتب والدفاتر — والمجلد مثل الحقيبة المدرسية التي تحفظها جميعاً في مكان واحد!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51088" y="1796772"/>
            <a:ext cx="608552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المجلد = صندوق تخزين </a:t>
            </a:r>
            <a:pPr rtl="1" algn="r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📦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5389126" y="2845713"/>
            <a:ext cx="8610838" cy="2969062"/>
          </a:xfrm>
          <a:prstGeom prst="roundRect">
            <a:avLst>
              <a:gd name="adj" fmla="val 1146"/>
            </a:avLst>
          </a:prstGeom>
          <a:solidFill>
            <a:srgbClr val="AC9EF5"/>
          </a:solidFill>
          <a:ln/>
        </p:spPr>
      </p:sp>
      <p:sp>
        <p:nvSpPr>
          <p:cNvPr id="4" name="Text 2"/>
          <p:cNvSpPr/>
          <p:nvPr/>
        </p:nvSpPr>
        <p:spPr>
          <a:xfrm>
            <a:off x="10937915" y="30725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المجلد الفارغ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8775" y="3682008"/>
            <a:ext cx="891540" cy="1310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15940" y="5247799"/>
            <a:ext cx="81572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مجلد بدون ملفات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2156222" y="30725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المجلد الممتلئ</a:t>
            </a:r>
            <a:endParaRPr lang="en-US" sz="2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593" y="3682008"/>
            <a:ext cx="868680" cy="1310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86289" y="5247799"/>
            <a:ext cx="420516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مجلد يحتوي على ملفات مختلفة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793790" y="606992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المجلد يحفظ أنواعاً مختلفة من الملفات معاً في مكان واحد.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82840" y="903565"/>
            <a:ext cx="635377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كيف ننشئ مجلداً جديداً؟ </a:t>
            </a:r>
            <a:pPr rtl="1" algn="r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🖱️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3852" y="2065973"/>
            <a:ext cx="10142696" cy="4642009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87080" y="3224958"/>
            <a:ext cx="652132" cy="65213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715994" y="5605650"/>
            <a:ext cx="1904227" cy="36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ctr" indent="0" marL="0">
              <a:lnSpc>
                <a:spcPts val="2850"/>
              </a:lnSpc>
              <a:buNone/>
            </a:pPr>
            <a:r>
              <a:rPr lang="en-US" sz="2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اكتب اسم</a:t>
            </a:r>
            <a:endParaRPr lang="en-US" sz="23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74497" y="3226180"/>
            <a:ext cx="652133" cy="652133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115843" y="5605650"/>
            <a:ext cx="1904228" cy="36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ctr" indent="0" marL="0">
              <a:lnSpc>
                <a:spcPts val="2850"/>
              </a:lnSpc>
              <a:buNone/>
            </a:pPr>
            <a:r>
              <a:rPr lang="en-US" sz="2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مجلد</a:t>
            </a:r>
            <a:endParaRPr lang="en-US" sz="23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61303" y="3226180"/>
            <a:ext cx="652133" cy="652133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7502649" y="5605650"/>
            <a:ext cx="1904228" cy="36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ctr" indent="0" marL="0">
              <a:lnSpc>
                <a:spcPts val="2850"/>
              </a:lnSpc>
              <a:buNone/>
            </a:pPr>
            <a:r>
              <a:rPr lang="en-US" sz="2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جديد</a:t>
            </a:r>
            <a:endParaRPr lang="en-US" sz="230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61152" y="3226180"/>
            <a:ext cx="652133" cy="652133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9941626" y="5605650"/>
            <a:ext cx="1904228" cy="36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ctr" indent="0" marL="0">
              <a:lnSpc>
                <a:spcPts val="2850"/>
              </a:lnSpc>
              <a:buNone/>
            </a:pPr>
            <a:r>
              <a:rPr lang="en-US" sz="2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انقر يمين</a:t>
            </a:r>
            <a:endParaRPr lang="en-US" sz="2300" dirty="0"/>
          </a:p>
        </p:txBody>
      </p:sp>
      <p:sp>
        <p:nvSpPr>
          <p:cNvPr id="12" name="Text 5"/>
          <p:cNvSpPr/>
          <p:nvPr/>
        </p:nvSpPr>
        <p:spPr>
          <a:xfrm>
            <a:off x="793790" y="696313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اتبع هذه الخطوات الأربع البسيطة لإنشاء مجلد جديد على سطح المكتب!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58821" y="874990"/>
            <a:ext cx="707778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خطوات إنشاء المجلد بالصور </a:t>
            </a:r>
            <a:pPr rtl="1" algn="r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📸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9640252" y="2037397"/>
            <a:ext cx="4196358" cy="4098131"/>
          </a:xfrm>
          <a:prstGeom prst="roundRect">
            <a:avLst>
              <a:gd name="adj" fmla="val 830"/>
            </a:avLst>
          </a:prstGeom>
          <a:solidFill>
            <a:srgbClr val="2D3133"/>
          </a:solidFill>
          <a:ln w="30480">
            <a:solidFill>
              <a:srgbClr val="6569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70733" y="2067877"/>
            <a:ext cx="4135398" cy="680442"/>
          </a:xfrm>
          <a:prstGeom prst="rect">
            <a:avLst/>
          </a:prstGeom>
          <a:solidFill>
            <a:srgbClr val="4C5052"/>
          </a:solidFill>
          <a:ln/>
        </p:spPr>
      </p:sp>
      <p:sp>
        <p:nvSpPr>
          <p:cNvPr id="5" name="Text 3"/>
          <p:cNvSpPr/>
          <p:nvPr/>
        </p:nvSpPr>
        <p:spPr>
          <a:xfrm>
            <a:off x="11568351" y="219539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0744081" y="29751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انقر بزر الفأرة الأيمن</a:t>
            </a:r>
            <a:endParaRPr lang="en-US" sz="2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4276" y="3584615"/>
            <a:ext cx="2225040" cy="22936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217081" y="2037397"/>
            <a:ext cx="4196358" cy="4098131"/>
          </a:xfrm>
          <a:prstGeom prst="roundRect">
            <a:avLst>
              <a:gd name="adj" fmla="val 830"/>
            </a:avLst>
          </a:prstGeom>
          <a:solidFill>
            <a:srgbClr val="2D3133"/>
          </a:solidFill>
          <a:ln w="30480">
            <a:solidFill>
              <a:srgbClr val="65696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247561" y="2067877"/>
            <a:ext cx="4135398" cy="680442"/>
          </a:xfrm>
          <a:prstGeom prst="rect">
            <a:avLst/>
          </a:prstGeom>
          <a:solidFill>
            <a:srgbClr val="4C5052"/>
          </a:solidFill>
          <a:ln/>
        </p:spPr>
      </p:sp>
      <p:sp>
        <p:nvSpPr>
          <p:cNvPr id="10" name="Text 7"/>
          <p:cNvSpPr/>
          <p:nvPr/>
        </p:nvSpPr>
        <p:spPr>
          <a:xfrm>
            <a:off x="7145179" y="219539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8"/>
          <p:cNvSpPr/>
          <p:nvPr/>
        </p:nvSpPr>
        <p:spPr>
          <a:xfrm>
            <a:off x="6320909" y="29751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اختر "New" ثم "Folder"</a:t>
            </a:r>
            <a:endParaRPr lang="en-US" sz="22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4375" y="3584615"/>
            <a:ext cx="3681770" cy="208657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93909" y="2037397"/>
            <a:ext cx="4196358" cy="4098131"/>
          </a:xfrm>
          <a:prstGeom prst="roundRect">
            <a:avLst>
              <a:gd name="adj" fmla="val 830"/>
            </a:avLst>
          </a:prstGeom>
          <a:solidFill>
            <a:srgbClr val="2D3133"/>
          </a:solidFill>
          <a:ln w="30480">
            <a:solidFill>
              <a:srgbClr val="65696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4389" y="2067877"/>
            <a:ext cx="4135398" cy="680442"/>
          </a:xfrm>
          <a:prstGeom prst="rect">
            <a:avLst/>
          </a:prstGeom>
          <a:solidFill>
            <a:srgbClr val="4C5052"/>
          </a:solidFill>
          <a:ln/>
        </p:spPr>
      </p:sp>
      <p:sp>
        <p:nvSpPr>
          <p:cNvPr id="15" name="Text 11"/>
          <p:cNvSpPr/>
          <p:nvPr/>
        </p:nvSpPr>
        <p:spPr>
          <a:xfrm>
            <a:off x="2722007" y="219539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</a:t>
            </a:r>
            <a:endParaRPr lang="en-US" sz="2650" dirty="0"/>
          </a:p>
        </p:txBody>
      </p:sp>
      <p:sp>
        <p:nvSpPr>
          <p:cNvPr id="16" name="Text 12"/>
          <p:cNvSpPr/>
          <p:nvPr/>
        </p:nvSpPr>
        <p:spPr>
          <a:xfrm>
            <a:off x="1897737" y="29751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اكتب اسم المجلد</a:t>
            </a:r>
            <a:endParaRPr lang="en-US" sz="22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203" y="3584615"/>
            <a:ext cx="3681770" cy="1608892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793790" y="6390680"/>
            <a:ext cx="13042821" cy="963811"/>
          </a:xfrm>
          <a:prstGeom prst="roundRect">
            <a:avLst>
              <a:gd name="adj" fmla="val 3530"/>
            </a:avLst>
          </a:prstGeom>
          <a:solidFill>
            <a:srgbClr val="11074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26308" y="6734770"/>
            <a:ext cx="283488" cy="22681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20604" y="6674168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💡</a:t>
            </a:r>
            <a:pPr rtl="1"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rtl="1" algn="r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نصيحة:</a:t>
            </a:r>
            <a:pPr rtl="1"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اختر اسماً يدل على محتوى المجلد — مثلاً "صوري" لمجلد الصور!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66021" y="126265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تذكّر! </a:t>
            </a:r>
            <a:pPr rtl="1" algn="r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🌟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311598"/>
            <a:ext cx="7556421" cy="2214205"/>
          </a:xfrm>
          <a:prstGeom prst="roundRect">
            <a:avLst>
              <a:gd name="adj" fmla="val 1537"/>
            </a:avLst>
          </a:prstGeom>
          <a:solidFill>
            <a:srgbClr val="4C5052"/>
          </a:solidFill>
          <a:ln/>
        </p:spPr>
      </p:sp>
      <p:sp>
        <p:nvSpPr>
          <p:cNvPr id="5" name="Shape 2"/>
          <p:cNvSpPr/>
          <p:nvPr/>
        </p:nvSpPr>
        <p:spPr>
          <a:xfrm>
            <a:off x="12929354" y="253841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AC9EF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16520" y="2725460"/>
            <a:ext cx="306110" cy="3061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774561" y="34456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الملف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507004" y="3936087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أي معلومة محفوظة على الحاسوب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6280190" y="4752618"/>
            <a:ext cx="7556421" cy="2214205"/>
          </a:xfrm>
          <a:prstGeom prst="roundRect">
            <a:avLst>
              <a:gd name="adj" fmla="val 1537"/>
            </a:avLst>
          </a:prstGeom>
          <a:solidFill>
            <a:srgbClr val="4C5052"/>
          </a:solidFill>
          <a:ln/>
        </p:spPr>
      </p:sp>
      <p:sp>
        <p:nvSpPr>
          <p:cNvPr id="10" name="Shape 6"/>
          <p:cNvSpPr/>
          <p:nvPr/>
        </p:nvSpPr>
        <p:spPr>
          <a:xfrm>
            <a:off x="12929354" y="497943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AC9EF5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16520" y="5166479"/>
            <a:ext cx="306110" cy="30611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774561" y="58866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المجلد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6507004" y="6377107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يحفظ وينظّم ملفات من أنواع مختلفة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81117" y="1339453"/>
            <a:ext cx="585549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تمرين: صح أم خطأ؟ </a:t>
            </a:r>
            <a:pPr rtl="1" algn="r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✅</a:t>
            </a:r>
            <a:pPr rtl="1" algn="r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❌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428667" y="2501860"/>
            <a:ext cx="6407944" cy="1367909"/>
          </a:xfrm>
          <a:prstGeom prst="roundRect">
            <a:avLst>
              <a:gd name="adj" fmla="val 2487"/>
            </a:avLst>
          </a:prstGeom>
          <a:solidFill>
            <a:srgbClr val="2D3133"/>
          </a:solidFill>
          <a:ln w="30480">
            <a:solidFill>
              <a:srgbClr val="6569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44081" y="27591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١. الملفات أنواع مختلفة.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685961" y="3249573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___________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93790" y="2501860"/>
            <a:ext cx="6408063" cy="1367909"/>
          </a:xfrm>
          <a:prstGeom prst="roundRect">
            <a:avLst>
              <a:gd name="adj" fmla="val 2487"/>
            </a:avLst>
          </a:prstGeom>
          <a:solidFill>
            <a:srgbClr val="2D3133"/>
          </a:solidFill>
          <a:ln w="30480">
            <a:solidFill>
              <a:srgbClr val="6569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70522" y="2759154"/>
            <a:ext cx="46740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٢. المجلد يحفظ أنواعاً مختلفة من الملفات.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084" y="3249573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___________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8166021" y="420993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صِل بالسهم </a:t>
            </a:r>
            <a:pPr rtl="1" algn="r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🔗</a:t>
            </a:r>
            <a:endParaRPr lang="en-US" sz="4450" dirty="0"/>
          </a:p>
        </p:txBody>
      </p:sp>
      <p:sp>
        <p:nvSpPr>
          <p:cNvPr id="10" name="Shape 8"/>
          <p:cNvSpPr/>
          <p:nvPr/>
        </p:nvSpPr>
        <p:spPr>
          <a:xfrm>
            <a:off x="793790" y="5258872"/>
            <a:ext cx="13042821" cy="1631156"/>
          </a:xfrm>
          <a:prstGeom prst="roundRect">
            <a:avLst>
              <a:gd name="adj" fmla="val 2086"/>
            </a:avLst>
          </a:prstGeom>
          <a:solidFill>
            <a:srgbClr val="4C5052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0" y="5258872"/>
            <a:ext cx="6521410" cy="815578"/>
          </a:xfrm>
          <a:prstGeom prst="rect">
            <a:avLst/>
          </a:prstGeom>
          <a:solidFill>
            <a:srgbClr val="4C5052"/>
          </a:solidFill>
          <a:ln/>
        </p:spPr>
      </p:sp>
      <p:sp>
        <p:nvSpPr>
          <p:cNvPr id="12" name="Text 10"/>
          <p:cNvSpPr/>
          <p:nvPr/>
        </p:nvSpPr>
        <p:spPr>
          <a:xfrm>
            <a:off x="10774561" y="5485686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📝</a:t>
            </a:r>
            <a:pPr rtl="1"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مستند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93790" y="5258872"/>
            <a:ext cx="6521410" cy="815578"/>
          </a:xfrm>
          <a:prstGeom prst="roundRect">
            <a:avLst>
              <a:gd name="adj" fmla="val 4172"/>
            </a:avLst>
          </a:prstGeom>
          <a:solidFill>
            <a:srgbClr val="4C5052"/>
          </a:solidFill>
          <a:ln/>
        </p:spPr>
      </p:sp>
      <p:sp>
        <p:nvSpPr>
          <p:cNvPr id="14" name="Shape 12"/>
          <p:cNvSpPr/>
          <p:nvPr/>
        </p:nvSpPr>
        <p:spPr>
          <a:xfrm>
            <a:off x="7284720" y="5258872"/>
            <a:ext cx="30480" cy="815578"/>
          </a:xfrm>
          <a:prstGeom prst="roundRect">
            <a:avLst>
              <a:gd name="adj" fmla="val 111628"/>
            </a:avLst>
          </a:prstGeom>
          <a:solidFill>
            <a:srgbClr val="65696B"/>
          </a:solidFill>
          <a:ln/>
        </p:spPr>
      </p:sp>
      <p:sp>
        <p:nvSpPr>
          <p:cNvPr id="15" name="Text 13"/>
          <p:cNvSpPr/>
          <p:nvPr/>
        </p:nvSpPr>
        <p:spPr>
          <a:xfrm>
            <a:off x="4253151" y="5485686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🖼️</a:t>
            </a:r>
            <a:pPr rtl="1"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صورة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315200" y="6074450"/>
            <a:ext cx="6521410" cy="815578"/>
          </a:xfrm>
          <a:prstGeom prst="rect">
            <a:avLst/>
          </a:prstGeom>
          <a:solidFill>
            <a:srgbClr val="4C5052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0" y="6074450"/>
            <a:ext cx="6521410" cy="30480"/>
          </a:xfrm>
          <a:prstGeom prst="roundRect">
            <a:avLst>
              <a:gd name="adj" fmla="val 111628"/>
            </a:avLst>
          </a:prstGeom>
          <a:solidFill>
            <a:srgbClr val="65696B"/>
          </a:solidFill>
          <a:ln/>
        </p:spPr>
      </p:sp>
      <p:sp>
        <p:nvSpPr>
          <p:cNvPr id="18" name="Text 16"/>
          <p:cNvSpPr/>
          <p:nvPr/>
        </p:nvSpPr>
        <p:spPr>
          <a:xfrm>
            <a:off x="10774561" y="6301264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🎵</a:t>
            </a:r>
            <a:pPr rtl="1"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موسيقى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93790" y="6074450"/>
            <a:ext cx="6521410" cy="815578"/>
          </a:xfrm>
          <a:prstGeom prst="rect">
            <a:avLst/>
          </a:prstGeom>
          <a:solidFill>
            <a:srgbClr val="4C5052"/>
          </a:solidFill>
          <a:ln/>
        </p:spPr>
      </p:sp>
      <p:sp>
        <p:nvSpPr>
          <p:cNvPr id="20" name="Shape 18"/>
          <p:cNvSpPr/>
          <p:nvPr/>
        </p:nvSpPr>
        <p:spPr>
          <a:xfrm>
            <a:off x="7284720" y="6074450"/>
            <a:ext cx="30480" cy="815578"/>
          </a:xfrm>
          <a:prstGeom prst="roundRect">
            <a:avLst>
              <a:gd name="adj" fmla="val 111628"/>
            </a:avLst>
          </a:prstGeom>
          <a:solidFill>
            <a:srgbClr val="65696B"/>
          </a:solidFill>
          <a:ln/>
        </p:spPr>
      </p:sp>
      <p:sp>
        <p:nvSpPr>
          <p:cNvPr id="21" name="Shape 19"/>
          <p:cNvSpPr/>
          <p:nvPr/>
        </p:nvSpPr>
        <p:spPr>
          <a:xfrm>
            <a:off x="793790" y="6074450"/>
            <a:ext cx="6521410" cy="30480"/>
          </a:xfrm>
          <a:prstGeom prst="roundRect">
            <a:avLst>
              <a:gd name="adj" fmla="val 111628"/>
            </a:avLst>
          </a:prstGeom>
          <a:solidFill>
            <a:srgbClr val="65696B"/>
          </a:solidFill>
          <a:ln/>
        </p:spPr>
      </p:sp>
      <p:sp>
        <p:nvSpPr>
          <p:cNvPr id="22" name="Text 20"/>
          <p:cNvSpPr/>
          <p:nvPr/>
        </p:nvSpPr>
        <p:spPr>
          <a:xfrm>
            <a:off x="4253151" y="6301264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🎬</a:t>
            </a:r>
            <a:pPr rtl="1"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فيديو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66021" y="101310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أحسنت! </a:t>
            </a:r>
            <a:pPr rtl="1" algn="r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🎉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06204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الآن تعرفت على </a:t>
            </a:r>
            <a:pPr rtl="1" algn="r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الملفات والمجلدات</a:t>
            </a:r>
            <a:pPr rtl="1"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يمكنك تنظيم أعمالك على الحاسوب بسهولة!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12929354" y="2680097"/>
            <a:ext cx="907256" cy="1360884"/>
          </a:xfrm>
          <a:prstGeom prst="roundRect">
            <a:avLst>
              <a:gd name="adj" fmla="val 360022"/>
            </a:avLst>
          </a:prstGeom>
          <a:solidFill>
            <a:srgbClr val="4C5052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212961" y="3190399"/>
            <a:ext cx="340162" cy="34016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867305" y="29069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الملف يحفظ المعلومات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12929354" y="4267795"/>
            <a:ext cx="907256" cy="1360884"/>
          </a:xfrm>
          <a:prstGeom prst="roundRect">
            <a:avLst>
              <a:gd name="adj" fmla="val 360022"/>
            </a:avLst>
          </a:prstGeom>
          <a:solidFill>
            <a:srgbClr val="4C5052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212961" y="4778097"/>
            <a:ext cx="340162" cy="34016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867305" y="44946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المجلد ينظّم الملفات</a:t>
            </a:r>
            <a:endParaRPr lang="en-US" sz="2200" dirty="0"/>
          </a:p>
        </p:txBody>
      </p:sp>
      <p:sp>
        <p:nvSpPr>
          <p:cNvPr id="11" name="Shape 6"/>
          <p:cNvSpPr/>
          <p:nvPr/>
        </p:nvSpPr>
        <p:spPr>
          <a:xfrm>
            <a:off x="12929354" y="5855494"/>
            <a:ext cx="907256" cy="1360884"/>
          </a:xfrm>
          <a:prstGeom prst="roundRect">
            <a:avLst>
              <a:gd name="adj" fmla="val 360022"/>
            </a:avLst>
          </a:prstGeom>
          <a:solidFill>
            <a:srgbClr val="4C5052"/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212961" y="6365796"/>
            <a:ext cx="340162" cy="34016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867305" y="6082308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أنت الآن محترف! </a:t>
            </a:r>
            <a:pPr rtl="1"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🌟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2026-03-28T18:42:57Z</dcterms:created>
  <dcterms:modified xsi:type="dcterms:W3CDTF">2026-03-28T18:42:57Z</dcterms:modified>
</cp:coreProperties>
</file>