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57535182798848:602ebd58d6b67ad6e3def474bcc9513d:0:0/ff4f7bb3-fb72-4df0-8c76-5e6f969712f3/2018757535182798848:602ebd58d6b67ad6e3def474bcc9513d:0:0_page_1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9442" y="2571750"/>
            <a:ext cx="9718893" cy="86871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6840"/>
              </a:lnSpc>
              <a:buNone/>
            </a:pPr>
            <a:r>
              <a:rPr lang="en-US" sz="5700" b="1" dirty="0">
                <a:solidFill>
                  <a:srgbClr val="1C3F6B"/>
                </a:solidFill>
                <a:latin typeface="Lobster Two" pitchFamily="34" charset="0"/>
                <a:ea typeface="Lobster Two" pitchFamily="34" charset="-122"/>
                <a:cs typeface="Lobster Two" pitchFamily="34" charset="-120"/>
              </a:rPr>
              <a:t>الملفات وال مجلدات</a:t>
            </a:r>
            <a:endParaRPr lang="en-US" sz="5700" dirty="0"/>
          </a:p>
        </p:txBody>
      </p:sp>
      <p:sp>
        <p:nvSpPr>
          <p:cNvPr id="4" name="Text 1"/>
          <p:cNvSpPr/>
          <p:nvPr/>
        </p:nvSpPr>
        <p:spPr>
          <a:xfrm>
            <a:off x="3401095" y="3990975"/>
            <a:ext cx="5821263" cy="55319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356"/>
              </a:lnSpc>
              <a:buNone/>
            </a:pPr>
            <a:r>
              <a:rPr lang="en-US" sz="3300" b="1" dirty="0">
                <a:solidFill>
                  <a:srgbClr val="43A3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لتصف الأول الابتدائي</a:t>
            </a:r>
            <a:endParaRPr lang="en-US" sz="3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57535182798848:602ebd58d6b67ad6e3def474bcc9513d:0:0/120e0a36-de95-45a8-b580-a449f0f6a137/2018757535182798848:602ebd58d6b67ad6e3def474bcc9513d:0:0_page_2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490" y="4581079"/>
            <a:ext cx="1231255" cy="16321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153" y="3127177"/>
            <a:ext cx="1633686" cy="116577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4471" y="1385292"/>
            <a:ext cx="1304479" cy="145375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7365" y="4622155"/>
            <a:ext cx="2999184" cy="2023021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402151" y="533400"/>
            <a:ext cx="5808583" cy="79548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6264"/>
              </a:lnSpc>
              <a:buNone/>
            </a:pPr>
            <a:r>
              <a:rPr lang="en-US" sz="4350" b="1" dirty="0">
                <a:solidFill>
                  <a:srgbClr val="1E62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ما هي الملفات؟</a:t>
            </a:r>
            <a:endParaRPr lang="en-US" sz="4350" dirty="0"/>
          </a:p>
        </p:txBody>
      </p:sp>
      <p:sp>
        <p:nvSpPr>
          <p:cNvPr id="8" name="Text 1"/>
          <p:cNvSpPr/>
          <p:nvPr/>
        </p:nvSpPr>
        <p:spPr>
          <a:xfrm>
            <a:off x="1070044" y="2247900"/>
            <a:ext cx="8876467" cy="53206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190"/>
              </a:lnSpc>
              <a:buNone/>
            </a:pPr>
            <a:r>
              <a:rPr lang="en-US" sz="2850" b="1" dirty="0">
                <a:solidFill>
                  <a:srgbClr val="1928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الملف يحفظ المعلومات في الكمبيوتر</a:t>
            </a:r>
            <a:endParaRPr lang="en-US" sz="2850" dirty="0"/>
          </a:p>
        </p:txBody>
      </p:sp>
      <p:sp>
        <p:nvSpPr>
          <p:cNvPr id="9" name="Text 2"/>
          <p:cNvSpPr/>
          <p:nvPr/>
        </p:nvSpPr>
        <p:spPr>
          <a:xfrm>
            <a:off x="1066904" y="3429000"/>
            <a:ext cx="8914150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962"/>
              </a:lnSpc>
              <a:buNone/>
            </a:pPr>
            <a:r>
              <a:rPr lang="en-US" sz="2850" b="1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يمكن أن يكون الملف من أنواع مختلفة</a:t>
            </a:r>
            <a:endParaRPr lang="en-US" sz="2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57535182798848:602ebd58d6b67ad6e3def474bcc9513d:0:0/adee6da3-1438-492b-8131-8c5d92c49dbd/2018757535182798848:602ebd58d6b67ad6e3def474bcc9513d:0:0_page_3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553" y="4457700"/>
            <a:ext cx="1743373" cy="132352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686" y="4224486"/>
            <a:ext cx="1487388" cy="181734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8573" y="1913334"/>
            <a:ext cx="1633686" cy="144690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3686" y="1776115"/>
            <a:ext cx="1438573" cy="1789807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658428" y="466725"/>
            <a:ext cx="7418070" cy="73297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772"/>
              </a:lnSpc>
              <a:buNone/>
            </a:pPr>
            <a:r>
              <a:rPr lang="en-US" sz="3900" b="1" dirty="0">
                <a:solidFill>
                  <a:srgbClr val="377E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أنواع الملفات المختلفة</a:t>
            </a:r>
            <a:endParaRPr lang="en-US" sz="3900" dirty="0"/>
          </a:p>
        </p:txBody>
      </p:sp>
      <p:sp>
        <p:nvSpPr>
          <p:cNvPr id="8" name="Text 1"/>
          <p:cNvSpPr/>
          <p:nvPr/>
        </p:nvSpPr>
        <p:spPr>
          <a:xfrm>
            <a:off x="3223930" y="2400300"/>
            <a:ext cx="2803743" cy="58980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644"/>
              </a:lnSpc>
              <a:buNone/>
            </a:pPr>
            <a:r>
              <a:rPr lang="en-US" sz="322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المستندات</a:t>
            </a:r>
            <a:endParaRPr lang="en-US" sz="3225" dirty="0"/>
          </a:p>
        </p:txBody>
      </p:sp>
      <p:sp>
        <p:nvSpPr>
          <p:cNvPr id="9" name="Text 2"/>
          <p:cNvSpPr/>
          <p:nvPr/>
        </p:nvSpPr>
        <p:spPr>
          <a:xfrm>
            <a:off x="7117467" y="2447925"/>
            <a:ext cx="145839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الصور</a:t>
            </a:r>
            <a:endParaRPr lang="en-US" sz="3000" dirty="0"/>
          </a:p>
        </p:txBody>
      </p:sp>
      <p:sp>
        <p:nvSpPr>
          <p:cNvPr id="10" name="Text 3"/>
          <p:cNvSpPr/>
          <p:nvPr/>
        </p:nvSpPr>
        <p:spPr>
          <a:xfrm>
            <a:off x="3295754" y="4848225"/>
            <a:ext cx="262765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الموسيقى</a:t>
            </a:r>
            <a:endParaRPr lang="en-US" sz="3000" dirty="0"/>
          </a:p>
        </p:txBody>
      </p:sp>
      <p:sp>
        <p:nvSpPr>
          <p:cNvPr id="11" name="Text 4"/>
          <p:cNvSpPr/>
          <p:nvPr/>
        </p:nvSpPr>
        <p:spPr>
          <a:xfrm>
            <a:off x="6907158" y="4867275"/>
            <a:ext cx="1810405" cy="57611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536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الفيديو</a:t>
            </a:r>
            <a:endParaRPr lang="en-US" sz="3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57535182798848:602ebd58d6b67ad6e3def474bcc9513d:0:0/99daec94-889e-4751-99ff-da7e55e338b8/2018757535182798848:602ebd58d6b67ad6e3def474bcc9513d:0:0_page_4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388" y="1714500"/>
            <a:ext cx="6388596" cy="23522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952095" y="638175"/>
            <a:ext cx="6751558" cy="71407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623"/>
              </a:lnSpc>
              <a:buNone/>
            </a:pPr>
            <a:r>
              <a:rPr lang="en-US" sz="4725" b="1" dirty="0">
                <a:solidFill>
                  <a:srgbClr val="196F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ما هي المجلدات؟</a:t>
            </a:r>
            <a:endParaRPr lang="en-US" sz="4725" dirty="0"/>
          </a:p>
        </p:txBody>
      </p:sp>
      <p:sp>
        <p:nvSpPr>
          <p:cNvPr id="5" name="Text 1"/>
          <p:cNvSpPr/>
          <p:nvPr/>
        </p:nvSpPr>
        <p:spPr>
          <a:xfrm>
            <a:off x="1321028" y="4410075"/>
            <a:ext cx="10322362" cy="63891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031"/>
              </a:lnSpc>
              <a:buNone/>
            </a:pPr>
            <a:r>
              <a:rPr lang="en-US" sz="3900" b="1" dirty="0">
                <a:solidFill>
                  <a:srgbClr val="212F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المجلدات مثل الحقيبة المدرسية</a:t>
            </a:r>
            <a:endParaRPr lang="en-US" sz="3900" dirty="0"/>
          </a:p>
        </p:txBody>
      </p:sp>
      <p:sp>
        <p:nvSpPr>
          <p:cNvPr id="6" name="Text 2"/>
          <p:cNvSpPr/>
          <p:nvPr/>
        </p:nvSpPr>
        <p:spPr>
          <a:xfrm>
            <a:off x="2379538" y="5200650"/>
            <a:ext cx="8021538" cy="63073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967"/>
              </a:lnSpc>
              <a:buNone/>
            </a:pPr>
            <a:r>
              <a:rPr lang="en-US" sz="3225" dirty="0">
                <a:solidFill>
                  <a:srgbClr val="212F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تحفظ الملفات معاً وتنظّم العمل</a:t>
            </a:r>
            <a:endParaRPr lang="en-US" sz="32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57535182798848:602ebd58d6b67ad6e3def474bcc9513d:0:0/9c9ae88c-098b-4c4f-a583-b6dcdb4a00f7/2018757535182798848:602ebd58d6b67ad6e3def474bcc9513d:0:0_page_5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071" y="2352229"/>
            <a:ext cx="2889498" cy="22630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780" y="3332857"/>
            <a:ext cx="926455" cy="66511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875" y="2235696"/>
            <a:ext cx="743694" cy="61719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9357" y="2599134"/>
            <a:ext cx="2438400" cy="200932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055316" y="466725"/>
            <a:ext cx="8826103" cy="52134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106"/>
              </a:lnSpc>
              <a:buNone/>
            </a:pPr>
            <a:r>
              <a:rPr lang="en-US" sz="3450" b="1" spc="60" kern="0" dirty="0">
                <a:solidFill>
                  <a:srgbClr val="1E6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شكل المجلدات على الكمبيوتر</a:t>
            </a:r>
            <a:endParaRPr lang="en-US" sz="3450" dirty="0"/>
          </a:p>
        </p:txBody>
      </p:sp>
      <p:sp>
        <p:nvSpPr>
          <p:cNvPr id="8" name="Text 1"/>
          <p:cNvSpPr/>
          <p:nvPr/>
        </p:nvSpPr>
        <p:spPr>
          <a:xfrm>
            <a:off x="2947898" y="1323975"/>
            <a:ext cx="680192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B1A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المجلدات لها أيقونات صفراء اللون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2422029" y="4648200"/>
            <a:ext cx="191095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مجلد فارغ</a:t>
            </a:r>
            <a:endParaRPr lang="en-US" sz="2250" dirty="0"/>
          </a:p>
        </p:txBody>
      </p:sp>
      <p:sp>
        <p:nvSpPr>
          <p:cNvPr id="10" name="Text 3"/>
          <p:cNvSpPr/>
          <p:nvPr/>
        </p:nvSpPr>
        <p:spPr>
          <a:xfrm>
            <a:off x="6916683" y="4648200"/>
            <a:ext cx="432500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045"/>
              </a:lnSpc>
              <a:buNone/>
            </a:pPr>
            <a:r>
              <a:rPr lang="en-US" sz="2175" b="1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مجلد يحتوي على ملفات</a:t>
            </a:r>
            <a:endParaRPr lang="en-US" sz="2175" dirty="0"/>
          </a:p>
        </p:txBody>
      </p:sp>
      <p:sp>
        <p:nvSpPr>
          <p:cNvPr id="11" name="Text 4"/>
          <p:cNvSpPr/>
          <p:nvPr/>
        </p:nvSpPr>
        <p:spPr>
          <a:xfrm>
            <a:off x="2749302" y="6153150"/>
            <a:ext cx="7241977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14A3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انظر إلى الأيقونات الصفراء لتعرف المجلدات!</a:t>
            </a:r>
            <a:endParaRPr lang="en-US" sz="1875" dirty="0"/>
          </a:p>
        </p:txBody>
      </p:sp>
      <p:sp>
        <p:nvSpPr>
          <p:cNvPr id="12" name="Text 5"/>
          <p:cNvSpPr/>
          <p:nvPr/>
        </p:nvSpPr>
        <p:spPr>
          <a:xfrm>
            <a:off x="2307908" y="5324475"/>
            <a:ext cx="213741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لا يحتوي على ملفات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7630864" y="5324475"/>
            <a:ext cx="2841427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يحتوي على ملفات مختلفة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4876800" y="2857500"/>
            <a:ext cx="100578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B1A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لا يوجد شيء</a:t>
            </a:r>
            <a:pPr algn="ctr"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B1A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B1A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بالداخل!</a:t>
            </a:r>
            <a:endParaRPr lang="en-US" sz="1275" dirty="0"/>
          </a:p>
        </p:txBody>
      </p:sp>
      <p:sp>
        <p:nvSpPr>
          <p:cNvPr id="15" name="Text 8"/>
          <p:cNvSpPr/>
          <p:nvPr/>
        </p:nvSpPr>
        <p:spPr>
          <a:xfrm>
            <a:off x="6400800" y="3990975"/>
            <a:ext cx="106858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B1A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ملفات وأوراق</a:t>
            </a:r>
            <a:pPr algn="ctr"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B1A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B1A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بالداخل!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57535182798848:602ebd58d6b67ad6e3def474bcc9513d:1:0/fdaf4eae-28b1-4a53-bb84-5ff8fbe53f3c/2018757535182798848:602ebd58d6b67ad6e3def474bcc9513d:1:0_page_6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557" y="5122813"/>
            <a:ext cx="2706588" cy="173503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173" y="2201317"/>
            <a:ext cx="3840361" cy="244822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686" y="2290465"/>
            <a:ext cx="3218557" cy="259913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55" y="2660898"/>
            <a:ext cx="3413671" cy="200932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067877" y="466725"/>
            <a:ext cx="8675370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580"/>
              </a:lnSpc>
              <a:buNone/>
            </a:pPr>
            <a:r>
              <a:rPr lang="en-US" sz="4650" b="1" dirty="0">
                <a:solidFill>
                  <a:srgbClr val="1E60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كيفية إنشاء مجلد جديد</a:t>
            </a:r>
            <a:endParaRPr lang="en-US" sz="4650" dirty="0"/>
          </a:p>
        </p:txBody>
      </p:sp>
      <p:sp>
        <p:nvSpPr>
          <p:cNvPr id="8" name="Text 1"/>
          <p:cNvSpPr/>
          <p:nvPr/>
        </p:nvSpPr>
        <p:spPr>
          <a:xfrm>
            <a:off x="762000" y="1771650"/>
            <a:ext cx="347841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الخطوة ١: انقر بالزر الأيمن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على سطح المكتب</a:t>
            </a:r>
            <a:endParaRPr lang="en-US" sz="1800" dirty="0"/>
          </a:p>
        </p:txBody>
      </p:sp>
      <p:sp>
        <p:nvSpPr>
          <p:cNvPr id="9" name="Text 2"/>
          <p:cNvSpPr/>
          <p:nvPr/>
        </p:nvSpPr>
        <p:spPr>
          <a:xfrm>
            <a:off x="4329693" y="1771650"/>
            <a:ext cx="3822085" cy="29721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الخطوة ٢: اختر " جديد"</a:t>
            </a:r>
            <a:endParaRPr lang="en-US" sz="1950" dirty="0"/>
          </a:p>
        </p:txBody>
      </p:sp>
      <p:sp>
        <p:nvSpPr>
          <p:cNvPr id="10" name="Text 3"/>
          <p:cNvSpPr/>
          <p:nvPr/>
        </p:nvSpPr>
        <p:spPr>
          <a:xfrm>
            <a:off x="8189416" y="1771650"/>
            <a:ext cx="3796903" cy="30867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الخطوة ٣: اختر "مجلد"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57535182798848:602ebd58d6b67ad6e3def474bcc9513d:1:0/c07a1a7c-386d-4f69-894b-731c7f395cd0/2018757535182798848:602ebd58d6b67ad6e3def474bcc9513d:1:0_page_7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757" y="4190107"/>
            <a:ext cx="2462659" cy="22562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867" y="1364605"/>
            <a:ext cx="2901553" cy="222185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188" y="2146548"/>
            <a:ext cx="767953" cy="76795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960474" y="466725"/>
            <a:ext cx="6651010" cy="87957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6926"/>
              </a:lnSpc>
              <a:buNone/>
            </a:pPr>
            <a:r>
              <a:rPr lang="en-US" sz="6075" b="1" dirty="0">
                <a:solidFill>
                  <a:srgbClr val="166F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تسمية المجلد</a:t>
            </a:r>
            <a:endParaRPr lang="en-US" sz="6075" dirty="0"/>
          </a:p>
        </p:txBody>
      </p:sp>
      <p:sp>
        <p:nvSpPr>
          <p:cNvPr id="7" name="Text 1"/>
          <p:cNvSpPr/>
          <p:nvPr/>
        </p:nvSpPr>
        <p:spPr>
          <a:xfrm>
            <a:off x="838200" y="2800350"/>
            <a:ext cx="8392418" cy="115073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530"/>
              </a:lnSpc>
              <a:buNone/>
            </a:pPr>
            <a:r>
              <a:rPr lang="en-US" sz="3000" b="1" dirty="0">
                <a:solidFill>
                  <a:srgbClr val="1928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من المهم إعطاء أسماء مناسبة للمجلدات</a:t>
            </a:r>
            <a:pPr algn="ctr" indent="0" marL="0">
              <a:lnSpc>
                <a:spcPts val="4530"/>
              </a:lnSpc>
              <a:buNone/>
            </a:pPr>
            <a:r>
              <a:rPr lang="en-US" sz="3000" b="1" dirty="0">
                <a:solidFill>
                  <a:srgbClr val="1928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
</a:t>
            </a:r>
            <a:pPr algn="ctr" indent="0" marL="0">
              <a:lnSpc>
                <a:spcPts val="4530"/>
              </a:lnSpc>
              <a:buNone/>
            </a:pPr>
            <a:r>
              <a:rPr lang="en-US" sz="3000" b="1" dirty="0">
                <a:solidFill>
                  <a:srgbClr val="1928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حتى نعرف ما بداخلها بسهولة</a:t>
            </a:r>
            <a:endParaRPr lang="en-US" sz="3000" dirty="0"/>
          </a:p>
        </p:txBody>
      </p:sp>
      <p:sp>
        <p:nvSpPr>
          <p:cNvPr id="8" name="Text 2"/>
          <p:cNvSpPr/>
          <p:nvPr/>
        </p:nvSpPr>
        <p:spPr>
          <a:xfrm>
            <a:off x="1170622" y="5334000"/>
            <a:ext cx="766953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>
                <a:solidFill>
                  <a:srgbClr val="B222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اختر اسماً يخبرك عن محتوى المجلد!</a:t>
            </a:r>
            <a:endParaRPr lang="en-US" sz="2550" dirty="0"/>
          </a:p>
        </p:txBody>
      </p:sp>
      <p:sp>
        <p:nvSpPr>
          <p:cNvPr id="9" name="Text 3"/>
          <p:cNvSpPr/>
          <p:nvPr/>
        </p:nvSpPr>
        <p:spPr>
          <a:xfrm>
            <a:off x="10342453" y="3619500"/>
            <a:ext cx="1496080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3094"/>
              </a:lnSpc>
              <a:buNone/>
            </a:pPr>
            <a:r>
              <a:rPr lang="en-US" sz="2475" b="1" dirty="0">
                <a:solidFill>
                  <a:srgbClr val="166F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مثال:</a:t>
            </a:r>
            <a:endParaRPr lang="en-US" sz="2475" dirty="0"/>
          </a:p>
        </p:txBody>
      </p:sp>
      <p:sp>
        <p:nvSpPr>
          <p:cNvPr id="10" name="Text 4"/>
          <p:cNvSpPr/>
          <p:nvPr/>
        </p:nvSpPr>
        <p:spPr>
          <a:xfrm>
            <a:off x="7868245" y="2181225"/>
            <a:ext cx="96797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22C1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28pt</a:t>
            </a:r>
            <a:endParaRPr lang="en-US" sz="2250" dirty="0"/>
          </a:p>
        </p:txBody>
      </p:sp>
      <p:sp>
        <p:nvSpPr>
          <p:cNvPr id="11" name="Text 5"/>
          <p:cNvSpPr/>
          <p:nvPr/>
        </p:nvSpPr>
        <p:spPr>
          <a:xfrm>
            <a:off x="714375" y="4286250"/>
            <a:ext cx="96797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22C1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24pt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57535182798848:602ebd58d6b67ad6e3def474bcc9513d:1:0/337325d6-bc20-44f4-9666-19b9105111b5/2018757535182798848:602ebd58d6b67ad6e3def474bcc9513d:1:0_page_8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486" y="2167086"/>
            <a:ext cx="3779490" cy="352499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459" y="2160240"/>
            <a:ext cx="3572173" cy="353184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71" y="1803648"/>
            <a:ext cx="3767286" cy="4087267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902869" y="523875"/>
            <a:ext cx="4714875" cy="55378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361"/>
              </a:lnSpc>
              <a:buNone/>
            </a:pPr>
            <a:r>
              <a:rPr lang="en-US" sz="3825" b="1" dirty="0">
                <a:solidFill>
                  <a:srgbClr val="196F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تمارين تفاعلية</a:t>
            </a:r>
            <a:endParaRPr lang="en-US" sz="3825" dirty="0"/>
          </a:p>
        </p:txBody>
      </p:sp>
      <p:sp>
        <p:nvSpPr>
          <p:cNvPr id="7" name="Text 1"/>
          <p:cNvSpPr/>
          <p:nvPr/>
        </p:nvSpPr>
        <p:spPr>
          <a:xfrm>
            <a:off x="2060555" y="6010275"/>
            <a:ext cx="8763238" cy="37028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916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أحسنت! لقد تعلمت الكثير عن الملفات وال مجلدات</a:t>
            </a:r>
            <a:endParaRPr lang="en-US" sz="2025" dirty="0"/>
          </a:p>
        </p:txBody>
      </p:sp>
      <p:sp>
        <p:nvSpPr>
          <p:cNvPr id="8" name="Text 2"/>
          <p:cNvSpPr/>
          <p:nvPr/>
        </p:nvSpPr>
        <p:spPr>
          <a:xfrm>
            <a:off x="3255273" y="1428750"/>
            <a:ext cx="6085225" cy="43695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440"/>
              </a:lnSpc>
              <a:buNone/>
            </a:pPr>
            <a:r>
              <a:rPr lang="en-US" sz="2475" b="1" i="1" dirty="0">
                <a:solidFill>
                  <a:srgbClr val="14A4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أنشطة ممتعة لتطبيق ما تعلمته</a:t>
            </a:r>
            <a:endParaRPr lang="en-US" sz="24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2026-02-03T18:49:53Z</dcterms:created>
  <dcterms:modified xsi:type="dcterms:W3CDTF">2026-02-03T18:49:53Z</dcterms:modified>
</cp:coreProperties>
</file>