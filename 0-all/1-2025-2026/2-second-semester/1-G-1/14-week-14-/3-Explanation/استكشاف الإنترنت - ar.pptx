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image" Target="../media/image-2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image" Target="../media/image-4-13.png"/><Relationship Id="rId14" Type="http://schemas.openxmlformats.org/officeDocument/2006/relationships/image" Target="../media/image-4-14.png"/><Relationship Id="rId15" Type="http://schemas.openxmlformats.org/officeDocument/2006/relationships/image" Target="../media/image-4-15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image" Target="../media/image-7-11.png"/><Relationship Id="rId12" Type="http://schemas.openxmlformats.org/officeDocument/2006/relationships/image" Target="../media/image-7-12.png"/><Relationship Id="rId13" Type="http://schemas.openxmlformats.org/officeDocument/2006/relationships/image" Target="../media/image-7-13.png"/><Relationship Id="rId14" Type="http://schemas.openxmlformats.org/officeDocument/2006/relationships/image" Target="../media/image-7-14.png"/><Relationship Id="rId15" Type="http://schemas.openxmlformats.org/officeDocument/2006/relationships/image" Target="../media/image-7-15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image" Target="../media/image-8-11.png"/><Relationship Id="rId12" Type="http://schemas.openxmlformats.org/officeDocument/2006/relationships/image" Target="../media/image-8-12.png"/><Relationship Id="rId13" Type="http://schemas.openxmlformats.org/officeDocument/2006/relationships/image" Target="../media/image-8-13.png"/><Relationship Id="rId14" Type="http://schemas.openxmlformats.org/officeDocument/2006/relationships/image" Target="../media/image-8-14.png"/><Relationship Id="rId15" Type="http://schemas.openxmlformats.org/officeDocument/2006/relationships/image" Target="../media/image-8-15.png"/><Relationship Id="rId16" Type="http://schemas.openxmlformats.org/officeDocument/2006/relationships/image" Target="../media/image-8-16.pn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image" Target="../media/image-9-10.png"/><Relationship Id="rId11" Type="http://schemas.openxmlformats.org/officeDocument/2006/relationships/image" Target="../media/image-9-11.png"/><Relationship Id="rId12" Type="http://schemas.openxmlformats.org/officeDocument/2006/relationships/image" Target="../media/image-9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picture-search.skywork.ai/aippt/image/sheet/2018763738171351040:4048483f424dee067dbbe1014e2f88ee:0:0/bf90ffc5-16c3-48cc-81fa-e3a79008a5a1/2018763738171351040:4048483f424dee067dbbe1014e2f88ee:0:0_page_1_inp_img_lama_ref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060555" y="2247900"/>
            <a:ext cx="8763238" cy="897582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7068"/>
              </a:lnSpc>
              <a:buNone/>
            </a:pPr>
            <a:r>
              <a:rPr lang="en-US" sz="5700" b="1" dirty="0">
                <a:solidFill>
                  <a:srgbClr val="082A5B"/>
                </a:solidFill>
                <a:latin typeface="Trebuchet-BoldItalic" pitchFamily="34" charset="0"/>
                <a:ea typeface="Trebuchet-BoldItalic" pitchFamily="34" charset="-122"/>
                <a:cs typeface="Trebuchet-BoldItalic" pitchFamily="34" charset="-120"/>
              </a:rPr>
              <a:t>استكشاف الإنترنت</a:t>
            </a:r>
            <a:endParaRPr lang="en-US" sz="5700" dirty="0"/>
          </a:p>
        </p:txBody>
      </p:sp>
      <p:sp>
        <p:nvSpPr>
          <p:cNvPr id="4" name="Text 1"/>
          <p:cNvSpPr/>
          <p:nvPr/>
        </p:nvSpPr>
        <p:spPr>
          <a:xfrm>
            <a:off x="3625036" y="3638550"/>
            <a:ext cx="5305663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3720"/>
              </a:lnSpc>
              <a:buNone/>
            </a:pPr>
            <a:r>
              <a:rPr lang="en-US" sz="3000" b="1" dirty="0">
                <a:solidFill>
                  <a:srgbClr val="008B8B"/>
                </a:solidFill>
                <a:latin typeface="Trebuchet-BoldItalic" pitchFamily="34" charset="0"/>
                <a:ea typeface="Trebuchet-BoldItalic" pitchFamily="34" charset="-122"/>
                <a:cs typeface="Trebuchet-BoldItalic" pitchFamily="34" charset="-120"/>
              </a:rPr>
              <a:t>للصف الأول الابتدائي</a:t>
            </a:r>
            <a:endParaRPr lang="en-US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picture-search.skywork.ai/aippt/image/sheet/2018763738171351040:4048483f424dee067dbbe1014e2f88ee:0:0/f98b998a-e3b9-4a74-b88a-7d61bb4cd0fb/2018763738171351040:4048483f424dee067dbbe1014e2f88ee:0:0_page_2_inp_img_lama_ref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94455" y="5164038"/>
            <a:ext cx="451098" cy="363438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92494" y="6377880"/>
            <a:ext cx="463153" cy="37713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48173" y="6384727"/>
            <a:ext cx="426690" cy="349746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50777" y="6364188"/>
            <a:ext cx="438894" cy="370284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0557" y="5452021"/>
            <a:ext cx="402282" cy="349746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0557" y="1344067"/>
            <a:ext cx="426690" cy="37713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594455" y="1597819"/>
            <a:ext cx="451098" cy="370284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97467" y="4046190"/>
            <a:ext cx="1755577" cy="1145232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56698" y="3806130"/>
            <a:ext cx="1767780" cy="1392138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497961" y="1844725"/>
            <a:ext cx="3401467" cy="1824186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304157" y="178296"/>
            <a:ext cx="438894" cy="377130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401961" y="740569"/>
            <a:ext cx="475357" cy="377130"/>
          </a:xfrm>
          <a:prstGeom prst="rect">
            <a:avLst/>
          </a:prstGeom>
        </p:spPr>
      </p:pic>
      <p:sp>
        <p:nvSpPr>
          <p:cNvPr id="15" name="Text 0"/>
          <p:cNvSpPr/>
          <p:nvPr/>
        </p:nvSpPr>
        <p:spPr>
          <a:xfrm>
            <a:off x="3842683" y="666750"/>
            <a:ext cx="4865608" cy="621804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4896"/>
              </a:lnSpc>
              <a:buNone/>
            </a:pPr>
            <a:r>
              <a:rPr lang="en-US" sz="3825" b="1" dirty="0">
                <a:solidFill>
                  <a:srgbClr val="1C3F8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ما هو الإنترنت؟</a:t>
            </a:r>
            <a:endParaRPr lang="en-US" sz="3825" dirty="0"/>
          </a:p>
        </p:txBody>
      </p:sp>
      <p:sp>
        <p:nvSpPr>
          <p:cNvPr id="16" name="Text 1"/>
          <p:cNvSpPr/>
          <p:nvPr/>
        </p:nvSpPr>
        <p:spPr>
          <a:xfrm>
            <a:off x="962025" y="2038350"/>
            <a:ext cx="6621661" cy="2469059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3888"/>
              </a:lnSpc>
              <a:buNone/>
            </a:pPr>
            <a:r>
              <a:rPr lang="en-US" sz="2700" dirty="0">
                <a:solidFill>
                  <a:srgbClr val="29354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الإنترنت وسيلة تساعد أجهزة الحاسوب</a:t>
            </a:r>
            <a:pPr algn="ctr" indent="0" marL="0">
              <a:lnSpc>
                <a:spcPts val="3888"/>
              </a:lnSpc>
              <a:buNone/>
            </a:pPr>
            <a:r>
              <a:rPr lang="en-US" sz="2700" dirty="0">
                <a:solidFill>
                  <a:srgbClr val="29354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
</a:t>
            </a:r>
            <a:pPr algn="ctr" indent="0" marL="0">
              <a:lnSpc>
                <a:spcPts val="3888"/>
              </a:lnSpc>
              <a:buNone/>
            </a:pPr>
            <a:r>
              <a:rPr lang="en-US" sz="2700" dirty="0">
                <a:solidFill>
                  <a:srgbClr val="29354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على التواصل ومشاركة المعلومات مع</a:t>
            </a:r>
            <a:pPr algn="ctr" indent="0" marL="0">
              <a:lnSpc>
                <a:spcPts val="3888"/>
              </a:lnSpc>
              <a:buNone/>
            </a:pPr>
            <a:r>
              <a:rPr lang="en-US" sz="2700" dirty="0">
                <a:solidFill>
                  <a:srgbClr val="29354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
</a:t>
            </a:r>
            <a:pPr algn="ctr" indent="0" marL="0">
              <a:lnSpc>
                <a:spcPts val="3888"/>
              </a:lnSpc>
              <a:buNone/>
            </a:pPr>
            <a:r>
              <a:rPr lang="en-US" sz="2700" dirty="0">
                <a:solidFill>
                  <a:srgbClr val="29354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مع ما بعضها البعض، تماماً مثلما</a:t>
            </a:r>
            <a:pPr algn="ctr" indent="0" marL="0">
              <a:lnSpc>
                <a:spcPts val="3888"/>
              </a:lnSpc>
              <a:buNone/>
            </a:pPr>
            <a:r>
              <a:rPr lang="en-US" sz="2700" dirty="0">
                <a:solidFill>
                  <a:srgbClr val="29354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
</a:t>
            </a:r>
            <a:pPr algn="ctr" indent="0" marL="0">
              <a:lnSpc>
                <a:spcPts val="3888"/>
              </a:lnSpc>
              <a:buNone/>
            </a:pPr>
            <a:r>
              <a:rPr lang="en-US" sz="2700" dirty="0">
                <a:solidFill>
                  <a:srgbClr val="29354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يتواصل البشر عندما يتحدثون أو يكتبون</a:t>
            </a:r>
            <a:pPr algn="ctr" indent="0" marL="0">
              <a:lnSpc>
                <a:spcPts val="3888"/>
              </a:lnSpc>
              <a:buNone/>
            </a:pPr>
            <a:r>
              <a:rPr lang="en-US" sz="2700" dirty="0">
                <a:solidFill>
                  <a:srgbClr val="29354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
</a:t>
            </a:r>
            <a:pPr algn="ctr" indent="0" marL="0">
              <a:lnSpc>
                <a:spcPts val="3888"/>
              </a:lnSpc>
              <a:buNone/>
            </a:pPr>
            <a:r>
              <a:rPr lang="en-US" sz="2700" dirty="0">
                <a:solidFill>
                  <a:srgbClr val="29354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أو يستخدمون إشارات اليد.</a:t>
            </a:r>
            <a:endParaRPr lang="en-US" sz="2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picture-search.skywork.ai/aippt/image/sheet/2018763738171351040:4048483f424dee067dbbe1014e2f88ee:0:0/6543e3dc-b0be-46d6-b69b-779cd7ae318a/2018763738171351040:4048483f424dee067dbbe1014e2f88ee:0:0_page_3_inp_img_lama_ref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7067" y="6268194"/>
            <a:ext cx="524173" cy="438894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3984" y="5863530"/>
            <a:ext cx="499765" cy="479971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61263" y="1673275"/>
            <a:ext cx="2657773" cy="4066729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15867" y="4512469"/>
            <a:ext cx="2767459" cy="226308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14165" y="226219"/>
            <a:ext cx="524173" cy="479971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4965" y="1364605"/>
            <a:ext cx="524173" cy="445740"/>
          </a:xfrm>
          <a:prstGeom prst="rect">
            <a:avLst/>
          </a:prstGeom>
        </p:spPr>
      </p:pic>
      <p:sp>
        <p:nvSpPr>
          <p:cNvPr id="9" name="Text 0"/>
          <p:cNvSpPr/>
          <p:nvPr/>
        </p:nvSpPr>
        <p:spPr>
          <a:xfrm>
            <a:off x="2065794" y="647700"/>
            <a:ext cx="8700373" cy="578048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4552"/>
              </a:lnSpc>
              <a:buNone/>
            </a:pPr>
            <a:r>
              <a:rPr lang="en-US" sz="3825" b="1" dirty="0">
                <a:solidFill>
                  <a:srgbClr val="0031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المتصفح - البرنامج المساعد</a:t>
            </a:r>
            <a:endParaRPr lang="en-US" sz="3825" dirty="0"/>
          </a:p>
        </p:txBody>
      </p:sp>
      <p:sp>
        <p:nvSpPr>
          <p:cNvPr id="10" name="Text 1"/>
          <p:cNvSpPr/>
          <p:nvPr/>
        </p:nvSpPr>
        <p:spPr>
          <a:xfrm>
            <a:off x="1571625" y="2228850"/>
            <a:ext cx="6380708" cy="122426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3213"/>
              </a:lnSpc>
              <a:buNone/>
            </a:pPr>
            <a:r>
              <a:rPr lang="en-US" sz="2700" dirty="0">
                <a:solidFill>
                  <a:srgbClr val="4950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المتصفح هو برنامج نستخدمه للاتصال</a:t>
            </a:r>
            <a:pPr algn="ctr" indent="0" marL="0">
              <a:lnSpc>
                <a:spcPts val="3213"/>
              </a:lnSpc>
              <a:buNone/>
            </a:pPr>
            <a:r>
              <a:rPr lang="en-US" sz="2700" dirty="0">
                <a:solidFill>
                  <a:srgbClr val="4950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
</a:t>
            </a:r>
            <a:pPr algn="ctr" indent="0" marL="0">
              <a:lnSpc>
                <a:spcPts val="3213"/>
              </a:lnSpc>
              <a:buNone/>
            </a:pPr>
            <a:r>
              <a:rPr lang="en-US" sz="2700" dirty="0">
                <a:solidFill>
                  <a:srgbClr val="4950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بالإنترنت ومتصفح Edge هو المتصفح</a:t>
            </a:r>
            <a:pPr algn="ctr" indent="0" marL="0">
              <a:lnSpc>
                <a:spcPts val="3213"/>
              </a:lnSpc>
              <a:buNone/>
            </a:pPr>
            <a:r>
              <a:rPr lang="en-US" sz="2700" dirty="0">
                <a:solidFill>
                  <a:srgbClr val="4950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
</a:t>
            </a:r>
            <a:pPr algn="ctr" indent="0" marL="0">
              <a:lnSpc>
                <a:spcPts val="3213"/>
              </a:lnSpc>
              <a:buNone/>
            </a:pPr>
            <a:r>
              <a:rPr lang="en-US" sz="2700" dirty="0">
                <a:solidFill>
                  <a:srgbClr val="4950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الافتراضي في نظام ويندوز.</a:t>
            </a:r>
            <a:endParaRPr lang="en-US" sz="2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picture-search.skywork.ai/aippt/image/sheet/2018763738171351040:4048483f424dee067dbbe1014e2f88ee:0:0/40698d30-16ad-4e36-b00f-bf17aa020451/2018763738171351040:4048483f424dee067dbbe1014e2f88ee:0:0_page_4_inp_img_lama_ref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23898" y="1782961"/>
            <a:ext cx="463153" cy="432048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2055" y="1769269"/>
            <a:ext cx="3340596" cy="3840361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8298" y="4944517"/>
            <a:ext cx="1389757" cy="1913334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16361" y="4635996"/>
            <a:ext cx="2340769" cy="2221855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67780" y="6247507"/>
            <a:ext cx="353467" cy="329059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8494" y="5925294"/>
            <a:ext cx="475357" cy="466279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0079" y="5349180"/>
            <a:ext cx="463153" cy="411361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1263" y="1810494"/>
            <a:ext cx="390079" cy="356592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033671" y="1131540"/>
            <a:ext cx="353467" cy="335905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728871" y="418207"/>
            <a:ext cx="475357" cy="411361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985177" y="226219"/>
            <a:ext cx="353467" cy="335905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255490" y="205680"/>
            <a:ext cx="365671" cy="335905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97161" y="342900"/>
            <a:ext cx="548580" cy="445740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77875" y="1069777"/>
            <a:ext cx="487561" cy="425053"/>
          </a:xfrm>
          <a:prstGeom prst="rect">
            <a:avLst/>
          </a:prstGeom>
        </p:spPr>
      </p:pic>
      <p:sp>
        <p:nvSpPr>
          <p:cNvPr id="17" name="Text 0"/>
          <p:cNvSpPr/>
          <p:nvPr/>
        </p:nvSpPr>
        <p:spPr>
          <a:xfrm>
            <a:off x="3186589" y="638175"/>
            <a:ext cx="6223635" cy="61719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4860"/>
              </a:lnSpc>
              <a:buNone/>
            </a:pPr>
            <a:r>
              <a:rPr lang="en-US" sz="4050" b="1" dirty="0">
                <a:solidFill>
                  <a:srgbClr val="0B3C73"/>
                </a:solidFill>
                <a:latin typeface="Shippori Mincho B1 Extra" pitchFamily="34" charset="0"/>
                <a:ea typeface="Shippori Mincho B1 Extra" pitchFamily="34" charset="-122"/>
                <a:cs typeface="Shippori Mincho B1 Extra" pitchFamily="34" charset="-120"/>
              </a:rPr>
              <a:t>المواقع الإلكترونية</a:t>
            </a:r>
            <a:endParaRPr lang="en-US" sz="4050" dirty="0"/>
          </a:p>
        </p:txBody>
      </p:sp>
      <p:sp>
        <p:nvSpPr>
          <p:cNvPr id="18" name="Text 1"/>
          <p:cNvSpPr/>
          <p:nvPr/>
        </p:nvSpPr>
        <p:spPr>
          <a:xfrm>
            <a:off x="1266825" y="2590800"/>
            <a:ext cx="6516886" cy="1687264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r" indent="0" marL="0">
              <a:lnSpc>
                <a:spcPts val="4428"/>
              </a:lnSpc>
              <a:buNone/>
            </a:pPr>
            <a:r>
              <a:rPr lang="en-US" sz="3075" dirty="0">
                <a:solidFill>
                  <a:srgbClr val="32323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الموقع الإلكتروني هو مجموعة من</a:t>
            </a:r>
            <a:pPr algn="r" indent="0" marL="0">
              <a:lnSpc>
                <a:spcPts val="4428"/>
              </a:lnSpc>
              <a:buNone/>
            </a:pPr>
            <a:r>
              <a:rPr lang="en-US" sz="3075" dirty="0">
                <a:solidFill>
                  <a:srgbClr val="32323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
</a:t>
            </a:r>
            <a:pPr algn="r" indent="0" marL="0">
              <a:lnSpc>
                <a:spcPts val="4428"/>
              </a:lnSpc>
              <a:buNone/>
            </a:pPr>
            <a:r>
              <a:rPr lang="en-US" sz="3075" dirty="0">
                <a:solidFill>
                  <a:srgbClr val="32323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الصفحات التي تحتوي على معلومات</a:t>
            </a:r>
            <a:pPr algn="r" indent="0" marL="0">
              <a:lnSpc>
                <a:spcPts val="4428"/>
              </a:lnSpc>
              <a:buNone/>
            </a:pPr>
            <a:r>
              <a:rPr lang="en-US" sz="3075" dirty="0">
                <a:solidFill>
                  <a:srgbClr val="32323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
</a:t>
            </a:r>
            <a:pPr algn="r" indent="0" marL="0">
              <a:lnSpc>
                <a:spcPts val="4428"/>
              </a:lnSpc>
              <a:buNone/>
            </a:pPr>
            <a:r>
              <a:rPr lang="en-US" sz="3075" dirty="0">
                <a:solidFill>
                  <a:srgbClr val="32323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مختلفة على الإنترنت</a:t>
            </a:r>
            <a:endParaRPr lang="en-US" sz="307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picture-search.skywork.ai/aippt/image/sheet/2018763738171351040:4048483f424dee067dbbe1014e2f88ee:0:0/c73e3cae-5da9-43cd-821c-00d039e4b9a6/2018763738171351040:4048483f424dee067dbbe1014e2f88ee:0:0_page_5_inp_img_lama_ref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8580" y="4759375"/>
            <a:ext cx="3157686" cy="1158925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6384" y="4875907"/>
            <a:ext cx="780157" cy="767953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95679" y="4053036"/>
            <a:ext cx="731490" cy="747415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84055" y="3188940"/>
            <a:ext cx="2438400" cy="1035546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74455" y="2523679"/>
            <a:ext cx="853380" cy="596503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0863" y="1529209"/>
            <a:ext cx="2865090" cy="3044875"/>
          </a:xfrm>
          <a:prstGeom prst="rect">
            <a:avLst/>
          </a:prstGeom>
        </p:spPr>
      </p:pic>
      <p:sp>
        <p:nvSpPr>
          <p:cNvPr id="9" name="Text 0"/>
          <p:cNvSpPr/>
          <p:nvPr/>
        </p:nvSpPr>
        <p:spPr>
          <a:xfrm>
            <a:off x="2808446" y="647700"/>
            <a:ext cx="7103745" cy="56004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4410"/>
              </a:lnSpc>
              <a:buNone/>
            </a:pPr>
            <a:r>
              <a:rPr lang="en-US" sz="3675" b="1" dirty="0">
                <a:solidFill>
                  <a:srgbClr val="00256B"/>
                </a:solidFill>
                <a:latin typeface="Shippori Mincho B1 Extra" pitchFamily="34" charset="0"/>
                <a:ea typeface="Shippori Mincho B1 Extra" pitchFamily="34" charset="-122"/>
                <a:cs typeface="Shippori Mincho B1 Extra" pitchFamily="34" charset="-120"/>
              </a:rPr>
              <a:t>خطوات فتح موقع كيدل</a:t>
            </a:r>
            <a:endParaRPr lang="en-US" sz="3675" dirty="0"/>
          </a:p>
        </p:txBody>
      </p:sp>
      <p:sp>
        <p:nvSpPr>
          <p:cNvPr id="10" name="Text 1"/>
          <p:cNvSpPr/>
          <p:nvPr/>
        </p:nvSpPr>
        <p:spPr>
          <a:xfrm>
            <a:off x="8839200" y="1647825"/>
            <a:ext cx="708273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625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الخطوة الأولى: ابحث عن أيقونة متصفح Edge على سطح</a:t>
            </a:r>
            <a:pPr indent="0" marL="0">
              <a:lnSpc>
                <a:spcPts val="2625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
</a:t>
            </a:r>
            <a:pPr indent="0" marL="0">
              <a:lnSpc>
                <a:spcPts val="2625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المكتب أو اكتب Microsoft Edge في شريط البحث</a:t>
            </a:r>
            <a:endParaRPr lang="en-US" sz="2100" dirty="0"/>
          </a:p>
        </p:txBody>
      </p:sp>
      <p:sp>
        <p:nvSpPr>
          <p:cNvPr id="11" name="Text 2"/>
          <p:cNvSpPr/>
          <p:nvPr/>
        </p:nvSpPr>
        <p:spPr>
          <a:xfrm>
            <a:off x="10848975" y="3257550"/>
            <a:ext cx="4379565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625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الخطوة الثانية: انقر نقرتين متتاليتين</a:t>
            </a:r>
            <a:pPr indent="0" marL="0">
              <a:lnSpc>
                <a:spcPts val="2625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
</a:t>
            </a:r>
            <a:pPr indent="0" marL="0">
              <a:lnSpc>
                <a:spcPts val="2625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على الأيقونة</a:t>
            </a:r>
            <a:endParaRPr lang="en-US" sz="2100" dirty="0"/>
          </a:p>
        </p:txBody>
      </p:sp>
      <p:sp>
        <p:nvSpPr>
          <p:cNvPr id="12" name="Text 3"/>
          <p:cNvSpPr/>
          <p:nvPr/>
        </p:nvSpPr>
        <p:spPr>
          <a:xfrm>
            <a:off x="1543050" y="4981575"/>
            <a:ext cx="603498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r" indent="0" marL="0">
              <a:lnSpc>
                <a:spcPts val="2625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الخطوة الثالثة: اكتب www.kiddle.co في شريط</a:t>
            </a:r>
            <a:pPr algn="r" indent="0" marL="0">
              <a:lnSpc>
                <a:spcPts val="2625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
</a:t>
            </a:r>
            <a:pPr algn="r" indent="0" marL="0">
              <a:lnSpc>
                <a:spcPts val="2625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العنوان واضغط Enter</a:t>
            </a:r>
            <a:endParaRPr lang="en-US" sz="2100" dirty="0"/>
          </a:p>
        </p:txBody>
      </p:sp>
      <p:sp>
        <p:nvSpPr>
          <p:cNvPr id="13" name="Text 4"/>
          <p:cNvSpPr/>
          <p:nvPr/>
        </p:nvSpPr>
        <p:spPr>
          <a:xfrm>
            <a:off x="3255273" y="6115050"/>
            <a:ext cx="6085225" cy="237976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1874"/>
              </a:lnSpc>
              <a:buNone/>
            </a:pPr>
            <a:r>
              <a:rPr lang="en-US" sz="1575" dirty="0">
                <a:solidFill>
                  <a:srgbClr val="0031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تأكد من الكتابة الصحيحة والنطاق في الأماكن الصحيحة</a:t>
            </a:r>
            <a:endParaRPr lang="en-US" sz="157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picture-search.skywork.ai/aippt/image/sheet/2018763738171351040:4048483f424dee067dbbe1014e2f88ee:1:0/56ecd046-1ce5-42d5-aa2a-33996c986954/2018763738171351040:4048483f424dee067dbbe1014e2f88ee:1:0_page_6_inp_img_lama_ref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2463" y="4539853"/>
            <a:ext cx="5535067" cy="1728192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286" y="2653903"/>
            <a:ext cx="7936855" cy="1549896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2376398" y="533400"/>
            <a:ext cx="8059222" cy="544116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4284"/>
              </a:lnSpc>
              <a:buNone/>
            </a:pPr>
            <a:r>
              <a:rPr lang="en-US" sz="3600" b="1" dirty="0">
                <a:solidFill>
                  <a:srgbClr val="1C3F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استخدام موقع كيدل للبحث</a:t>
            </a:r>
            <a:endParaRPr lang="en-US" sz="3600" dirty="0"/>
          </a:p>
        </p:txBody>
      </p:sp>
      <p:sp>
        <p:nvSpPr>
          <p:cNvPr id="6" name="Text 1"/>
          <p:cNvSpPr/>
          <p:nvPr/>
        </p:nvSpPr>
        <p:spPr>
          <a:xfrm>
            <a:off x="1323975" y="1562100"/>
            <a:ext cx="5259586" cy="847427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3336"/>
              </a:lnSpc>
              <a:buNone/>
            </a:pPr>
            <a:r>
              <a:rPr lang="en-US" sz="2400" dirty="0">
                <a:solidFill>
                  <a:srgbClr val="3838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ا. اكتب كلمة البحث في شريط البحث</a:t>
            </a:r>
            <a:pPr algn="ctr" indent="0" marL="0">
              <a:lnSpc>
                <a:spcPts val="3336"/>
              </a:lnSpc>
              <a:buNone/>
            </a:pPr>
            <a:r>
              <a:rPr lang="en-US" sz="2400" dirty="0">
                <a:solidFill>
                  <a:srgbClr val="3838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
</a:t>
            </a:r>
            <a:pPr algn="ctr" indent="0" marL="0">
              <a:lnSpc>
                <a:spcPts val="3336"/>
              </a:lnSpc>
              <a:buNone/>
            </a:pPr>
            <a:r>
              <a:rPr lang="en-US" sz="2400" dirty="0">
                <a:solidFill>
                  <a:srgbClr val="3838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(Enter) ب. اضغط على زر الإدخال</a:t>
            </a:r>
            <a:endParaRPr lang="en-US" sz="2400" dirty="0"/>
          </a:p>
        </p:txBody>
      </p:sp>
      <p:sp>
        <p:nvSpPr>
          <p:cNvPr id="7" name="Text 2"/>
          <p:cNvSpPr/>
          <p:nvPr/>
        </p:nvSpPr>
        <p:spPr>
          <a:xfrm>
            <a:off x="4140622" y="6438900"/>
            <a:ext cx="4262140" cy="270272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2129"/>
              </a:lnSpc>
              <a:buNone/>
            </a:pPr>
            <a:r>
              <a:rPr lang="en-US" sz="1650" dirty="0">
                <a:solidFill>
                  <a:srgbClr val="78787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مثال: البحث عن كلمة Dromedary</a:t>
            </a:r>
            <a:endParaRPr lang="en-US" sz="1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picture-search.skywork.ai/aippt/image/sheet/2018763738171351040:4048483f424dee067dbbe1014e2f88ee:1:0/df323a4a-4e21-4ae0-abcc-d83f291f85cf/2018763738171351040:4048483f424dee067dbbe1014e2f88ee:1:0_page_7_inp_img_lama_ref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21467" y="5822305"/>
            <a:ext cx="926455" cy="781794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99663" y="6185892"/>
            <a:ext cx="451098" cy="541734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65655" y="6226969"/>
            <a:ext cx="524173" cy="493663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38486" y="6322963"/>
            <a:ext cx="548580" cy="3429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06996" y="6151513"/>
            <a:ext cx="475357" cy="624036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7169" y="5705773"/>
            <a:ext cx="926455" cy="809179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21553" y="3758059"/>
            <a:ext cx="499765" cy="651421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52800" y="4512469"/>
            <a:ext cx="1401961" cy="1193155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109192" y="4567386"/>
            <a:ext cx="1158180" cy="589657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999357" y="1625203"/>
            <a:ext cx="2011561" cy="78864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41263" y="1392138"/>
            <a:ext cx="426690" cy="569119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777686" y="281136"/>
            <a:ext cx="889992" cy="795486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033992" y="150763"/>
            <a:ext cx="499765" cy="486817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04800" y="322213"/>
            <a:ext cx="987475" cy="864096"/>
          </a:xfrm>
          <a:prstGeom prst="rect">
            <a:avLst/>
          </a:prstGeom>
        </p:spPr>
      </p:pic>
      <p:sp>
        <p:nvSpPr>
          <p:cNvPr id="17" name="Text 0"/>
          <p:cNvSpPr/>
          <p:nvPr/>
        </p:nvSpPr>
        <p:spPr>
          <a:xfrm>
            <a:off x="3574360" y="638175"/>
            <a:ext cx="5456575" cy="476101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3749"/>
              </a:lnSpc>
              <a:buNone/>
            </a:pPr>
            <a:r>
              <a:rPr lang="en-US" sz="3150" b="1" dirty="0">
                <a:solidFill>
                  <a:srgbClr val="16316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نتائج البحث والروابط</a:t>
            </a:r>
            <a:endParaRPr lang="en-US" sz="3150" dirty="0"/>
          </a:p>
        </p:txBody>
      </p:sp>
      <p:sp>
        <p:nvSpPr>
          <p:cNvPr id="18" name="Text 1"/>
          <p:cNvSpPr/>
          <p:nvPr/>
        </p:nvSpPr>
        <p:spPr>
          <a:xfrm>
            <a:off x="1200150" y="2524125"/>
            <a:ext cx="4379565" cy="1325761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2610"/>
              </a:lnSpc>
              <a:buNone/>
            </a:pPr>
            <a:r>
              <a:rPr lang="en-US" sz="2175" dirty="0">
                <a:solidFill>
                  <a:srgbClr val="49494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عندما نبحث في الإنترنت، تظهر</a:t>
            </a:r>
            <a:pPr algn="ctr" indent="0" marL="0">
              <a:lnSpc>
                <a:spcPts val="2610"/>
              </a:lnSpc>
              <a:buNone/>
            </a:pPr>
            <a:r>
              <a:rPr lang="en-US" sz="2175" dirty="0">
                <a:solidFill>
                  <a:srgbClr val="49494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
</a:t>
            </a:r>
            <a:pPr algn="ctr" indent="0" marL="0">
              <a:lnSpc>
                <a:spcPts val="2610"/>
              </a:lnSpc>
              <a:buNone/>
            </a:pPr>
            <a:r>
              <a:rPr lang="en-US" sz="2175" dirty="0">
                <a:solidFill>
                  <a:srgbClr val="49494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النتائج في شكل مربعات. النصوص</a:t>
            </a:r>
            <a:pPr algn="ctr" indent="0" marL="0">
              <a:lnSpc>
                <a:spcPts val="2610"/>
              </a:lnSpc>
              <a:buNone/>
            </a:pPr>
            <a:r>
              <a:rPr lang="en-US" sz="2175" dirty="0">
                <a:solidFill>
                  <a:srgbClr val="49494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
</a:t>
            </a:r>
            <a:pPr algn="ctr" indent="0" marL="0">
              <a:lnSpc>
                <a:spcPts val="2610"/>
              </a:lnSpc>
              <a:buNone/>
            </a:pPr>
            <a:r>
              <a:rPr lang="en-US" sz="2175" dirty="0">
                <a:solidFill>
                  <a:srgbClr val="49494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الزرقاء تسمى "روابط" وعند النقر</a:t>
            </a:r>
            <a:pPr algn="ctr" indent="0" marL="0">
              <a:lnSpc>
                <a:spcPts val="2610"/>
              </a:lnSpc>
              <a:buNone/>
            </a:pPr>
            <a:r>
              <a:rPr lang="en-US" sz="2175" dirty="0">
                <a:solidFill>
                  <a:srgbClr val="49494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
</a:t>
            </a:r>
            <a:pPr algn="ctr" indent="0" marL="0">
              <a:lnSpc>
                <a:spcPts val="2610"/>
              </a:lnSpc>
              <a:buNone/>
            </a:pPr>
            <a:r>
              <a:rPr lang="en-US" sz="2175" dirty="0">
                <a:solidFill>
                  <a:srgbClr val="49494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عليها تأخذنا إلى صفحات جديدة.</a:t>
            </a:r>
            <a:endParaRPr lang="en-US" sz="2175" dirty="0"/>
          </a:p>
        </p:txBody>
      </p:sp>
      <p:sp>
        <p:nvSpPr>
          <p:cNvPr id="19" name="Text 2"/>
          <p:cNvSpPr/>
          <p:nvPr/>
        </p:nvSpPr>
        <p:spPr>
          <a:xfrm>
            <a:off x="1733267" y="5334000"/>
            <a:ext cx="917793" cy="260747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2053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الرابط</a:t>
            </a:r>
            <a:endParaRPr lang="en-US" sz="1725" dirty="0"/>
          </a:p>
        </p:txBody>
      </p:sp>
      <p:sp>
        <p:nvSpPr>
          <p:cNvPr id="20" name="Text 3"/>
          <p:cNvSpPr/>
          <p:nvPr/>
        </p:nvSpPr>
        <p:spPr>
          <a:xfrm>
            <a:off x="9763125" y="1943100"/>
            <a:ext cx="3872448" cy="25152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981"/>
              </a:lnSpc>
              <a:buNone/>
            </a:pPr>
            <a:r>
              <a:rPr lang="en-US" sz="1425" b="1" dirty="0">
                <a:solidFill>
                  <a:srgbClr val="0071E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قصة الأرنب والسلحفاة للأطفال</a:t>
            </a:r>
            <a:endParaRPr lang="en-US" sz="1425" dirty="0"/>
          </a:p>
        </p:txBody>
      </p:sp>
      <p:sp>
        <p:nvSpPr>
          <p:cNvPr id="21" name="Text 4"/>
          <p:cNvSpPr/>
          <p:nvPr/>
        </p:nvSpPr>
        <p:spPr>
          <a:xfrm>
            <a:off x="9782175" y="3152775"/>
            <a:ext cx="4098727" cy="264765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085"/>
              </a:lnSpc>
              <a:buNone/>
            </a:pPr>
            <a:r>
              <a:rPr lang="en-US" sz="1500" b="1" dirty="0">
                <a:solidFill>
                  <a:srgbClr val="0071E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كيف تنمو النباتات؟ فيديو تعليمي</a:t>
            </a:r>
            <a:endParaRPr lang="en-US" sz="1500" dirty="0"/>
          </a:p>
        </p:txBody>
      </p:sp>
      <p:sp>
        <p:nvSpPr>
          <p:cNvPr id="22" name="Text 5"/>
          <p:cNvSpPr/>
          <p:nvPr/>
        </p:nvSpPr>
        <p:spPr>
          <a:xfrm>
            <a:off x="9820275" y="4305300"/>
            <a:ext cx="4186773" cy="264765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085"/>
              </a:lnSpc>
              <a:buNone/>
            </a:pPr>
            <a:r>
              <a:rPr lang="en-US" sz="1500" b="1" dirty="0">
                <a:solidFill>
                  <a:srgbClr val="0071E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ألعاب تعليمية مسلية للصف الأول</a:t>
            </a:r>
            <a:endParaRPr lang="en-US" sz="1500" dirty="0"/>
          </a:p>
        </p:txBody>
      </p:sp>
      <p:sp>
        <p:nvSpPr>
          <p:cNvPr id="23" name="Text 6"/>
          <p:cNvSpPr/>
          <p:nvPr/>
        </p:nvSpPr>
        <p:spPr>
          <a:xfrm>
            <a:off x="1880905" y="5886450"/>
            <a:ext cx="2803743" cy="150912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1188"/>
              </a:lnSpc>
              <a:buNone/>
            </a:pPr>
            <a:r>
              <a:rPr lang="en-US" sz="1200" b="1" dirty="0">
                <a:solidFill>
                  <a:srgbClr val="16316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الرابط يأخذك لصفحة جديدة</a:t>
            </a:r>
            <a:endParaRPr lang="en-US" sz="1200" dirty="0"/>
          </a:p>
        </p:txBody>
      </p:sp>
      <p:sp>
        <p:nvSpPr>
          <p:cNvPr id="24" name="Text 7"/>
          <p:cNvSpPr/>
          <p:nvPr/>
        </p:nvSpPr>
        <p:spPr>
          <a:xfrm>
            <a:off x="10410825" y="2314575"/>
            <a:ext cx="4473773" cy="430709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696"/>
              </a:lnSpc>
              <a:buNone/>
            </a:pPr>
            <a:r>
              <a:rPr lang="en-US" sz="1425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اقرأ قصة المتعة عن الأرنب السريع والسلحفاة البطيئة.</a:t>
            </a:r>
            <a:pPr indent="0" marL="0">
              <a:lnSpc>
                <a:spcPts val="1696"/>
              </a:lnSpc>
              <a:buNone/>
            </a:pPr>
            <a:r>
              <a:rPr lang="en-US" sz="1425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
</a:t>
            </a:r>
            <a:pPr indent="0" marL="0">
              <a:lnSpc>
                <a:spcPts val="1696"/>
              </a:lnSpc>
              <a:buNone/>
            </a:pPr>
            <a:r>
              <a:rPr lang="en-US" sz="1425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تعلم درسًا مهمًا عن الصبر والثبات.</a:t>
            </a:r>
            <a:endParaRPr lang="en-US" sz="1425" dirty="0"/>
          </a:p>
        </p:txBody>
      </p:sp>
      <p:sp>
        <p:nvSpPr>
          <p:cNvPr id="25" name="Text 8"/>
          <p:cNvSpPr/>
          <p:nvPr/>
        </p:nvSpPr>
        <p:spPr>
          <a:xfrm>
            <a:off x="10267950" y="3524250"/>
            <a:ext cx="4536728" cy="385465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17"/>
              </a:lnSpc>
              <a:buNone/>
            </a:pPr>
            <a:r>
              <a:rPr lang="en-US" sz="1275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شاهد فيديو قصير يوضح مراحل نمو النباتات من البذرة حتى</a:t>
            </a:r>
            <a:pPr indent="0" marL="0">
              <a:lnSpc>
                <a:spcPts val="1517"/>
              </a:lnSpc>
              <a:buNone/>
            </a:pPr>
            <a:r>
              <a:rPr lang="en-US" sz="1275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
</a:t>
            </a:r>
            <a:pPr indent="0" marL="0">
              <a:lnSpc>
                <a:spcPts val="1517"/>
              </a:lnSpc>
              <a:buNone/>
            </a:pPr>
            <a:r>
              <a:rPr lang="en-US" sz="1275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تصبح زهرة. معلومات بسيطة ومشوقة.</a:t>
            </a:r>
            <a:endParaRPr lang="en-US" sz="1275" dirty="0"/>
          </a:p>
        </p:txBody>
      </p:sp>
      <p:sp>
        <p:nvSpPr>
          <p:cNvPr id="26" name="Text 9"/>
          <p:cNvSpPr/>
          <p:nvPr/>
        </p:nvSpPr>
        <p:spPr>
          <a:xfrm>
            <a:off x="10391775" y="4676775"/>
            <a:ext cx="4735711" cy="408087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607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مجموعة من الألعاب التفاعلية تعلم الحروف والأرقام بطريقة</a:t>
            </a:r>
            <a:pPr indent="0" marL="0">
              <a:lnSpc>
                <a:spcPts val="1607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
</a:t>
            </a:r>
            <a:pPr indent="0" marL="0">
              <a:lnSpc>
                <a:spcPts val="1607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ممتعة. العب وتعلم في نفس الوقت.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picture-search.skywork.ai/aippt/image/sheet/2018763738171351040:4048483f424dee067dbbe1014e2f88ee:1:0/6317e64f-f575-4aa2-9ca1-9fd5883dfe98/2018763738171351040:4048483f424dee067dbbe1014e2f88ee:1:0_page_8_inp_img_lama_ref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73294" y="6343650"/>
            <a:ext cx="597396" cy="51435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0769" y="6364188"/>
            <a:ext cx="475357" cy="459432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23898" y="5753844"/>
            <a:ext cx="633859" cy="582811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686" y="4903440"/>
            <a:ext cx="487561" cy="500509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582400" y="4759375"/>
            <a:ext cx="426690" cy="452586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521380" y="1302990"/>
            <a:ext cx="499765" cy="500509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56871" y="1625203"/>
            <a:ext cx="5023098" cy="4100959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57192" y="5287417"/>
            <a:ext cx="560784" cy="486817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93655" y="4560540"/>
            <a:ext cx="487561" cy="473125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218063" y="3833515"/>
            <a:ext cx="438894" cy="452586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218063" y="3106638"/>
            <a:ext cx="463153" cy="445740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181600" y="2379613"/>
            <a:ext cx="524173" cy="432048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218063" y="1625203"/>
            <a:ext cx="438894" cy="459432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9686" y="1961257"/>
            <a:ext cx="511969" cy="377130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34094" y="260598"/>
            <a:ext cx="694879" cy="754261"/>
          </a:xfrm>
          <a:prstGeom prst="rect">
            <a:avLst/>
          </a:prstGeom>
        </p:spPr>
      </p:pic>
      <p:sp>
        <p:nvSpPr>
          <p:cNvPr id="18" name="Text 0"/>
          <p:cNvSpPr/>
          <p:nvPr/>
        </p:nvSpPr>
        <p:spPr>
          <a:xfrm>
            <a:off x="2810545" y="647700"/>
            <a:ext cx="7078563" cy="48012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3780"/>
              </a:lnSpc>
              <a:buNone/>
            </a:pPr>
            <a:r>
              <a:rPr lang="en-US" sz="3600" b="1" spc="60" kern="0" dirty="0">
                <a:solidFill>
                  <a:srgbClr val="1A47B4"/>
                </a:solidFill>
                <a:latin typeface="Arial-Black" pitchFamily="34" charset="0"/>
                <a:ea typeface="Arial-Black" pitchFamily="34" charset="-122"/>
                <a:cs typeface="Arial-Black" pitchFamily="34" charset="-120"/>
              </a:rPr>
              <a:t>معلومات الجمل العربي</a:t>
            </a:r>
            <a:endParaRPr lang="en-US" sz="3600" dirty="0"/>
          </a:p>
        </p:txBody>
      </p:sp>
      <p:sp>
        <p:nvSpPr>
          <p:cNvPr id="19" name="Text 1"/>
          <p:cNvSpPr/>
          <p:nvPr/>
        </p:nvSpPr>
        <p:spPr>
          <a:xfrm>
            <a:off x="830967" y="1647825"/>
            <a:ext cx="5230297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575" b="1" dirty="0">
                <a:solidFill>
                  <a:srgbClr val="333333"/>
                </a:solidFill>
                <a:latin typeface="Trebuchet-BoldItalic" pitchFamily="34" charset="0"/>
                <a:ea typeface="Trebuchet-BoldItalic" pitchFamily="34" charset="-122"/>
                <a:cs typeface="Trebuchet-BoldItalic" pitchFamily="34" charset="-120"/>
              </a:rPr>
              <a:t>Camelus dromedarius: الاسم العلمي</a:t>
            </a:r>
            <a:endParaRPr lang="en-US" sz="1575" dirty="0"/>
          </a:p>
        </p:txBody>
      </p:sp>
      <p:sp>
        <p:nvSpPr>
          <p:cNvPr id="20" name="Text 2"/>
          <p:cNvSpPr/>
          <p:nvPr/>
        </p:nvSpPr>
        <p:spPr>
          <a:xfrm>
            <a:off x="2257142" y="2371725"/>
            <a:ext cx="3432393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2760"/>
              </a:lnSpc>
              <a:buNone/>
            </a:pPr>
            <a:r>
              <a:rPr lang="en-US" sz="1725" b="1" dirty="0">
                <a:solidFill>
                  <a:srgbClr val="333333"/>
                </a:solidFill>
                <a:latin typeface="Trebuchet-BoldItalic" pitchFamily="34" charset="0"/>
                <a:ea typeface="Trebuchet-BoldItalic" pitchFamily="34" charset="-122"/>
                <a:cs typeface="Trebuchet-BoldItalic" pitchFamily="34" charset="-120"/>
              </a:rPr>
              <a:t>عدد الأسنان: سنام واحد</a:t>
            </a:r>
            <a:endParaRPr lang="en-US" sz="1725" dirty="0"/>
          </a:p>
        </p:txBody>
      </p:sp>
      <p:sp>
        <p:nvSpPr>
          <p:cNvPr id="21" name="Text 3"/>
          <p:cNvSpPr/>
          <p:nvPr/>
        </p:nvSpPr>
        <p:spPr>
          <a:xfrm>
            <a:off x="3134678" y="3105150"/>
            <a:ext cx="2388870" cy="33531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2640"/>
              </a:lnSpc>
              <a:buNone/>
            </a:pPr>
            <a:r>
              <a:rPr lang="en-US" sz="1650" b="1" dirty="0">
                <a:solidFill>
                  <a:srgbClr val="333333"/>
                </a:solidFill>
                <a:latin typeface="Trebuchet-BoldItalic" pitchFamily="34" charset="0"/>
                <a:ea typeface="Trebuchet-BoldItalic" pitchFamily="34" charset="-122"/>
                <a:cs typeface="Trebuchet-BoldItalic" pitchFamily="34" charset="-120"/>
              </a:rPr>
              <a:t>العمر: ٤٠-٥٠ سنة</a:t>
            </a:r>
            <a:endParaRPr lang="en-US" sz="1650" dirty="0"/>
          </a:p>
        </p:txBody>
      </p:sp>
      <p:sp>
        <p:nvSpPr>
          <p:cNvPr id="22" name="Text 4"/>
          <p:cNvSpPr/>
          <p:nvPr/>
        </p:nvSpPr>
        <p:spPr>
          <a:xfrm>
            <a:off x="2458030" y="3838575"/>
            <a:ext cx="319343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333333"/>
                </a:solidFill>
                <a:latin typeface="Trebuchet-BoldItalic" pitchFamily="34" charset="0"/>
                <a:ea typeface="Trebuchet-BoldItalic" pitchFamily="34" charset="-122"/>
                <a:cs typeface="Trebuchet-BoldItalic" pitchFamily="34" charset="-120"/>
              </a:rPr>
              <a:t>الوزن: ٣٠٠-٦٠٠ كيلوجرام</a:t>
            </a:r>
            <a:endParaRPr lang="en-US" sz="1500" dirty="0"/>
          </a:p>
        </p:txBody>
      </p:sp>
      <p:sp>
        <p:nvSpPr>
          <p:cNvPr id="23" name="Text 5"/>
          <p:cNvSpPr/>
          <p:nvPr/>
        </p:nvSpPr>
        <p:spPr>
          <a:xfrm>
            <a:off x="3134678" y="4572000"/>
            <a:ext cx="2388870" cy="28962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2280"/>
              </a:lnSpc>
              <a:buNone/>
            </a:pPr>
            <a:r>
              <a:rPr lang="en-US" sz="1425" b="1" dirty="0">
                <a:solidFill>
                  <a:srgbClr val="333333"/>
                </a:solidFill>
                <a:latin typeface="Trebuchet-BoldItalic" pitchFamily="34" charset="0"/>
                <a:ea typeface="Trebuchet-BoldItalic" pitchFamily="34" charset="-122"/>
                <a:cs typeface="Trebuchet-BoldItalic" pitchFamily="34" charset="-120"/>
              </a:rPr>
              <a:t>الطول: ٢.١-٢.٧ متر</a:t>
            </a:r>
            <a:endParaRPr lang="en-US" sz="1425" dirty="0"/>
          </a:p>
        </p:txBody>
      </p:sp>
      <p:sp>
        <p:nvSpPr>
          <p:cNvPr id="24" name="Text 6"/>
          <p:cNvSpPr/>
          <p:nvPr/>
        </p:nvSpPr>
        <p:spPr>
          <a:xfrm>
            <a:off x="1855381" y="5295900"/>
            <a:ext cx="391013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575" b="1" dirty="0">
                <a:solidFill>
                  <a:srgbClr val="333333"/>
                </a:solidFill>
                <a:latin typeface="Trebuchet-BoldItalic" pitchFamily="34" charset="0"/>
                <a:ea typeface="Trebuchet-BoldItalic" pitchFamily="34" charset="-122"/>
                <a:cs typeface="Trebuchet-BoldItalic" pitchFamily="34" charset="-120"/>
              </a:rPr>
              <a:t>الموطن: شبه الجزيرة العربية</a:t>
            </a:r>
            <a:endParaRPr lang="en-US" sz="1575" dirty="0"/>
          </a:p>
        </p:txBody>
      </p:sp>
      <p:sp>
        <p:nvSpPr>
          <p:cNvPr id="25" name="Text 7"/>
          <p:cNvSpPr/>
          <p:nvPr/>
        </p:nvSpPr>
        <p:spPr>
          <a:xfrm>
            <a:off x="4145860" y="6448425"/>
            <a:ext cx="4199275" cy="226665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1785"/>
              </a:lnSpc>
              <a:buNone/>
            </a:pPr>
            <a:r>
              <a:rPr lang="en-US" sz="1275" i="1" dirty="0">
                <a:solidFill>
                  <a:srgbClr val="808080"/>
                </a:solidFill>
                <a:latin typeface="TrebuchetMS-Italic" pitchFamily="34" charset="0"/>
                <a:ea typeface="TrebuchetMS-Italic" pitchFamily="34" charset="-122"/>
                <a:cs typeface="TrebuchetMS-Italic" pitchFamily="34" charset="-120"/>
              </a:rPr>
              <a:t>معلومات مكتشفة من خلال البحث في الإنترنت</a:t>
            </a:r>
            <a:endParaRPr lang="en-US" sz="127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picture-search.skywork.ai/aippt/image/sheet/2018763738171351040:4048483f424dee067dbbe1014e2f88ee:1:0/5bce5088-3a93-4bca-ac88-f0f55bae8bfa/2018763738171351040:4048483f424dee067dbbe1014e2f88ee:1:0_page_9_inp_img_lama_ref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4690" y="5164038"/>
            <a:ext cx="816769" cy="733723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65396" y="3106638"/>
            <a:ext cx="633859" cy="740569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04377" y="1501825"/>
            <a:ext cx="707082" cy="624036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76157" y="3792438"/>
            <a:ext cx="3901380" cy="2194471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10165" y="1748730"/>
            <a:ext cx="3267373" cy="2009329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0392" y="5129659"/>
            <a:ext cx="902196" cy="85725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0392" y="3072259"/>
            <a:ext cx="572988" cy="713184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0784" y="2050405"/>
            <a:ext cx="475357" cy="438894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60698" y="1152079"/>
            <a:ext cx="658267" cy="575965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14165" y="212527"/>
            <a:ext cx="548580" cy="500509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80392" y="377130"/>
            <a:ext cx="658267" cy="761107"/>
          </a:xfrm>
          <a:prstGeom prst="rect">
            <a:avLst/>
          </a:prstGeom>
        </p:spPr>
      </p:pic>
      <p:sp>
        <p:nvSpPr>
          <p:cNvPr id="14" name="Text 0"/>
          <p:cNvSpPr/>
          <p:nvPr/>
        </p:nvSpPr>
        <p:spPr>
          <a:xfrm>
            <a:off x="2064737" y="638175"/>
            <a:ext cx="8713053" cy="646063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5087"/>
              </a:lnSpc>
              <a:buNone/>
            </a:pPr>
            <a:r>
              <a:rPr lang="en-US" sz="4275" b="1" dirty="0">
                <a:solidFill>
                  <a:srgbClr val="00256F"/>
                </a:solidFill>
                <a:latin typeface="Shippori Mincho B1 Extra" pitchFamily="34" charset="0"/>
                <a:ea typeface="Shippori Mincho B1 Extra" pitchFamily="34" charset="-122"/>
                <a:cs typeface="Shippori Mincho B1 Extra" pitchFamily="34" charset="-120"/>
              </a:rPr>
              <a:t>الاستخدام الآمن للإنترنت</a:t>
            </a:r>
            <a:endParaRPr lang="en-US" sz="4275" dirty="0"/>
          </a:p>
        </p:txBody>
      </p:sp>
      <p:sp>
        <p:nvSpPr>
          <p:cNvPr id="15" name="Text 1"/>
          <p:cNvSpPr/>
          <p:nvPr/>
        </p:nvSpPr>
        <p:spPr>
          <a:xfrm>
            <a:off x="1782723" y="1838325"/>
            <a:ext cx="5305663" cy="443359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r" indent="0" marL="0">
              <a:lnSpc>
                <a:spcPts val="3491"/>
              </a:lnSpc>
              <a:buNone/>
            </a:pPr>
            <a:r>
              <a:rPr lang="en-US" sz="2625" dirty="0">
                <a:solidFill>
                  <a:srgbClr val="3B4F5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قواعد السلامة على الإنترنت:</a:t>
            </a:r>
            <a:endParaRPr lang="en-US" sz="2625" dirty="0"/>
          </a:p>
        </p:txBody>
      </p:sp>
      <p:sp>
        <p:nvSpPr>
          <p:cNvPr id="16" name="Text 2"/>
          <p:cNvSpPr/>
          <p:nvPr/>
        </p:nvSpPr>
        <p:spPr>
          <a:xfrm>
            <a:off x="1990725" y="2476500"/>
            <a:ext cx="5008215" cy="960239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r" indent="0" marL="0">
              <a:lnSpc>
                <a:spcPts val="3780"/>
              </a:lnSpc>
              <a:buNone/>
            </a:pPr>
            <a:r>
              <a:rPr lang="en-US" sz="2625" dirty="0">
                <a:solidFill>
                  <a:srgbClr val="3B4F5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استخدم الإنترنت مع والديك أو•</a:t>
            </a:r>
            <a:pPr algn="r" indent="0" marL="0">
              <a:lnSpc>
                <a:spcPts val="3780"/>
              </a:lnSpc>
              <a:buNone/>
            </a:pPr>
            <a:r>
              <a:rPr lang="en-US" sz="2625" dirty="0">
                <a:solidFill>
                  <a:srgbClr val="3B4F5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
</a:t>
            </a:r>
            <a:pPr algn="r" indent="0" marL="0">
              <a:lnSpc>
                <a:spcPts val="3780"/>
              </a:lnSpc>
              <a:buNone/>
            </a:pPr>
            <a:r>
              <a:rPr lang="en-US" sz="2625" dirty="0">
                <a:solidFill>
                  <a:srgbClr val="3B4F5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معلمك دائمًا•</a:t>
            </a:r>
            <a:endParaRPr lang="en-US" sz="2625" dirty="0"/>
          </a:p>
        </p:txBody>
      </p:sp>
      <p:sp>
        <p:nvSpPr>
          <p:cNvPr id="17" name="Text 3"/>
          <p:cNvSpPr/>
          <p:nvPr/>
        </p:nvSpPr>
        <p:spPr>
          <a:xfrm>
            <a:off x="647908" y="3638550"/>
            <a:ext cx="6399550" cy="443359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r" indent="0" marL="0">
              <a:lnSpc>
                <a:spcPts val="3491"/>
              </a:lnSpc>
              <a:buNone/>
            </a:pPr>
            <a:r>
              <a:rPr lang="en-US" sz="2625" dirty="0">
                <a:solidFill>
                  <a:srgbClr val="3B4F5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لا تشارك معلوماتك الشخصية أبدًا•</a:t>
            </a:r>
            <a:endParaRPr lang="en-US" sz="2625" dirty="0"/>
          </a:p>
        </p:txBody>
      </p:sp>
      <p:sp>
        <p:nvSpPr>
          <p:cNvPr id="18" name="Text 4"/>
          <p:cNvSpPr/>
          <p:nvPr/>
        </p:nvSpPr>
        <p:spPr>
          <a:xfrm>
            <a:off x="847546" y="4333875"/>
            <a:ext cx="6173272" cy="443359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r" indent="0" marL="0">
              <a:lnSpc>
                <a:spcPts val="3491"/>
              </a:lnSpc>
              <a:buNone/>
            </a:pPr>
            <a:r>
              <a:rPr lang="en-US" sz="2625" dirty="0">
                <a:solidFill>
                  <a:srgbClr val="3B4F5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لا تضغط على الروابط غير الآمنة•</a:t>
            </a:r>
            <a:endParaRPr lang="en-US" sz="2625" dirty="0"/>
          </a:p>
        </p:txBody>
      </p:sp>
      <p:sp>
        <p:nvSpPr>
          <p:cNvPr id="19" name="Text 5"/>
          <p:cNvSpPr/>
          <p:nvPr/>
        </p:nvSpPr>
        <p:spPr>
          <a:xfrm>
            <a:off x="1391602" y="5019675"/>
            <a:ext cx="5594985" cy="443359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r" indent="0" marL="0">
              <a:lnSpc>
                <a:spcPts val="3491"/>
              </a:lnSpc>
              <a:buNone/>
            </a:pPr>
            <a:r>
              <a:rPr lang="en-US" sz="2625" dirty="0">
                <a:solidFill>
                  <a:srgbClr val="3B4F5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لا تستخدم الإنترنت بدون إذن•</a:t>
            </a:r>
            <a:endParaRPr lang="en-US" sz="262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picture-search.skywork.ai/aippt/image/sheet/2018763738171351040:4048483f424dee067dbbe1014e2f88ee:1:0/977b1a19-fc67-4126-91c2-02547c7f7c9d/2018763738171351040:4048483f424dee067dbbe1014e2f88ee:1:0_page_10_inp_img_lama_ref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932140"/>
            <a:ext cx="12192000" cy="925711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75169" y="4306788"/>
            <a:ext cx="658267" cy="713184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4675" y="4375398"/>
            <a:ext cx="938659" cy="411361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99577" y="3168253"/>
            <a:ext cx="585192" cy="61719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66879" y="3127177"/>
            <a:ext cx="707082" cy="713184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38557" y="1995636"/>
            <a:ext cx="707082" cy="624036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66879" y="1954411"/>
            <a:ext cx="707082" cy="713184"/>
          </a:xfrm>
          <a:prstGeom prst="rect">
            <a:avLst/>
          </a:prstGeom>
        </p:spPr>
      </p:pic>
      <p:sp>
        <p:nvSpPr>
          <p:cNvPr id="10" name="Text 0"/>
          <p:cNvSpPr/>
          <p:nvPr/>
        </p:nvSpPr>
        <p:spPr>
          <a:xfrm>
            <a:off x="2502128" y="666750"/>
            <a:ext cx="7807762" cy="58296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4590"/>
              </a:lnSpc>
              <a:buNone/>
            </a:pPr>
            <a:r>
              <a:rPr lang="en-US" sz="3825" b="1" dirty="0">
                <a:solidFill>
                  <a:srgbClr val="16316A"/>
                </a:solidFill>
                <a:latin typeface="Red Hat Display Variable" pitchFamily="34" charset="0"/>
                <a:ea typeface="Red Hat Display Variable" pitchFamily="34" charset="-122"/>
                <a:cs typeface="Red Hat Display Variable" pitchFamily="34" charset="-120"/>
              </a:rPr>
              <a:t>المصلحات التقنية المهمة</a:t>
            </a:r>
            <a:endParaRPr lang="en-US" sz="3825" dirty="0"/>
          </a:p>
        </p:txBody>
      </p:sp>
      <p:sp>
        <p:nvSpPr>
          <p:cNvPr id="11" name="Text 1"/>
          <p:cNvSpPr/>
          <p:nvPr/>
        </p:nvSpPr>
        <p:spPr>
          <a:xfrm>
            <a:off x="9237940" y="285750"/>
            <a:ext cx="2979658" cy="67434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r" indent="0" marL="0">
              <a:lnSpc>
                <a:spcPts val="5310"/>
              </a:lnSpc>
              <a:buNone/>
            </a:pPr>
            <a:r>
              <a:rPr lang="en-US" sz="4425" b="1" dirty="0">
                <a:solidFill>
                  <a:srgbClr val="16316A"/>
                </a:solidFill>
                <a:latin typeface="Red Hat Display Variable" pitchFamily="34" charset="0"/>
                <a:ea typeface="Red Hat Display Variable" pitchFamily="34" charset="-122"/>
                <a:cs typeface="Red Hat Display Variable" pitchFamily="34" charset="-120"/>
              </a:rPr>
              <a:t>ICT360</a:t>
            </a:r>
            <a:endParaRPr lang="en-US" sz="4425" dirty="0"/>
          </a:p>
        </p:txBody>
      </p:sp>
      <p:sp>
        <p:nvSpPr>
          <p:cNvPr id="12" name="Text 2"/>
          <p:cNvSpPr/>
          <p:nvPr/>
        </p:nvSpPr>
        <p:spPr>
          <a:xfrm>
            <a:off x="4391025" y="1943100"/>
            <a:ext cx="5092005" cy="544711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45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الإنترنت: وسيلة تساعد أجهزة الحاسوب على</a:t>
            </a:r>
            <a:pPr indent="0" marL="0">
              <a:lnSpc>
                <a:spcPts val="2145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
</a:t>
            </a:r>
            <a:pPr indent="0" marL="0">
              <a:lnSpc>
                <a:spcPts val="2145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مشاركة المعلومات مع بعضها البعض</a:t>
            </a:r>
            <a:endParaRPr lang="en-US" sz="1650" dirty="0"/>
          </a:p>
        </p:txBody>
      </p:sp>
      <p:sp>
        <p:nvSpPr>
          <p:cNvPr id="13" name="Text 3"/>
          <p:cNvSpPr/>
          <p:nvPr/>
        </p:nvSpPr>
        <p:spPr>
          <a:xfrm>
            <a:off x="9858375" y="1943100"/>
            <a:ext cx="4578548" cy="544711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45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كلمة البحث: الكلمة التي نريد العثور على</a:t>
            </a:r>
            <a:pPr indent="0" marL="0">
              <a:lnSpc>
                <a:spcPts val="2145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
</a:t>
            </a:r>
            <a:pPr indent="0" marL="0">
              <a:lnSpc>
                <a:spcPts val="2145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معلومات عنها</a:t>
            </a:r>
            <a:endParaRPr lang="en-US" sz="1650" dirty="0"/>
          </a:p>
        </p:txBody>
      </p:sp>
      <p:sp>
        <p:nvSpPr>
          <p:cNvPr id="14" name="Text 4"/>
          <p:cNvSpPr/>
          <p:nvPr/>
        </p:nvSpPr>
        <p:spPr>
          <a:xfrm>
            <a:off x="3876675" y="3067050"/>
            <a:ext cx="4756696" cy="544711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45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البحث: وظيفة تُستخدم للعثور على</a:t>
            </a:r>
            <a:pPr indent="0" marL="0">
              <a:lnSpc>
                <a:spcPts val="2145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
</a:t>
            </a:r>
            <a:pPr indent="0" marL="0">
              <a:lnSpc>
                <a:spcPts val="2145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المعلومات في الحاسوب أو على الإنترنت</a:t>
            </a:r>
            <a:endParaRPr lang="en-US" sz="1650" dirty="0"/>
          </a:p>
        </p:txBody>
      </p:sp>
      <p:sp>
        <p:nvSpPr>
          <p:cNvPr id="15" name="Text 5"/>
          <p:cNvSpPr/>
          <p:nvPr/>
        </p:nvSpPr>
        <p:spPr>
          <a:xfrm>
            <a:off x="9867900" y="3067050"/>
            <a:ext cx="4316611" cy="520005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048"/>
              </a:lnSpc>
              <a:buNone/>
            </a:pPr>
            <a:r>
              <a:rPr lang="en-US" sz="1575" b="1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الرابط: النص الملون باللون الأزرق الذي</a:t>
            </a:r>
            <a:pPr indent="0" marL="0">
              <a:lnSpc>
                <a:spcPts val="2048"/>
              </a:lnSpc>
              <a:buNone/>
            </a:pPr>
            <a:r>
              <a:rPr lang="en-US" sz="1575" b="1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
</a:t>
            </a:r>
            <a:pPr indent="0" marL="0">
              <a:lnSpc>
                <a:spcPts val="2048"/>
              </a:lnSpc>
              <a:buNone/>
            </a:pPr>
            <a:r>
              <a:rPr lang="en-US" sz="1575" b="1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ينقلنا من صفحة إلى أخرى</a:t>
            </a:r>
            <a:endParaRPr lang="en-US" sz="1575" dirty="0"/>
          </a:p>
        </p:txBody>
      </p:sp>
      <p:sp>
        <p:nvSpPr>
          <p:cNvPr id="16" name="Text 6"/>
          <p:cNvSpPr/>
          <p:nvPr/>
        </p:nvSpPr>
        <p:spPr>
          <a:xfrm>
            <a:off x="4371975" y="4305300"/>
            <a:ext cx="4620518" cy="854571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242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شريط البحث: مساحة نصية فارغة حيث</a:t>
            </a:r>
            <a:pPr indent="0" marL="0">
              <a:lnSpc>
                <a:spcPts val="2242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
</a:t>
            </a:r>
            <a:pPr indent="0" marL="0">
              <a:lnSpc>
                <a:spcPts val="2242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يمكننا إدخال كلمة البحث للعثور على</a:t>
            </a:r>
            <a:pPr indent="0" marL="0">
              <a:lnSpc>
                <a:spcPts val="2242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
</a:t>
            </a:r>
            <a:pPr indent="0" marL="0">
              <a:lnSpc>
                <a:spcPts val="2242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المعلومات</a:t>
            </a:r>
            <a:endParaRPr lang="en-US" sz="1725" dirty="0"/>
          </a:p>
        </p:txBody>
      </p:sp>
      <p:sp>
        <p:nvSpPr>
          <p:cNvPr id="17" name="Text 7"/>
          <p:cNvSpPr/>
          <p:nvPr/>
        </p:nvSpPr>
        <p:spPr>
          <a:xfrm>
            <a:off x="9763125" y="4305300"/>
            <a:ext cx="4840486" cy="817066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45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الموقع الإلكتروني: مجموعة من الصفحات</a:t>
            </a:r>
            <a:pPr indent="0" marL="0">
              <a:lnSpc>
                <a:spcPts val="2145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
</a:t>
            </a:r>
            <a:pPr indent="0" marL="0">
              <a:lnSpc>
                <a:spcPts val="2145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التي تحتوي على معلومات حول أشياء</a:t>
            </a:r>
            <a:pPr indent="0" marL="0">
              <a:lnSpc>
                <a:spcPts val="2145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
</a:t>
            </a:r>
            <a:pPr indent="0" marL="0">
              <a:lnSpc>
                <a:spcPts val="2145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مختلفة على الإنترنت</a:t>
            </a:r>
            <a:endParaRPr lang="en-US" sz="1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2026-02-03T19:15:08Z</dcterms:created>
  <dcterms:modified xsi:type="dcterms:W3CDTF">2026-02-03T19:15:08Z</dcterms:modified>
</cp:coreProperties>
</file>