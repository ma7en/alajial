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omments/modernComment_108_E8F9DD70.xml" ContentType="application/vnd.ms-powerpoint.comments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81" r:id="rId3"/>
    <p:sldId id="282" r:id="rId4"/>
    <p:sldId id="258" r:id="rId5"/>
    <p:sldId id="260" r:id="rId6"/>
    <p:sldId id="259" r:id="rId7"/>
    <p:sldId id="313" r:id="rId8"/>
    <p:sldId id="314" r:id="rId9"/>
    <p:sldId id="315" r:id="rId10"/>
    <p:sldId id="316" r:id="rId11"/>
    <p:sldId id="317" r:id="rId12"/>
    <p:sldId id="318" r:id="rId13"/>
    <p:sldId id="319" r:id="rId14"/>
    <p:sldId id="320" r:id="rId15"/>
    <p:sldId id="290" r:id="rId16"/>
    <p:sldId id="321" r:id="rId17"/>
    <p:sldId id="264" r:id="rId18"/>
    <p:sldId id="265" r:id="rId19"/>
    <p:sldId id="283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1DFF314-E5A4-F3D0-E9EB-EA3E92A88F7D}" name="Nasima Yesmin" initials="NY" userId="S::nasima.yesmin@ict360.com::2c34c45d-2782-4730-a502-55f841aeefc4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aurabh Upadhyay" initials="SU" lastIdx="51" clrIdx="0">
    <p:extLst>
      <p:ext uri="{19B8F6BF-5375-455C-9EA6-DF929625EA0E}">
        <p15:presenceInfo xmlns:p15="http://schemas.microsoft.com/office/powerpoint/2012/main" userId="S::saurabh.upadhyay@arkinfo.in::27562daa-f442-4dcb-80c0-eff81fb161a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268B2"/>
    <a:srgbClr val="F47C4C"/>
    <a:srgbClr val="4A8E5A"/>
    <a:srgbClr val="273578"/>
    <a:srgbClr val="A34C9D"/>
    <a:srgbClr val="744C9F"/>
    <a:srgbClr val="23A09C"/>
    <a:srgbClr val="D4EDF1"/>
    <a:srgbClr val="414142"/>
    <a:srgbClr val="504E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2E17850-4995-26C7-3716-E2E9DD7D53B1}" v="5" dt="2024-02-28T06:38:57.26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9" autoAdjust="0"/>
    <p:restoredTop sz="94249" autoAdjust="0"/>
  </p:normalViewPr>
  <p:slideViewPr>
    <p:cSldViewPr snapToGrid="0">
      <p:cViewPr varScale="1">
        <p:scale>
          <a:sx n="61" d="100"/>
          <a:sy n="61" d="100"/>
        </p:scale>
        <p:origin x="68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8/10/relationships/authors" Target="authors.xml"/></Relationships>
</file>

<file path=ppt/comments/modernComment_108_E8F9DD7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5E77A80-6534-4F45-B9A9-68D1BB655F0E}" authorId="{11DFF314-E5A4-F3D0-E9EB-EA3E92A88F7D}" created="2024-02-23T12:21:13.810">
    <pc:sldMkLst xmlns:pc="http://schemas.microsoft.com/office/powerpoint/2013/main/command">
      <pc:docMk/>
      <pc:sldMk cId="3908689264" sldId="264"/>
    </pc:sldMkLst>
    <p188:txBody>
      <a:bodyPr/>
      <a:lstStyle/>
      <a:p>
        <a:r>
          <a:rPr lang="en-IN"/>
          <a:t>Is 'the' required before 'grade list'? [@gayatri kulkarni] </a:t>
        </a:r>
      </a:p>
    </p188:txBody>
  </p188:cm>
</p188:cmLst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796F73B4-3379-4EA6-B653-137B26E1B86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Picture 3" descr="Application">
            <a:extLst>
              <a:ext uri="{FF2B5EF4-FFF2-40B4-BE49-F238E27FC236}">
                <a16:creationId xmlns:a16="http://schemas.microsoft.com/office/drawing/2014/main" id="{0236061F-330E-30FC-5E9D-F20FDBA058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4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computer screen shot&#10;&#10;Description automatically generated">
            <a:extLst>
              <a:ext uri="{FF2B5EF4-FFF2-40B4-BE49-F238E27FC236}">
                <a16:creationId xmlns:a16="http://schemas.microsoft.com/office/drawing/2014/main" id="{4D533DCC-07C7-0541-7842-21762B35869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400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view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 shot of a computer">
            <a:extLst>
              <a:ext uri="{FF2B5EF4-FFF2-40B4-BE49-F238E27FC236}">
                <a16:creationId xmlns:a16="http://schemas.microsoft.com/office/drawing/2014/main" id="{31F3442D-2145-E847-FDBB-6C0962036B7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659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oday's Objecti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pplication&#10;&#10;Description automatically generated with medium confidence">
            <a:extLst>
              <a:ext uri="{FF2B5EF4-FFF2-40B4-BE49-F238E27FC236}">
                <a16:creationId xmlns:a16="http://schemas.microsoft.com/office/drawing/2014/main" id="{0ACD386B-029E-45CB-9D5C-E77D63DB17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5337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 with low confidence">
            <a:extLst>
              <a:ext uri="{FF2B5EF4-FFF2-40B4-BE49-F238E27FC236}">
                <a16:creationId xmlns:a16="http://schemas.microsoft.com/office/drawing/2014/main" id="{C77460EC-4702-4389-B4E3-FAF13BE2B82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96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CF10A0D4-125C-4806-B5AC-3F7C2027CE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0200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t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DCA88489-E165-480D-BE71-5C8B1716AE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0050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actice Activi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icon&#10;&#10;Description automatically generated">
            <a:extLst>
              <a:ext uri="{FF2B5EF4-FFF2-40B4-BE49-F238E27FC236}">
                <a16:creationId xmlns:a16="http://schemas.microsoft.com/office/drawing/2014/main" id="{4865DB7E-42F9-467A-862D-5FCDA9DC52C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73612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ctivi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1346814E-1151-4558-AC16-92C8ACC07F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949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ep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background pattern&#10;&#10;Description automatically generated">
            <a:extLst>
              <a:ext uri="{FF2B5EF4-FFF2-40B4-BE49-F238E27FC236}">
                <a16:creationId xmlns:a16="http://schemas.microsoft.com/office/drawing/2014/main" id="{BC920530-F7A3-4513-AB37-442CB79897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6146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1A3EDF79-0651-4F55-B7BC-3C897F4C9AC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2589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tp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7D16819B-DAE9-4C3D-8990-8F1C7E83CD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30124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nal Outp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 with medium confidence">
            <a:extLst>
              <a:ext uri="{FF2B5EF4-FFF2-40B4-BE49-F238E27FC236}">
                <a16:creationId xmlns:a16="http://schemas.microsoft.com/office/drawing/2014/main" id="{09C737FE-FAEC-4891-B0FA-DF1A4CF5103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158614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view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1E194E85-6829-4A3D-A93A-402E8CCE12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43903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D88CC99B-8B9F-4BA5-9172-9CCA36F9156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2356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ssion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alendar&#10;&#10;Description automatically generated">
            <a:extLst>
              <a:ext uri="{FF2B5EF4-FFF2-40B4-BE49-F238E27FC236}">
                <a16:creationId xmlns:a16="http://schemas.microsoft.com/office/drawing/2014/main" id="{99DA8A4B-F943-45EA-AE35-991B0108E89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204690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ject 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alendar&#10;&#10;Description automatically generated">
            <a:extLst>
              <a:ext uri="{FF2B5EF4-FFF2-40B4-BE49-F238E27FC236}">
                <a16:creationId xmlns:a16="http://schemas.microsoft.com/office/drawing/2014/main" id="{F4DD666F-203A-4E38-80C8-C08A3F8C4A4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677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4697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64" r:id="rId8"/>
    <p:sldLayoutId id="2147483655" r:id="rId9"/>
    <p:sldLayoutId id="2147483656" r:id="rId10"/>
    <p:sldLayoutId id="2147483665" r:id="rId11"/>
    <p:sldLayoutId id="2147483666" r:id="rId12"/>
    <p:sldLayoutId id="2147483663" r:id="rId13"/>
    <p:sldLayoutId id="2147483657" r:id="rId14"/>
    <p:sldLayoutId id="2147483658" r:id="rId15"/>
    <p:sldLayoutId id="2147483659" r:id="rId16"/>
    <p:sldLayoutId id="2147483661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microsoft.com/office/2018/10/relationships/comments" Target="../comments/modernComment_108_E8F9DD70.xml"/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7677C3-D1C0-431A-B84E-CED6E87176B7}"/>
              </a:ext>
            </a:extLst>
          </p:cNvPr>
          <p:cNvSpPr txBox="1"/>
          <p:nvPr/>
        </p:nvSpPr>
        <p:spPr>
          <a:xfrm>
            <a:off x="3922541" y="2037502"/>
            <a:ext cx="4346917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400" b="1" dirty="0">
                <a:solidFill>
                  <a:srgbClr val="211F56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APPLICATIONS OF SPREADSHEET</a:t>
            </a:r>
          </a:p>
        </p:txBody>
      </p:sp>
    </p:spTree>
    <p:extLst>
      <p:ext uri="{BB962C8B-B14F-4D97-AF65-F5344CB8AC3E}">
        <p14:creationId xmlns:p14="http://schemas.microsoft.com/office/powerpoint/2010/main" val="36670422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6F636D6-FF23-4FAB-A5D8-4F1A3DEC4ECA}"/>
              </a:ext>
            </a:extLst>
          </p:cNvPr>
          <p:cNvSpPr/>
          <p:nvPr/>
        </p:nvSpPr>
        <p:spPr>
          <a:xfrm>
            <a:off x="2004646" y="4446272"/>
            <a:ext cx="8182708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200" dirty="0">
                <a:solidFill>
                  <a:srgbClr val="000000"/>
                </a:solidFill>
              </a:rPr>
              <a:t> </a:t>
            </a:r>
            <a:endParaRPr lang="en-US" sz="2200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A3C8DF3-70F4-054E-2E9E-472D41ED1C93}"/>
              </a:ext>
            </a:extLst>
          </p:cNvPr>
          <p:cNvSpPr/>
          <p:nvPr/>
        </p:nvSpPr>
        <p:spPr>
          <a:xfrm>
            <a:off x="2004646" y="3919354"/>
            <a:ext cx="8182708" cy="15633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  </a:t>
            </a:r>
            <a:r>
              <a:rPr lang="en-US" sz="2200" dirty="0" err="1"/>
              <a:t>Lyka</a:t>
            </a:r>
            <a:r>
              <a:rPr lang="en-US" sz="2200" dirty="0"/>
              <a:t> is interested in keeping track of her weekly allowance. She must learn more about spreadsheets to stay organized in the Spreadsheet. Can we clarify the topic of spreadsheets for her?</a:t>
            </a:r>
          </a:p>
        </p:txBody>
      </p:sp>
    </p:spTree>
    <p:extLst>
      <p:ext uri="{BB962C8B-B14F-4D97-AF65-F5344CB8AC3E}">
        <p14:creationId xmlns:p14="http://schemas.microsoft.com/office/powerpoint/2010/main" val="1164971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EC0B791-61C5-43DA-80B2-FFB40E9FC1F0}"/>
              </a:ext>
            </a:extLst>
          </p:cNvPr>
          <p:cNvSpPr/>
          <p:nvPr/>
        </p:nvSpPr>
        <p:spPr>
          <a:xfrm>
            <a:off x="2004646" y="4116218"/>
            <a:ext cx="8182708" cy="10969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2200" dirty="0">
                <a:solidFill>
                  <a:srgbClr val="000000"/>
                </a:solidFill>
              </a:rPr>
              <a:t> This project emphasizes the learning of </a:t>
            </a:r>
            <a:r>
              <a:rPr lang="en-IN" sz="2200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applications of a Spreadsheet and </a:t>
            </a:r>
            <a:r>
              <a:rPr lang="en-US" sz="2200" dirty="0"/>
              <a:t>highlighting the value of spreadsheets in daily life. </a:t>
            </a:r>
          </a:p>
        </p:txBody>
      </p:sp>
    </p:spTree>
    <p:extLst>
      <p:ext uri="{BB962C8B-B14F-4D97-AF65-F5344CB8AC3E}">
        <p14:creationId xmlns:p14="http://schemas.microsoft.com/office/powerpoint/2010/main" val="3225175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BBBFED2-EA42-4558-9F99-AA7E14C3825B}"/>
              </a:ext>
            </a:extLst>
          </p:cNvPr>
          <p:cNvSpPr/>
          <p:nvPr/>
        </p:nvSpPr>
        <p:spPr>
          <a:xfrm>
            <a:off x="727587" y="1897624"/>
            <a:ext cx="4611329" cy="3795251"/>
          </a:xfrm>
          <a:prstGeom prst="roundRect">
            <a:avLst>
              <a:gd name="adj" fmla="val 9818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96DEF6F-FBBE-437C-89EF-9947FAB05E14}"/>
              </a:ext>
            </a:extLst>
          </p:cNvPr>
          <p:cNvSpPr/>
          <p:nvPr/>
        </p:nvSpPr>
        <p:spPr>
          <a:xfrm>
            <a:off x="875072" y="2227405"/>
            <a:ext cx="4316360" cy="31393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To gain knowledge about Spreadsheets in detail.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To explore the applications of a Spreadsheet.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000000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000000"/>
                </a:solidFill>
              </a:rPr>
              <a:t>To recall and practice everything about spreadsheets that we learnt in the previous lessons. 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F073EF1-E624-6D96-16CE-D597EF129BD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9148" y="994002"/>
            <a:ext cx="5909730" cy="560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2262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7B7C6A-630A-4517-AC0D-6E728B0569FD}"/>
              </a:ext>
            </a:extLst>
          </p:cNvPr>
          <p:cNvSpPr/>
          <p:nvPr/>
        </p:nvSpPr>
        <p:spPr>
          <a:xfrm>
            <a:off x="2192467" y="1415536"/>
            <a:ext cx="7807066" cy="1833842"/>
          </a:xfrm>
          <a:prstGeom prst="roundRect">
            <a:avLst>
              <a:gd name="adj" fmla="val 71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2685AD7-AD75-4B73-9A91-4E1E29F1BD1B}"/>
              </a:ext>
            </a:extLst>
          </p:cNvPr>
          <p:cNvSpPr/>
          <p:nvPr/>
        </p:nvSpPr>
        <p:spPr>
          <a:xfrm>
            <a:off x="2379950" y="1593647"/>
            <a:ext cx="7462268" cy="15186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07000"/>
              </a:lnSpc>
              <a:spcBef>
                <a:spcPts val="1200"/>
              </a:spcBef>
              <a:spcAft>
                <a:spcPts val="800"/>
              </a:spcAft>
            </a:pPr>
            <a:r>
              <a:rPr lang="en-IN" sz="22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Spreadsheets</a:t>
            </a:r>
            <a:endParaRPr lang="en-IN" sz="2200" b="1" dirty="0"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</a:pPr>
            <a:r>
              <a:rPr lang="en-IN" sz="2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 spreadsheet can be used to complete different kinds of tasks. It can be used in various ways. </a:t>
            </a:r>
            <a:endParaRPr lang="en-IN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2" name="Picture 1" descr="A picture containing drawing&#10;&#10;Description automatically generated">
            <a:extLst>
              <a:ext uri="{FF2B5EF4-FFF2-40B4-BE49-F238E27FC236}">
                <a16:creationId xmlns:a16="http://schemas.microsoft.com/office/drawing/2014/main" id="{22166F8B-509B-2290-2D90-252AC3E623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523" y="1052926"/>
            <a:ext cx="374698" cy="362610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1E99C8E3-3894-BB1A-2BDB-DC7180F74D0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8656" t="11356" r="7587" b="20879"/>
          <a:stretch/>
        </p:blipFill>
        <p:spPr>
          <a:xfrm>
            <a:off x="4480507" y="3427489"/>
            <a:ext cx="3230986" cy="348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3601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0F6E1D3A-DC5C-E90C-4141-61C92FE2BD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523" y="1052926"/>
            <a:ext cx="374698" cy="36261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66C5D4A-3279-1591-A342-A68EDDA263BA}"/>
              </a:ext>
            </a:extLst>
          </p:cNvPr>
          <p:cNvSpPr/>
          <p:nvPr/>
        </p:nvSpPr>
        <p:spPr>
          <a:xfrm>
            <a:off x="1336934" y="1234231"/>
            <a:ext cx="9173749" cy="1923152"/>
          </a:xfrm>
          <a:prstGeom prst="roundRect">
            <a:avLst>
              <a:gd name="adj" fmla="val 71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C3DCE39-FE18-3226-C5D6-88EE0B55189F}"/>
              </a:ext>
            </a:extLst>
          </p:cNvPr>
          <p:cNvSpPr/>
          <p:nvPr/>
        </p:nvSpPr>
        <p:spPr>
          <a:xfrm>
            <a:off x="1385792" y="1410889"/>
            <a:ext cx="9080730" cy="15154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2200" b="1" dirty="0">
                <a:effectLst/>
                <a:latin typeface="Calibri" panose="020F0502020204030204" pitchFamily="34" charset="0"/>
                <a:ea typeface="SimSun" panose="02010600030101010101" pitchFamily="2" charset="-122"/>
                <a:cs typeface="Arial" panose="020B0604020202020204" pitchFamily="34" charset="0"/>
              </a:rPr>
              <a:t>Recall</a:t>
            </a:r>
          </a:p>
          <a:p>
            <a:endParaRPr lang="en-IN" sz="800" b="1" dirty="0">
              <a:effectLst/>
              <a:latin typeface="Calibri" panose="020F0502020204030204" pitchFamily="34" charset="0"/>
              <a:ea typeface="SimSun" panose="02010600030101010101" pitchFamily="2" charset="-122"/>
              <a:cs typeface="Arial" panose="020B0604020202020204" pitchFamily="34" charset="0"/>
            </a:endParaRPr>
          </a:p>
          <a:p>
            <a:pPr marL="342900" indent="-342900" fontAlgn="base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IN" sz="2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A </a:t>
            </a:r>
            <a:r>
              <a:rPr lang="en-IN" sz="2200" b="1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spreadsheet</a:t>
            </a:r>
            <a:r>
              <a:rPr lang="en-IN" sz="2200" dirty="0"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 is a computer program that looks like a worksheet and is used to organise, analyse, and store data. It consists of rows and columns. </a:t>
            </a:r>
            <a:endParaRPr lang="en-IN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3FD73C0-0E3E-08B6-93C5-2CF5FF2880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6327"/>
          <a:stretch>
            <a:fillRect/>
          </a:stretch>
        </p:blipFill>
        <p:spPr bwMode="auto">
          <a:xfrm>
            <a:off x="2161118" y="3532322"/>
            <a:ext cx="7869763" cy="2333476"/>
          </a:xfrm>
          <a:prstGeom prst="rect">
            <a:avLst/>
          </a:prstGeom>
          <a:noFill/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336104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87C2C-DD42-DB01-B95A-F55F78209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8A0305B6-E467-8AB2-E3CF-DF01CBFAD9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523" y="1052926"/>
            <a:ext cx="374698" cy="36261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C014AD7-5A79-9AC2-429F-D45959429BE8}"/>
              </a:ext>
            </a:extLst>
          </p:cNvPr>
          <p:cNvSpPr/>
          <p:nvPr/>
        </p:nvSpPr>
        <p:spPr>
          <a:xfrm>
            <a:off x="1631575" y="980561"/>
            <a:ext cx="8406834" cy="1347020"/>
          </a:xfrm>
          <a:prstGeom prst="roundRect">
            <a:avLst>
              <a:gd name="adj" fmla="val 71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1A77232-C185-66AC-A3DA-CC6B6ED6FB7A}"/>
              </a:ext>
            </a:extLst>
          </p:cNvPr>
          <p:cNvSpPr/>
          <p:nvPr/>
        </p:nvSpPr>
        <p:spPr>
          <a:xfrm>
            <a:off x="1783754" y="1205326"/>
            <a:ext cx="8254655" cy="8974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6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spreadsheet contains cells in a grid of rows and columns.</a:t>
            </a:r>
          </a:p>
          <a:p>
            <a:pPr marL="342900" indent="-342900">
              <a:lnSpc>
                <a:spcPct val="106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Information can be stored in cells in the form of numbers or words.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 descr="A screenshot of a cell phone&#10;&#10;Description automatically generated">
            <a:extLst>
              <a:ext uri="{FF2B5EF4-FFF2-40B4-BE49-F238E27FC236}">
                <a16:creationId xmlns:a16="http://schemas.microsoft.com/office/drawing/2014/main" id="{74EDDDD4-F933-871E-A7A2-21069B4A304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3145" y="2496738"/>
            <a:ext cx="6895824" cy="3987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68776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EDAA9-D419-86B8-74B0-1E43105B9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8F59EB79-C62A-43BD-3BB6-62EC88E1B6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523" y="1052926"/>
            <a:ext cx="374698" cy="36261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EAC7E1A-2467-4081-02CB-372D9033D760}"/>
              </a:ext>
            </a:extLst>
          </p:cNvPr>
          <p:cNvSpPr/>
          <p:nvPr/>
        </p:nvSpPr>
        <p:spPr>
          <a:xfrm>
            <a:off x="1618379" y="1230781"/>
            <a:ext cx="8701800" cy="747252"/>
          </a:xfrm>
          <a:prstGeom prst="roundRect">
            <a:avLst>
              <a:gd name="adj" fmla="val 71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600BE2C-F05E-63D3-58C0-BAACABE16358}"/>
              </a:ext>
            </a:extLst>
          </p:cNvPr>
          <p:cNvSpPr/>
          <p:nvPr/>
        </p:nvSpPr>
        <p:spPr>
          <a:xfrm>
            <a:off x="1770558" y="1408636"/>
            <a:ext cx="8549621" cy="4360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6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 are denoted by alphabets and rows are denoted by numbers.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C49F3B1-84F4-63FA-F411-CD8713819EF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5136" y="2364459"/>
            <a:ext cx="7801728" cy="3171320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567866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9AC75-EB3F-EE0B-755C-DE33ABB0D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F72152B5-157E-62B1-A025-2CEC982E57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523" y="1052926"/>
            <a:ext cx="374698" cy="36261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071DABE-A01E-A8F9-40F6-316ACA6F4FD3}"/>
              </a:ext>
            </a:extLst>
          </p:cNvPr>
          <p:cNvSpPr/>
          <p:nvPr/>
        </p:nvSpPr>
        <p:spPr>
          <a:xfrm>
            <a:off x="947819" y="1052926"/>
            <a:ext cx="7366666" cy="1101212"/>
          </a:xfrm>
          <a:prstGeom prst="roundRect">
            <a:avLst>
              <a:gd name="adj" fmla="val 71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666EDE8-EBDE-1C74-5453-C77D803B4FCD}"/>
              </a:ext>
            </a:extLst>
          </p:cNvPr>
          <p:cNvSpPr/>
          <p:nvPr/>
        </p:nvSpPr>
        <p:spPr>
          <a:xfrm>
            <a:off x="1099998" y="1230781"/>
            <a:ext cx="7047339" cy="7948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06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The height of rows and width of columns can be changed to fit the information inside the cell.  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212B973-403D-1C92-00EA-A83303A414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8646" y="2468623"/>
            <a:ext cx="8054707" cy="3520088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060520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D887E-0777-B070-48B3-14A03771E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ABA9CA0B-45F9-28D9-5B87-BC45529473E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523" y="1052926"/>
            <a:ext cx="374698" cy="36261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14E5045-B9AB-226C-9BDE-D0552BB06ECA}"/>
              </a:ext>
            </a:extLst>
          </p:cNvPr>
          <p:cNvSpPr/>
          <p:nvPr/>
        </p:nvSpPr>
        <p:spPr>
          <a:xfrm>
            <a:off x="695787" y="2040590"/>
            <a:ext cx="5036420" cy="3524071"/>
          </a:xfrm>
          <a:prstGeom prst="roundRect">
            <a:avLst>
              <a:gd name="adj" fmla="val 71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C0027A8-50B7-A1EB-437B-916A8290354E}"/>
              </a:ext>
            </a:extLst>
          </p:cNvPr>
          <p:cNvSpPr/>
          <p:nvPr/>
        </p:nvSpPr>
        <p:spPr>
          <a:xfrm>
            <a:off x="870198" y="2207893"/>
            <a:ext cx="4687597" cy="3189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Every cell has a unique name called a ‘cell reference’. It is made up of its column heading and row number.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50000"/>
              </a:lnSpc>
              <a:spcAft>
                <a:spcPts val="800"/>
              </a:spcAft>
            </a:pPr>
            <a:r>
              <a:rPr lang="en-IN" sz="2200" b="1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Example: </a:t>
            </a:r>
            <a:r>
              <a:rPr lang="en-IN" sz="2200" dirty="0">
                <a:effectLst/>
                <a:latin typeface="Calibri" panose="020F0502020204030204" pitchFamily="34" charset="0"/>
                <a:ea typeface="Yu Mincho" panose="02020400000000000000" pitchFamily="18" charset="-128"/>
                <a:cs typeface="Arial" panose="020B0604020202020204" pitchFamily="34" charset="0"/>
              </a:rPr>
              <a:t>The first cell in a spreadsheet is A1, since the column heading is ‘A’ and the row number is ‘1’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4BF7641-0255-1AA1-0E66-C74558FD7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1114" y="2040588"/>
            <a:ext cx="5286107" cy="3524071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3885917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7DF1A1-BE71-18CB-3D9A-A33B6DF4CB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2BFC4449-2AE5-DDA2-AB94-C032537FEF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523" y="1052926"/>
            <a:ext cx="374698" cy="36261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4073D15-9127-B491-4CD1-41E89A071770}"/>
              </a:ext>
            </a:extLst>
          </p:cNvPr>
          <p:cNvSpPr/>
          <p:nvPr/>
        </p:nvSpPr>
        <p:spPr>
          <a:xfrm>
            <a:off x="612539" y="487024"/>
            <a:ext cx="9038150" cy="2553929"/>
          </a:xfrm>
          <a:prstGeom prst="roundRect">
            <a:avLst>
              <a:gd name="adj" fmla="val 71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08D6C8-A416-CB6A-E765-01ED744C55B8}"/>
              </a:ext>
            </a:extLst>
          </p:cNvPr>
          <p:cNvSpPr/>
          <p:nvPr/>
        </p:nvSpPr>
        <p:spPr>
          <a:xfrm>
            <a:off x="764718" y="664880"/>
            <a:ext cx="8767984" cy="21954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Uses of Spreadsheet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Multiplication Table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multiplication table can be created with spreadsheet formulas. A table like this lets us view multiples of different numbers.</a:t>
            </a: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We use a multiplication formula for this kind of table like, C4 = C$3 * $B4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E839104-18B5-0061-E887-B84C012ABC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34640" y="3138753"/>
            <a:ext cx="6522720" cy="3386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1064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B0F06C-30E7-B4B8-9D8C-2664F5D7D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D967312D-8930-5085-1AED-EB98DDFB5A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523" y="1052926"/>
            <a:ext cx="374698" cy="36261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F3ED450-DB21-EF7D-C079-0C46500136EE}"/>
              </a:ext>
            </a:extLst>
          </p:cNvPr>
          <p:cNvSpPr/>
          <p:nvPr/>
        </p:nvSpPr>
        <p:spPr>
          <a:xfrm>
            <a:off x="754778" y="1052926"/>
            <a:ext cx="9195467" cy="1308316"/>
          </a:xfrm>
          <a:prstGeom prst="roundRect">
            <a:avLst>
              <a:gd name="adj" fmla="val 71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43F7683-9147-0577-AEF3-1ECBAC25FF0E}"/>
              </a:ext>
            </a:extLst>
          </p:cNvPr>
          <p:cNvSpPr/>
          <p:nvPr/>
        </p:nvSpPr>
        <p:spPr>
          <a:xfrm>
            <a:off x="906957" y="1230781"/>
            <a:ext cx="8964629" cy="9034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Grade list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grade list helps us store and analyse student grades for various subjects.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77F3B05-7932-8173-467B-6D978CDD7B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3777" y="3234187"/>
            <a:ext cx="9164445" cy="2871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59637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9F1D38-D149-BD6D-544C-4E710D693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214445C7-9381-0D84-44F4-60F31D1FA1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523" y="1052926"/>
            <a:ext cx="374698" cy="36261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509F9375-0CF3-6EE1-09F7-301743CF7A6D}"/>
              </a:ext>
            </a:extLst>
          </p:cNvPr>
          <p:cNvSpPr/>
          <p:nvPr/>
        </p:nvSpPr>
        <p:spPr>
          <a:xfrm>
            <a:off x="754779" y="717754"/>
            <a:ext cx="6595055" cy="1622323"/>
          </a:xfrm>
          <a:prstGeom prst="roundRect">
            <a:avLst>
              <a:gd name="adj" fmla="val 71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C7F22CC-F7D0-AE66-43A8-1425BC9441B4}"/>
              </a:ext>
            </a:extLst>
          </p:cNvPr>
          <p:cNvSpPr/>
          <p:nvPr/>
        </p:nvSpPr>
        <p:spPr>
          <a:xfrm>
            <a:off x="906959" y="895610"/>
            <a:ext cx="6442876" cy="1265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Class Timetable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This kind of spreadsheet arranges classes for each day and helps us remember the weeks’ timetable.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1555FBB-0493-D027-334F-234EE519A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6392" y="2721001"/>
            <a:ext cx="7599215" cy="37511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24132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A7FFC7-B915-3137-C2D6-AEA170CD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A7AAABF8-C15F-CB96-5AF5-11C79DFA235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523" y="1052926"/>
            <a:ext cx="374698" cy="362610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77EC9C8-7112-9E9D-C1D3-DCB678A4AAB7}"/>
              </a:ext>
            </a:extLst>
          </p:cNvPr>
          <p:cNvSpPr/>
          <p:nvPr/>
        </p:nvSpPr>
        <p:spPr>
          <a:xfrm>
            <a:off x="754779" y="717754"/>
            <a:ext cx="8281066" cy="1622323"/>
          </a:xfrm>
          <a:prstGeom prst="roundRect">
            <a:avLst>
              <a:gd name="adj" fmla="val 71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0A04D1-7D36-E697-9407-0898C4555F95}"/>
              </a:ext>
            </a:extLst>
          </p:cNvPr>
          <p:cNvSpPr/>
          <p:nvPr/>
        </p:nvSpPr>
        <p:spPr>
          <a:xfrm>
            <a:off x="906958" y="895610"/>
            <a:ext cx="8630332" cy="12657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</a:pP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Distance chart</a:t>
            </a:r>
            <a:endParaRPr lang="en-IN" sz="2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indent="-342900">
              <a:lnSpc>
                <a:spcPct val="107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The Bar Graph option is used to create a distance chart. A distance chart helps us analyse the distance between different locations.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3A5D032-BFA5-B53F-0273-1FDDB284A7E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1772" y="2839708"/>
            <a:ext cx="10128456" cy="3550638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86152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95D1B-E5A7-01FB-E5BE-90EA43674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F57E647-2F7E-B71A-ED7F-3D1253F5807D}"/>
              </a:ext>
            </a:extLst>
          </p:cNvPr>
          <p:cNvSpPr/>
          <p:nvPr/>
        </p:nvSpPr>
        <p:spPr>
          <a:xfrm>
            <a:off x="914399" y="1579914"/>
            <a:ext cx="6764595" cy="3660680"/>
          </a:xfrm>
          <a:prstGeom prst="roundRect">
            <a:avLst>
              <a:gd name="adj" fmla="val 71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A50EDD-7479-FA2B-9625-E080F99E1DF7}"/>
              </a:ext>
            </a:extLst>
          </p:cNvPr>
          <p:cNvSpPr/>
          <p:nvPr/>
        </p:nvSpPr>
        <p:spPr>
          <a:xfrm>
            <a:off x="1207925" y="1705079"/>
            <a:ext cx="6244927" cy="3343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2914650" algn="l"/>
              </a:tabLst>
            </a:pPr>
            <a:r>
              <a:rPr lang="en-IN" sz="2200" b="1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Spreadsheet </a:t>
            </a: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stores information in columns and rows. This arrangement of information can make calculations simple and accurate. 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800"/>
              </a:spcAft>
              <a:buFont typeface="Wingdings" panose="05000000000000000000" pitchFamily="2" charset="2"/>
              <a:buChar char="Ø"/>
              <a:tabLst>
                <a:tab pos="2914650" algn="l"/>
              </a:tabLst>
            </a:pPr>
            <a:r>
              <a:rPr lang="en-IN" sz="22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Numbers, texts, charts, graphs, and formulas can be added in a spreadsheet. This can make it easier to understand and analyse the information. </a:t>
            </a: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B1904E68-DA71-C5CC-0AAC-58212EF11A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62523" y="1052926"/>
            <a:ext cx="374698" cy="362610"/>
          </a:xfrm>
          <a:prstGeom prst="rect">
            <a:avLst/>
          </a:prstGeom>
        </p:spPr>
      </p:pic>
      <p:pic>
        <p:nvPicPr>
          <p:cNvPr id="6" name="Picture 5" descr="A close up of graphics&#10;&#10;Description automatically generated">
            <a:extLst>
              <a:ext uri="{FF2B5EF4-FFF2-40B4-BE49-F238E27FC236}">
                <a16:creationId xmlns:a16="http://schemas.microsoft.com/office/drawing/2014/main" id="{8DA8420E-8F74-1C86-96D7-69D80F316DC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6396" t="23566" r="5658" b="22101"/>
          <a:stretch/>
        </p:blipFill>
        <p:spPr>
          <a:xfrm flipH="1">
            <a:off x="8055681" y="2031694"/>
            <a:ext cx="3006842" cy="279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6696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50A5BF5-C9B3-45B8-8645-0888F3822BD3}"/>
              </a:ext>
            </a:extLst>
          </p:cNvPr>
          <p:cNvSpPr/>
          <p:nvPr/>
        </p:nvSpPr>
        <p:spPr>
          <a:xfrm>
            <a:off x="1315410" y="2057756"/>
            <a:ext cx="6322143" cy="2569299"/>
          </a:xfrm>
          <a:prstGeom prst="roundRect">
            <a:avLst>
              <a:gd name="adj" fmla="val 714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07C9B3-0363-C948-C6C2-E78C9B0BF9E3}"/>
              </a:ext>
            </a:extLst>
          </p:cNvPr>
          <p:cNvSpPr txBox="1"/>
          <p:nvPr/>
        </p:nvSpPr>
        <p:spPr>
          <a:xfrm>
            <a:off x="1521888" y="2293868"/>
            <a:ext cx="6096000" cy="2028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sz="2200" b="1" dirty="0">
                <a:ln>
                  <a:noFill/>
                </a:ln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Bytes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n>
                  <a:noFill/>
                </a:ln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A </a:t>
            </a:r>
            <a:r>
              <a:rPr lang="en-US" sz="2200" b="1" dirty="0">
                <a:ln>
                  <a:noFill/>
                </a:ln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spreadsheet</a:t>
            </a:r>
            <a:r>
              <a:rPr lang="en-US" sz="2200" dirty="0">
                <a:ln>
                  <a:noFill/>
                </a:ln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 can have up to 512 fonts.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200" dirty="0">
                <a:ln>
                  <a:noFill/>
                </a:ln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has 1048576 rows ranging from 1 to 1048576.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marL="342900" lvl="0" indent="-342900">
              <a:lnSpc>
                <a:spcPct val="150000"/>
              </a:lnSpc>
              <a:spcAft>
                <a:spcPts val="800"/>
              </a:spcAft>
              <a:buFont typeface="Wingdings" panose="05000000000000000000" pitchFamily="2" charset="2"/>
              <a:buChar char="Ø"/>
            </a:pPr>
            <a:r>
              <a:rPr lang="en-US" sz="2200" dirty="0">
                <a:ln>
                  <a:noFill/>
                </a:ln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It has 16384 columns ranging from A to XFD.</a:t>
            </a:r>
            <a:endParaRPr lang="en-IN" sz="2200" dirty="0"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 descr="A picture containing clock&#10;&#10;Description automatically generated">
            <a:extLst>
              <a:ext uri="{FF2B5EF4-FFF2-40B4-BE49-F238E27FC236}">
                <a16:creationId xmlns:a16="http://schemas.microsoft.com/office/drawing/2014/main" id="{4DF34B48-C969-99DC-9E7D-518DFF7872A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396" t="20051" r="8105" b="11109"/>
          <a:stretch/>
        </p:blipFill>
        <p:spPr>
          <a:xfrm flipH="1">
            <a:off x="7964129" y="2057756"/>
            <a:ext cx="2912461" cy="3540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23058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toy, clock&#10;&#10;Description automatically generated">
            <a:extLst>
              <a:ext uri="{FF2B5EF4-FFF2-40B4-BE49-F238E27FC236}">
                <a16:creationId xmlns:a16="http://schemas.microsoft.com/office/drawing/2014/main" id="{EEBAC65A-0E6E-48C2-B4ED-46E2E6745FB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092" t="15298" r="30430" b="19173"/>
          <a:stretch/>
        </p:blipFill>
        <p:spPr>
          <a:xfrm>
            <a:off x="1527953" y="2003456"/>
            <a:ext cx="1926474" cy="3701167"/>
          </a:xfrm>
          <a:prstGeom prst="rect">
            <a:avLst/>
          </a:prstGeom>
        </p:spPr>
      </p:pic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73DD46C5-46A4-4FB4-9999-6BA5B52BFAB1}"/>
              </a:ext>
            </a:extLst>
          </p:cNvPr>
          <p:cNvSpPr/>
          <p:nvPr/>
        </p:nvSpPr>
        <p:spPr>
          <a:xfrm>
            <a:off x="4828658" y="2003457"/>
            <a:ext cx="5808865" cy="3266634"/>
          </a:xfrm>
          <a:prstGeom prst="roundRect">
            <a:avLst>
              <a:gd name="adj" fmla="val 6761"/>
            </a:avLst>
          </a:prstGeom>
          <a:solidFill>
            <a:schemeClr val="bg1">
              <a:lumMod val="95000"/>
            </a:schemeClr>
          </a:solidFill>
          <a:ln>
            <a:noFill/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486F978-6AF0-47A6-8F95-C2912265A0A6}"/>
              </a:ext>
            </a:extLst>
          </p:cNvPr>
          <p:cNvSpPr/>
          <p:nvPr/>
        </p:nvSpPr>
        <p:spPr>
          <a:xfrm>
            <a:off x="5034155" y="2240013"/>
            <a:ext cx="5397870" cy="2793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What is the Grade List?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What is a Cell Reference?</a:t>
            </a: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400" b="1" dirty="0">
              <a:latin typeface="Segoe UI" panose="020B0502040204020203" pitchFamily="34" charset="0"/>
              <a:cs typeface="Segoe UI" panose="020B0502040204020203" pitchFamily="34" charset="0"/>
            </a:endParaRPr>
          </a:p>
          <a:p>
            <a:pPr marL="342900" lvl="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400" b="1" dirty="0">
                <a:latin typeface="Segoe UI" panose="020B0502040204020203" pitchFamily="34" charset="0"/>
                <a:cs typeface="Segoe UI" panose="020B0502040204020203" pitchFamily="34" charset="0"/>
              </a:rPr>
              <a:t>Explain the uses of a Spreadsheet.</a:t>
            </a:r>
          </a:p>
        </p:txBody>
      </p:sp>
    </p:spTree>
    <p:extLst>
      <p:ext uri="{BB962C8B-B14F-4D97-AF65-F5344CB8AC3E}">
        <p14:creationId xmlns:p14="http://schemas.microsoft.com/office/powerpoint/2010/main" val="39086892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77D5054-9936-494A-BA6A-4192237BCE41}"/>
              </a:ext>
            </a:extLst>
          </p:cNvPr>
          <p:cNvSpPr/>
          <p:nvPr/>
        </p:nvSpPr>
        <p:spPr>
          <a:xfrm>
            <a:off x="2428567" y="1589644"/>
            <a:ext cx="7236543" cy="1183052"/>
          </a:xfrm>
          <a:prstGeom prst="roundRect">
            <a:avLst>
              <a:gd name="adj" fmla="val 1869"/>
            </a:avLst>
          </a:prstGeom>
          <a:solidFill>
            <a:schemeClr val="bg1">
              <a:lumMod val="95000"/>
            </a:schemeClr>
          </a:solidFill>
          <a:ln w="28575">
            <a:noFill/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9993DB-45C4-4FC4-AEC2-0E699ADA465C}"/>
              </a:ext>
            </a:extLst>
          </p:cNvPr>
          <p:cNvSpPr/>
          <p:nvPr/>
        </p:nvSpPr>
        <p:spPr>
          <a:xfrm>
            <a:off x="2663394" y="1765671"/>
            <a:ext cx="6865211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dirty="0"/>
              <a:t>Create a spreadsheet displaying a chart and graph on the topic of your </a:t>
            </a:r>
            <a:r>
              <a:rPr lang="en-US" sz="2400" dirty="0" err="1"/>
              <a:t>favourite</a:t>
            </a:r>
            <a:r>
              <a:rPr lang="en-US" sz="2400" dirty="0"/>
              <a:t> books </a:t>
            </a:r>
            <a:endParaRPr 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7" name="Picture 6" descr="A picture containing drawing, light&#10;&#10;Description automatically generated">
            <a:extLst>
              <a:ext uri="{FF2B5EF4-FFF2-40B4-BE49-F238E27FC236}">
                <a16:creationId xmlns:a16="http://schemas.microsoft.com/office/drawing/2014/main" id="{EE9C9FA2-2DC8-ECFA-5EC2-98526ABE68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92265" y="1023835"/>
            <a:ext cx="332682" cy="41277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52CC826-B063-CD78-3D0B-3260603781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7094" y="2626282"/>
            <a:ext cx="4917809" cy="4231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53450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7300013"/>
      </p:ext>
    </p:extLst>
  </p:cSld>
  <p:clrMapOvr>
    <a:masterClrMapping/>
  </p:clrMapOvr>
</p:sld>
</file>

<file path=ppt/theme/theme1.xml><?xml version="1.0" encoding="utf-8"?>
<a:theme xmlns:a="http://schemas.openxmlformats.org/drawingml/2006/main" name="ICT360 Layout (Grade 4)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</TotalTime>
  <Words>473</Words>
  <Application>Microsoft Office PowerPoint</Application>
  <PresentationFormat>Widescreen</PresentationFormat>
  <Paragraphs>42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ICT360 Layout (Grade 4)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Saurabh Upadhyay</dc:creator>
  <cp:lastModifiedBy>Nasima Yesmin</cp:lastModifiedBy>
  <cp:revision>83</cp:revision>
  <dcterms:created xsi:type="dcterms:W3CDTF">2021-05-21T05:39:55Z</dcterms:created>
  <dcterms:modified xsi:type="dcterms:W3CDTF">2024-04-23T11:45:05Z</dcterms:modified>
</cp:coreProperties>
</file>