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1" r:id="rId5"/>
    <p:sldId id="262" r:id="rId6"/>
    <p:sldId id="263" r:id="rId7"/>
    <p:sldId id="267" r:id="rId8"/>
    <p:sldId id="265" r:id="rId9"/>
    <p:sldId id="266" r:id="rId10"/>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3140"/>
    <a:srgbClr val="5129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44"/>
    <p:restoredTop sz="94714"/>
  </p:normalViewPr>
  <p:slideViewPr>
    <p:cSldViewPr snapToGrid="0">
      <p:cViewPr varScale="1">
        <p:scale>
          <a:sx n="89" d="100"/>
          <a:sy n="89" d="100"/>
        </p:scale>
        <p:origin x="33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2DDFB7E-2FBF-6A4D-987E-4EA5B0AC2CA8}" type="datetimeFigureOut">
              <a:rPr lang="en-SA" smtClean="0"/>
              <a:t>04/11/2025 R</a:t>
            </a:fld>
            <a:endParaRPr lang="en-SA"/>
          </a:p>
        </p:txBody>
      </p:sp>
      <p:sp>
        <p:nvSpPr>
          <p:cNvPr id="5" name="Footer Placeholder 4"/>
          <p:cNvSpPr>
            <a:spLocks noGrp="1"/>
          </p:cNvSpPr>
          <p:nvPr>
            <p:ph type="ftr" sz="quarter" idx="11"/>
          </p:nvPr>
        </p:nvSpPr>
        <p:spPr/>
        <p:txBody>
          <a:bodyPr/>
          <a:lstStyle/>
          <a:p>
            <a:endParaRPr lang="en-SA"/>
          </a:p>
        </p:txBody>
      </p:sp>
      <p:sp>
        <p:nvSpPr>
          <p:cNvPr id="6" name="Slide Number Placeholder 5"/>
          <p:cNvSpPr>
            <a:spLocks noGrp="1"/>
          </p:cNvSpPr>
          <p:nvPr>
            <p:ph type="sldNum" sz="quarter" idx="12"/>
          </p:nvPr>
        </p:nvSpPr>
        <p:spPr/>
        <p:txBody>
          <a:bodyPr/>
          <a:lstStyle/>
          <a:p>
            <a:fld id="{0058CF0C-FABB-8845-BDF9-E1081C638B2A}" type="slidenum">
              <a:rPr lang="en-SA" smtClean="0"/>
              <a:t>‹#›</a:t>
            </a:fld>
            <a:endParaRPr lang="en-SA"/>
          </a:p>
        </p:txBody>
      </p:sp>
      <p:pic>
        <p:nvPicPr>
          <p:cNvPr id="7" name="Picture 6">
            <a:extLst>
              <a:ext uri="{FF2B5EF4-FFF2-40B4-BE49-F238E27FC236}">
                <a16:creationId xmlns:a16="http://schemas.microsoft.com/office/drawing/2014/main" id="{2B7BAF50-20CB-49E1-BC54-11DBB35C5170}"/>
              </a:ext>
            </a:extLst>
          </p:cNvPr>
          <p:cNvPicPr>
            <a:picLocks noChangeAspect="1"/>
          </p:cNvPicPr>
          <p:nvPr userDrawn="1"/>
        </p:nvPicPr>
        <p:blipFill>
          <a:blip r:embed="rId2"/>
          <a:stretch>
            <a:fillRect/>
          </a:stretch>
        </p:blipFill>
        <p:spPr>
          <a:xfrm>
            <a:off x="-53079" y="-53118"/>
            <a:ext cx="6911080" cy="9959118"/>
          </a:xfrm>
          <a:prstGeom prst="rect">
            <a:avLst/>
          </a:prstGeom>
        </p:spPr>
      </p:pic>
    </p:spTree>
    <p:extLst>
      <p:ext uri="{BB962C8B-B14F-4D97-AF65-F5344CB8AC3E}">
        <p14:creationId xmlns:p14="http://schemas.microsoft.com/office/powerpoint/2010/main" val="34355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BE951A73-9758-0378-3F01-F6A19FE80DF1}"/>
              </a:ext>
            </a:extLst>
          </p:cNvPr>
          <p:cNvPicPr>
            <a:picLocks noChangeAspect="1"/>
          </p:cNvPicPr>
          <p:nvPr userDrawn="1"/>
        </p:nvPicPr>
        <p:blipFill>
          <a:blip r:embed="rId2"/>
          <a:stretch>
            <a:fillRect/>
          </a:stretch>
        </p:blipFill>
        <p:spPr>
          <a:xfrm>
            <a:off x="-53079" y="-53118"/>
            <a:ext cx="6911080" cy="9959118"/>
          </a:xfrm>
          <a:prstGeom prst="rect">
            <a:avLst/>
          </a:prstGeom>
        </p:spPr>
      </p:pic>
      <p:pic>
        <p:nvPicPr>
          <p:cNvPr id="6" name="Picture 5" descr="A black background with white text&#10;&#10;Description automatically generated">
            <a:extLst>
              <a:ext uri="{FF2B5EF4-FFF2-40B4-BE49-F238E27FC236}">
                <a16:creationId xmlns:a16="http://schemas.microsoft.com/office/drawing/2014/main" id="{AF2DD4E2-3972-E227-0D08-87BFAC87FFD7}"/>
              </a:ext>
            </a:extLst>
          </p:cNvPr>
          <p:cNvPicPr>
            <a:picLocks noChangeAspect="1"/>
          </p:cNvPicPr>
          <p:nvPr userDrawn="1"/>
        </p:nvPicPr>
        <p:blipFill rotWithShape="1">
          <a:blip r:embed="rId3"/>
          <a:srcRect l="23031" t="31246" r="30909" b="34276"/>
          <a:stretch/>
        </p:blipFill>
        <p:spPr>
          <a:xfrm>
            <a:off x="2590340" y="150563"/>
            <a:ext cx="1444843" cy="608355"/>
          </a:xfrm>
          <a:prstGeom prst="rect">
            <a:avLst/>
          </a:prstGeom>
        </p:spPr>
      </p:pic>
      <p:pic>
        <p:nvPicPr>
          <p:cNvPr id="7" name="Graphic 6">
            <a:extLst>
              <a:ext uri="{FF2B5EF4-FFF2-40B4-BE49-F238E27FC236}">
                <a16:creationId xmlns:a16="http://schemas.microsoft.com/office/drawing/2014/main" id="{9407CFE1-8BFF-139A-A614-62237296368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65792" y="234722"/>
            <a:ext cx="673891" cy="512156"/>
          </a:xfrm>
          <a:prstGeom prst="rect">
            <a:avLst/>
          </a:prstGeom>
        </p:spPr>
      </p:pic>
      <p:sp>
        <p:nvSpPr>
          <p:cNvPr id="8" name="Rounded Rectangle 7">
            <a:extLst>
              <a:ext uri="{FF2B5EF4-FFF2-40B4-BE49-F238E27FC236}">
                <a16:creationId xmlns:a16="http://schemas.microsoft.com/office/drawing/2014/main" id="{6632F161-7BB5-CA9F-5D9E-FCB0DA055FD3}"/>
              </a:ext>
            </a:extLst>
          </p:cNvPr>
          <p:cNvSpPr/>
          <p:nvPr userDrawn="1"/>
        </p:nvSpPr>
        <p:spPr>
          <a:xfrm>
            <a:off x="151980" y="5590996"/>
            <a:ext cx="6500961" cy="4155019"/>
          </a:xfrm>
          <a:prstGeom prst="roundRect">
            <a:avLst>
              <a:gd name="adj" fmla="val 1479"/>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tx1"/>
              </a:solidFill>
            </a:endParaRPr>
          </a:p>
        </p:txBody>
      </p:sp>
      <p:sp>
        <p:nvSpPr>
          <p:cNvPr id="9" name="Rounded Rectangle 8">
            <a:extLst>
              <a:ext uri="{FF2B5EF4-FFF2-40B4-BE49-F238E27FC236}">
                <a16:creationId xmlns:a16="http://schemas.microsoft.com/office/drawing/2014/main" id="{3FFA1303-8CEB-72C1-8FB1-74F7356782E1}"/>
              </a:ext>
            </a:extLst>
          </p:cNvPr>
          <p:cNvSpPr/>
          <p:nvPr userDrawn="1"/>
        </p:nvSpPr>
        <p:spPr>
          <a:xfrm>
            <a:off x="151979" y="4877072"/>
            <a:ext cx="6500958" cy="562356"/>
          </a:xfrm>
          <a:prstGeom prst="roundRect">
            <a:avLst>
              <a:gd name="adj" fmla="val 1749"/>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SCHOOL NAME:</a:t>
            </a:r>
          </a:p>
        </p:txBody>
      </p:sp>
      <p:sp>
        <p:nvSpPr>
          <p:cNvPr id="10" name="Rounded Rectangle 9">
            <a:extLst>
              <a:ext uri="{FF2B5EF4-FFF2-40B4-BE49-F238E27FC236}">
                <a16:creationId xmlns:a16="http://schemas.microsoft.com/office/drawing/2014/main" id="{DEC28692-4986-04BE-39A1-20E342A114B8}"/>
              </a:ext>
            </a:extLst>
          </p:cNvPr>
          <p:cNvSpPr/>
          <p:nvPr userDrawn="1"/>
        </p:nvSpPr>
        <p:spPr>
          <a:xfrm>
            <a:off x="151978" y="4149815"/>
            <a:ext cx="6500958" cy="5623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REGION:</a:t>
            </a:r>
          </a:p>
        </p:txBody>
      </p:sp>
      <p:sp>
        <p:nvSpPr>
          <p:cNvPr id="11" name="TextBox 10">
            <a:extLst>
              <a:ext uri="{FF2B5EF4-FFF2-40B4-BE49-F238E27FC236}">
                <a16:creationId xmlns:a16="http://schemas.microsoft.com/office/drawing/2014/main" id="{BDC3EBFA-095F-0969-1194-0E4FBADB135E}"/>
              </a:ext>
            </a:extLst>
          </p:cNvPr>
          <p:cNvSpPr txBox="1"/>
          <p:nvPr userDrawn="1"/>
        </p:nvSpPr>
        <p:spPr>
          <a:xfrm>
            <a:off x="0" y="1070748"/>
            <a:ext cx="6858000" cy="707886"/>
          </a:xfrm>
          <a:prstGeom prst="rect">
            <a:avLst/>
          </a:prstGeom>
          <a:noFill/>
        </p:spPr>
        <p:txBody>
          <a:bodyPr wrap="square">
            <a:spAutoFit/>
          </a:bodyPr>
          <a:lstStyle/>
          <a:p>
            <a:pPr algn="ctr"/>
            <a:r>
              <a:rPr lang="en-US" sz="4000" b="1" i="0" u="none" strike="noStrike" dirty="0">
                <a:solidFill>
                  <a:srgbClr val="FFFFFF"/>
                </a:solidFill>
                <a:effectLst/>
                <a:latin typeface="Arial" panose="020B0604020202020204" pitchFamily="34" charset="0"/>
                <a:cs typeface="Arial" panose="020B0604020202020204" pitchFamily="34" charset="0"/>
              </a:rPr>
              <a:t>PLAY TO LEARN </a:t>
            </a:r>
            <a:r>
              <a:rPr lang="en-US" sz="4000" b="1" i="0" u="none" strike="noStrike" dirty="0">
                <a:solidFill>
                  <a:srgbClr val="E13140"/>
                </a:solidFill>
                <a:effectLst/>
                <a:latin typeface="Arial" panose="020B0604020202020204" pitchFamily="34" charset="0"/>
                <a:cs typeface="Arial" panose="020B0604020202020204" pitchFamily="34" charset="0"/>
              </a:rPr>
              <a:t>2025-2026</a:t>
            </a:r>
            <a:endParaRPr lang="en-SA" sz="4000" b="1" dirty="0">
              <a:solidFill>
                <a:srgbClr val="E1314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4AD20CFB-8F09-0512-EB23-DCEA899F93B3}"/>
              </a:ext>
            </a:extLst>
          </p:cNvPr>
          <p:cNvSpPr txBox="1"/>
          <p:nvPr userDrawn="1"/>
        </p:nvSpPr>
        <p:spPr>
          <a:xfrm>
            <a:off x="0" y="1661998"/>
            <a:ext cx="6858000" cy="1323439"/>
          </a:xfrm>
          <a:prstGeom prst="rect">
            <a:avLst/>
          </a:prstGeom>
          <a:noFill/>
        </p:spPr>
        <p:txBody>
          <a:bodyPr wrap="square">
            <a:spAutoFit/>
          </a:bodyPr>
          <a:lstStyle/>
          <a:p>
            <a:pPr algn="ctr" rtl="0">
              <a:buNone/>
            </a:pPr>
            <a:r>
              <a:rPr lang="en-US" sz="1400" b="1" i="1" u="none" strike="noStrike" dirty="0">
                <a:solidFill>
                  <a:srgbClr val="FFFFFF"/>
                </a:solidFill>
                <a:effectLst/>
                <a:latin typeface="Arial" panose="020B0604020202020204" pitchFamily="34" charset="0"/>
                <a:cs typeface="Arial" panose="020B0604020202020204" pitchFamily="34" charset="0"/>
              </a:rPr>
              <a:t>THE NATIONAL EDUCATIONAL MOBILE GAME CONCEPT CHALLENGE</a:t>
            </a:r>
          </a:p>
          <a:p>
            <a:pPr algn="ctr" rtl="0">
              <a:buNone/>
            </a:pPr>
            <a:endParaRPr lang="en-US" sz="1600" b="1" i="1" u="none" strike="noStrike" dirty="0">
              <a:solidFill>
                <a:srgbClr val="FFFFFF"/>
              </a:solidFill>
              <a:effectLst/>
              <a:latin typeface="Arial" panose="020B0604020202020204" pitchFamily="34" charset="0"/>
              <a:cs typeface="Arial" panose="020B0604020202020204" pitchFamily="34" charset="0"/>
            </a:endParaRPr>
          </a:p>
          <a:p>
            <a:pPr algn="ctr" rtl="0">
              <a:buNone/>
            </a:pPr>
            <a:r>
              <a:rPr lang="en-US" sz="1100" b="0" i="0" u="none" strike="noStrike" dirty="0">
                <a:solidFill>
                  <a:srgbClr val="FFFFFF"/>
                </a:solidFill>
                <a:effectLst/>
                <a:latin typeface="Arial" panose="020B0604020202020204" pitchFamily="34" charset="0"/>
                <a:cs typeface="Arial" panose="020B0604020202020204" pitchFamily="34" charset="0"/>
              </a:rPr>
              <a:t>SUBMIT THIS GAME CONCEPT DOCUMENT TO YOUR SCHOOL JURY BY </a:t>
            </a:r>
            <a:r>
              <a:rPr lang="en-US" sz="1100" b="1" i="0" u="none" strike="noStrike" dirty="0">
                <a:solidFill>
                  <a:srgbClr val="E13140"/>
                </a:solidFill>
                <a:effectLst/>
                <a:latin typeface="Arial" panose="020B0604020202020204" pitchFamily="34" charset="0"/>
                <a:cs typeface="Arial" panose="020B0604020202020204" pitchFamily="34" charset="0"/>
              </a:rPr>
              <a:t>JANUARY 31</a:t>
            </a:r>
            <a:r>
              <a:rPr lang="en-US" sz="1100" b="1" i="0" u="none" strike="noStrike" baseline="30000" dirty="0">
                <a:solidFill>
                  <a:srgbClr val="E13140"/>
                </a:solidFill>
                <a:effectLst/>
                <a:latin typeface="Arial" panose="020B0604020202020204" pitchFamily="34" charset="0"/>
                <a:cs typeface="Arial" panose="020B0604020202020204" pitchFamily="34" charset="0"/>
              </a:rPr>
              <a:t>st</a:t>
            </a:r>
          </a:p>
          <a:p>
            <a:pPr algn="ctr" rtl="0">
              <a:buNone/>
            </a:pPr>
            <a:r>
              <a:rPr lang="en-US" sz="1100" b="1" i="0" u="none" strike="noStrike" dirty="0">
                <a:solidFill>
                  <a:srgbClr val="E13140"/>
                </a:solidFill>
                <a:effectLst/>
                <a:latin typeface="Arial" panose="020B0604020202020204" pitchFamily="34" charset="0"/>
                <a:cs typeface="Arial" panose="020B0604020202020204" pitchFamily="34" charset="0"/>
              </a:rPr>
              <a:t>   </a:t>
            </a:r>
            <a:r>
              <a:rPr lang="en-US" sz="1100" b="0" i="0" u="none" strike="noStrike" dirty="0">
                <a:solidFill>
                  <a:schemeClr val="bg1"/>
                </a:solidFill>
                <a:effectLst/>
                <a:latin typeface="Arial" panose="020B0604020202020204" pitchFamily="34" charset="0"/>
                <a:cs typeface="Arial" panose="020B0604020202020204" pitchFamily="34" charset="0"/>
              </a:rPr>
              <a:t>NEED HELP? WATCH </a:t>
            </a:r>
            <a:r>
              <a:rPr lang="en-US" sz="1100" b="0" i="0" u="none" strike="noStrike" dirty="0">
                <a:solidFill>
                  <a:srgbClr val="E13140"/>
                </a:solidFill>
                <a:effectLst/>
                <a:latin typeface="Arial" panose="020B0604020202020204" pitchFamily="34" charset="0"/>
                <a:cs typeface="Arial" panose="020B0604020202020204" pitchFamily="34" charset="0"/>
              </a:rPr>
              <a:t>THIS TUTORIAL VIDEO</a:t>
            </a:r>
            <a:r>
              <a:rPr lang="en-US" sz="1100" b="0" i="0" u="none" strike="noStrike" dirty="0">
                <a:solidFill>
                  <a:schemeClr val="bg1"/>
                </a:solidFill>
                <a:effectLst/>
                <a:latin typeface="Arial" panose="020B0604020202020204" pitchFamily="34" charset="0"/>
                <a:cs typeface="Arial" panose="020B0604020202020204" pitchFamily="34" charset="0"/>
              </a:rPr>
              <a:t>. </a:t>
            </a:r>
            <a:endParaRPr lang="en-US" sz="1100" b="0" i="0" dirty="0">
              <a:solidFill>
                <a:schemeClr val="bg1"/>
              </a:solidFill>
              <a:effectLst/>
              <a:latin typeface="Arial" panose="020B0604020202020204" pitchFamily="34" charset="0"/>
              <a:cs typeface="Arial" panose="020B0604020202020204" pitchFamily="34" charset="0"/>
            </a:endParaRPr>
          </a:p>
          <a:p>
            <a:pPr>
              <a:buNone/>
            </a:pPr>
            <a:br>
              <a:rPr lang="en-US" sz="1400" b="1" i="1" dirty="0">
                <a:latin typeface="Arial" panose="020B0604020202020204" pitchFamily="34" charset="0"/>
                <a:cs typeface="Arial" panose="020B0604020202020204" pitchFamily="34" charset="0"/>
              </a:rPr>
            </a:br>
            <a:endParaRPr lang="en-SA" sz="1400" b="1" i="1" dirty="0">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2F6C6E94-A991-977B-B247-EBB6DCF8A7C2}"/>
              </a:ext>
            </a:extLst>
          </p:cNvPr>
          <p:cNvSpPr/>
          <p:nvPr userDrawn="1"/>
        </p:nvSpPr>
        <p:spPr>
          <a:xfrm>
            <a:off x="151978" y="4877070"/>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JURY INFO:</a:t>
            </a:r>
          </a:p>
          <a:p>
            <a:pPr algn="ctr"/>
            <a:endParaRPr lang="en-US" sz="700" b="1" dirty="0">
              <a:solidFill>
                <a:schemeClr val="bg1"/>
              </a:solidFill>
              <a:latin typeface="Arial" panose="020B0604020202020204" pitchFamily="34" charset="0"/>
              <a:cs typeface="Arial" panose="020B0604020202020204" pitchFamily="34" charset="0"/>
            </a:endParaRPr>
          </a:p>
        </p:txBody>
      </p:sp>
      <p:sp>
        <p:nvSpPr>
          <p:cNvPr id="15" name="Rounded Rectangle 14">
            <a:extLst>
              <a:ext uri="{FF2B5EF4-FFF2-40B4-BE49-F238E27FC236}">
                <a16:creationId xmlns:a16="http://schemas.microsoft.com/office/drawing/2014/main" id="{3F64F81D-E803-46BB-B109-0B07EE825F47}"/>
              </a:ext>
            </a:extLst>
          </p:cNvPr>
          <p:cNvSpPr/>
          <p:nvPr userDrawn="1"/>
        </p:nvSpPr>
        <p:spPr>
          <a:xfrm>
            <a:off x="151978" y="4149810"/>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ACADEMIC REGION:</a:t>
            </a:r>
          </a:p>
          <a:p>
            <a:pPr algn="ctr"/>
            <a:endParaRPr lang="en-US" sz="700" b="1" dirty="0">
              <a:solidFill>
                <a:schemeClr val="bg1"/>
              </a:solidFill>
              <a:latin typeface="Arial" panose="020B0604020202020204" pitchFamily="34" charset="0"/>
              <a:cs typeface="Arial" panose="020B0604020202020204" pitchFamily="34" charset="0"/>
            </a:endParaRPr>
          </a:p>
        </p:txBody>
      </p:sp>
      <p:pic>
        <p:nvPicPr>
          <p:cNvPr id="16" name="Picture 15" descr="A logo with a black background&#10;&#10;AI-generated content may be incorrect.">
            <a:extLst>
              <a:ext uri="{FF2B5EF4-FFF2-40B4-BE49-F238E27FC236}">
                <a16:creationId xmlns:a16="http://schemas.microsoft.com/office/drawing/2014/main" id="{23CFAFFE-A8BD-3ADB-0332-58FA1604FC50}"/>
              </a:ext>
            </a:extLst>
          </p:cNvPr>
          <p:cNvPicPr>
            <a:picLocks noChangeAspect="1"/>
          </p:cNvPicPr>
          <p:nvPr userDrawn="1"/>
        </p:nvPicPr>
        <p:blipFill>
          <a:blip r:embed="rId6">
            <a:biLevel thresh="25000"/>
          </a:blip>
          <a:stretch>
            <a:fillRect/>
          </a:stretch>
        </p:blipFill>
        <p:spPr>
          <a:xfrm>
            <a:off x="4866917" y="234722"/>
            <a:ext cx="1117600" cy="558800"/>
          </a:xfrm>
          <a:prstGeom prst="rect">
            <a:avLst/>
          </a:prstGeom>
        </p:spPr>
      </p:pic>
      <p:sp>
        <p:nvSpPr>
          <p:cNvPr id="17" name="Rounded Rectangle 16">
            <a:extLst>
              <a:ext uri="{FF2B5EF4-FFF2-40B4-BE49-F238E27FC236}">
                <a16:creationId xmlns:a16="http://schemas.microsoft.com/office/drawing/2014/main" id="{62F520FB-A18A-A597-9C87-B8243A77C795}"/>
              </a:ext>
            </a:extLst>
          </p:cNvPr>
          <p:cNvSpPr/>
          <p:nvPr userDrawn="1"/>
        </p:nvSpPr>
        <p:spPr>
          <a:xfrm>
            <a:off x="151978" y="3430969"/>
            <a:ext cx="6500957" cy="562356"/>
          </a:xfrm>
          <a:prstGeom prst="roundRect">
            <a:avLst>
              <a:gd name="adj" fmla="val 1749"/>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SCHOOL NAME:</a:t>
            </a:r>
          </a:p>
        </p:txBody>
      </p:sp>
      <p:sp>
        <p:nvSpPr>
          <p:cNvPr id="18" name="Rounded Rectangle 17">
            <a:extLst>
              <a:ext uri="{FF2B5EF4-FFF2-40B4-BE49-F238E27FC236}">
                <a16:creationId xmlns:a16="http://schemas.microsoft.com/office/drawing/2014/main" id="{739A8F79-7530-E6AB-1CCC-2C6A1A9D9B2F}"/>
              </a:ext>
            </a:extLst>
          </p:cNvPr>
          <p:cNvSpPr/>
          <p:nvPr userDrawn="1"/>
        </p:nvSpPr>
        <p:spPr>
          <a:xfrm>
            <a:off x="151978" y="2708628"/>
            <a:ext cx="6500957" cy="5623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GAME TITLE:</a:t>
            </a:r>
          </a:p>
        </p:txBody>
      </p:sp>
      <p:sp>
        <p:nvSpPr>
          <p:cNvPr id="19" name="Rounded Rectangle 18">
            <a:extLst>
              <a:ext uri="{FF2B5EF4-FFF2-40B4-BE49-F238E27FC236}">
                <a16:creationId xmlns:a16="http://schemas.microsoft.com/office/drawing/2014/main" id="{0469C825-819C-AAF9-0389-712CF8C44762}"/>
              </a:ext>
            </a:extLst>
          </p:cNvPr>
          <p:cNvSpPr/>
          <p:nvPr userDrawn="1"/>
        </p:nvSpPr>
        <p:spPr>
          <a:xfrm>
            <a:off x="151978" y="2708627"/>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GAME TITLE:</a:t>
            </a:r>
          </a:p>
        </p:txBody>
      </p:sp>
      <p:sp>
        <p:nvSpPr>
          <p:cNvPr id="20" name="Rounded Rectangle 19">
            <a:extLst>
              <a:ext uri="{FF2B5EF4-FFF2-40B4-BE49-F238E27FC236}">
                <a16:creationId xmlns:a16="http://schemas.microsoft.com/office/drawing/2014/main" id="{375A74D3-FAA6-4BE7-D571-CA60D748C122}"/>
              </a:ext>
            </a:extLst>
          </p:cNvPr>
          <p:cNvSpPr/>
          <p:nvPr userDrawn="1"/>
        </p:nvSpPr>
        <p:spPr>
          <a:xfrm>
            <a:off x="151978" y="3430967"/>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SCHOOL NAME:</a:t>
            </a:r>
          </a:p>
        </p:txBody>
      </p:sp>
      <p:sp>
        <p:nvSpPr>
          <p:cNvPr id="3" name="TextBox 2">
            <a:extLst>
              <a:ext uri="{FF2B5EF4-FFF2-40B4-BE49-F238E27FC236}">
                <a16:creationId xmlns:a16="http://schemas.microsoft.com/office/drawing/2014/main" id="{C30A66D7-D368-30F2-B213-4BA52AD921D2}"/>
              </a:ext>
            </a:extLst>
          </p:cNvPr>
          <p:cNvSpPr txBox="1"/>
          <p:nvPr userDrawn="1"/>
        </p:nvSpPr>
        <p:spPr>
          <a:xfrm>
            <a:off x="151978" y="4497335"/>
            <a:ext cx="2212399" cy="215444"/>
          </a:xfrm>
          <a:prstGeom prst="rect">
            <a:avLst/>
          </a:prstGeom>
          <a:noFill/>
        </p:spPr>
        <p:txBody>
          <a:bodyPr wrap="square">
            <a:spAutoFit/>
          </a:bodyPr>
          <a:lstStyle/>
          <a:p>
            <a:pPr algn="ctr"/>
            <a:r>
              <a:rPr lang="en-US" sz="800" dirty="0">
                <a:solidFill>
                  <a:schemeClr val="bg1"/>
                </a:solidFill>
              </a:rPr>
              <a:t>Out of the16 academic regions of KSA</a:t>
            </a:r>
          </a:p>
        </p:txBody>
      </p:sp>
      <p:sp>
        <p:nvSpPr>
          <p:cNvPr id="4" name="TextBox 3">
            <a:extLst>
              <a:ext uri="{FF2B5EF4-FFF2-40B4-BE49-F238E27FC236}">
                <a16:creationId xmlns:a16="http://schemas.microsoft.com/office/drawing/2014/main" id="{8D9B60CF-0436-B99C-E320-23F057E37821}"/>
              </a:ext>
            </a:extLst>
          </p:cNvPr>
          <p:cNvSpPr txBox="1"/>
          <p:nvPr userDrawn="1"/>
        </p:nvSpPr>
        <p:spPr>
          <a:xfrm>
            <a:off x="143734" y="5215567"/>
            <a:ext cx="2212399" cy="215444"/>
          </a:xfrm>
          <a:prstGeom prst="rect">
            <a:avLst/>
          </a:prstGeom>
          <a:noFill/>
        </p:spPr>
        <p:txBody>
          <a:bodyPr wrap="square">
            <a:spAutoFit/>
          </a:bodyPr>
          <a:lstStyle/>
          <a:p>
            <a:pPr algn="ctr"/>
            <a:r>
              <a:rPr lang="en-US" sz="800" dirty="0">
                <a:solidFill>
                  <a:schemeClr val="bg1"/>
                </a:solidFill>
              </a:rPr>
              <a:t>Your school’s jury email &amp; phone number</a:t>
            </a:r>
          </a:p>
        </p:txBody>
      </p:sp>
      <p:sp>
        <p:nvSpPr>
          <p:cNvPr id="5" name="Rounded Rectangle 4">
            <a:extLst>
              <a:ext uri="{FF2B5EF4-FFF2-40B4-BE49-F238E27FC236}">
                <a16:creationId xmlns:a16="http://schemas.microsoft.com/office/drawing/2014/main" id="{D2F11981-4498-9EA8-A470-B6EBCECB5B5B}"/>
              </a:ext>
            </a:extLst>
          </p:cNvPr>
          <p:cNvSpPr/>
          <p:nvPr userDrawn="1"/>
        </p:nvSpPr>
        <p:spPr>
          <a:xfrm>
            <a:off x="151978" y="5590990"/>
            <a:ext cx="650096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INTRODUCE YOUR TEAM</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4D8AE8B4-F569-4796-7BCD-058CEF157B1B}"/>
              </a:ext>
            </a:extLst>
          </p:cNvPr>
          <p:cNvSpPr txBox="1"/>
          <p:nvPr userDrawn="1"/>
        </p:nvSpPr>
        <p:spPr>
          <a:xfrm>
            <a:off x="151976" y="5913007"/>
            <a:ext cx="6500961" cy="215444"/>
          </a:xfrm>
          <a:prstGeom prst="rect">
            <a:avLst/>
          </a:prstGeom>
          <a:noFill/>
        </p:spPr>
        <p:txBody>
          <a:bodyPr wrap="square">
            <a:spAutoFit/>
          </a:bodyPr>
          <a:lstStyle/>
          <a:p>
            <a:pPr algn="ctr"/>
            <a:r>
              <a:rPr lang="en-US" sz="800" dirty="0">
                <a:solidFill>
                  <a:schemeClr val="bg1"/>
                </a:solidFill>
                <a:latin typeface="Arial" panose="020B0604020202020204" pitchFamily="34" charset="0"/>
                <a:cs typeface="Arial" panose="020B0604020202020204" pitchFamily="34" charset="0"/>
              </a:rPr>
              <a:t>Tell us about your team: first name, age, favorite game. No personal information (e.g., last name, birth date, or photos). </a:t>
            </a:r>
            <a:r>
              <a:rPr lang="en-US" sz="800" b="1" dirty="0">
                <a:solidFill>
                  <a:schemeClr val="bg1"/>
                </a:solidFill>
                <a:latin typeface="Arial" panose="020B0604020202020204" pitchFamily="34" charset="0"/>
                <a:cs typeface="Arial" panose="020B0604020202020204" pitchFamily="34" charset="0"/>
              </a:rPr>
              <a:t>Max</a:t>
            </a:r>
            <a:r>
              <a:rPr lang="en-US" sz="800" dirty="0">
                <a:solidFill>
                  <a:schemeClr val="bg1"/>
                </a:solidFill>
                <a:latin typeface="Arial" panose="020B0604020202020204" pitchFamily="34" charset="0"/>
                <a:cs typeface="Arial" panose="020B0604020202020204" pitchFamily="34" charset="0"/>
              </a:rPr>
              <a:t> </a:t>
            </a:r>
            <a:r>
              <a:rPr lang="en-US" sz="800" b="1" dirty="0">
                <a:solidFill>
                  <a:schemeClr val="bg1"/>
                </a:solidFill>
                <a:latin typeface="Arial" panose="020B0604020202020204" pitchFamily="34" charset="0"/>
                <a:cs typeface="Arial" panose="020B0604020202020204" pitchFamily="34" charset="0"/>
              </a:rPr>
              <a:t>250 words</a:t>
            </a:r>
            <a:r>
              <a:rPr lang="en-US" sz="8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74096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517D69EA-653D-EDC7-DABA-D1C921D6477A}"/>
              </a:ext>
            </a:extLst>
          </p:cNvPr>
          <p:cNvPicPr>
            <a:picLocks noChangeAspect="1"/>
          </p:cNvPicPr>
          <p:nvPr userDrawn="1"/>
        </p:nvPicPr>
        <p:blipFill>
          <a:blip r:embed="rId2"/>
          <a:stretch>
            <a:fillRect/>
          </a:stretch>
        </p:blipFill>
        <p:spPr>
          <a:xfrm>
            <a:off x="-53079" y="-53118"/>
            <a:ext cx="6911080" cy="9959118"/>
          </a:xfrm>
          <a:prstGeom prst="rect">
            <a:avLst/>
          </a:prstGeom>
        </p:spPr>
      </p:pic>
      <p:sp>
        <p:nvSpPr>
          <p:cNvPr id="6" name="Rounded Rectangle 5">
            <a:extLst>
              <a:ext uri="{FF2B5EF4-FFF2-40B4-BE49-F238E27FC236}">
                <a16:creationId xmlns:a16="http://schemas.microsoft.com/office/drawing/2014/main" id="{D4ACE114-336D-CE94-3AED-7BDBA9A9B3B4}"/>
              </a:ext>
            </a:extLst>
          </p:cNvPr>
          <p:cNvSpPr/>
          <p:nvPr userDrawn="1"/>
        </p:nvSpPr>
        <p:spPr>
          <a:xfrm>
            <a:off x="151980" y="159984"/>
            <a:ext cx="3119243" cy="229884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latin typeface="Arial" panose="020B0604020202020204" pitchFamily="34" charset="0"/>
              <a:cs typeface="Arial" panose="020B0604020202020204" pitchFamily="34" charset="0"/>
            </a:endParaRPr>
          </a:p>
          <a:p>
            <a:endParaRPr lang="en-US" sz="1400" dirty="0">
              <a:solidFill>
                <a:schemeClr val="tx1"/>
              </a:solidFill>
              <a:latin typeface="Arial" panose="020B0604020202020204" pitchFamily="34" charset="0"/>
              <a:cs typeface="Arial" panose="020B0604020202020204" pitchFamily="34" charset="0"/>
            </a:endParaRPr>
          </a:p>
          <a:p>
            <a:r>
              <a:rPr lang="en-US" sz="1400" dirty="0">
                <a:solidFill>
                  <a:schemeClr val="tx1"/>
                </a:solidFill>
                <a:latin typeface="Arial" panose="020B0604020202020204" pitchFamily="34" charset="0"/>
                <a:cs typeface="Arial" panose="020B0604020202020204" pitchFamily="34" charset="0"/>
              </a:rPr>
              <a:t>            Platformer</a:t>
            </a:r>
          </a:p>
          <a:p>
            <a:r>
              <a:rPr lang="en-US" sz="1400" dirty="0">
                <a:solidFill>
                  <a:schemeClr val="tx1"/>
                </a:solidFill>
                <a:latin typeface="Arial" panose="020B0604020202020204" pitchFamily="34" charset="0"/>
                <a:cs typeface="Arial" panose="020B0604020202020204" pitchFamily="34" charset="0"/>
              </a:rPr>
              <a:t>            Puzzle</a:t>
            </a:r>
          </a:p>
          <a:p>
            <a:r>
              <a:rPr lang="en-US" sz="1400" dirty="0">
                <a:solidFill>
                  <a:schemeClr val="tx1"/>
                </a:solidFill>
                <a:latin typeface="Arial" panose="020B0604020202020204" pitchFamily="34" charset="0"/>
                <a:cs typeface="Arial" panose="020B0604020202020204" pitchFamily="34" charset="0"/>
              </a:rPr>
              <a:t>            RPG</a:t>
            </a:r>
          </a:p>
          <a:p>
            <a:r>
              <a:rPr lang="en-US" sz="1400" dirty="0">
                <a:solidFill>
                  <a:schemeClr val="tx1"/>
                </a:solidFill>
                <a:latin typeface="Arial" panose="020B0604020202020204" pitchFamily="34" charset="0"/>
                <a:cs typeface="Arial" panose="020B0604020202020204" pitchFamily="34" charset="0"/>
              </a:rPr>
              <a:t>            Strategy</a:t>
            </a:r>
          </a:p>
          <a:p>
            <a:r>
              <a:rPr lang="en-US" sz="1400" dirty="0">
                <a:solidFill>
                  <a:schemeClr val="tx1"/>
                </a:solidFill>
                <a:latin typeface="Arial" panose="020B0604020202020204" pitchFamily="34" charset="0"/>
                <a:cs typeface="Arial" panose="020B0604020202020204" pitchFamily="34" charset="0"/>
              </a:rPr>
              <a:t>            Racing</a:t>
            </a:r>
          </a:p>
          <a:p>
            <a:r>
              <a:rPr lang="en-US" sz="1400" dirty="0">
                <a:solidFill>
                  <a:schemeClr val="tx1"/>
                </a:solidFill>
                <a:latin typeface="Arial" panose="020B0604020202020204" pitchFamily="34" charset="0"/>
                <a:cs typeface="Arial" panose="020B0604020202020204" pitchFamily="34" charset="0"/>
              </a:rPr>
              <a:t>      Other: ____________________</a:t>
            </a:r>
          </a:p>
        </p:txBody>
      </p:sp>
      <p:sp>
        <p:nvSpPr>
          <p:cNvPr id="7" name="Rectangle 6">
            <a:extLst>
              <a:ext uri="{FF2B5EF4-FFF2-40B4-BE49-F238E27FC236}">
                <a16:creationId xmlns:a16="http://schemas.microsoft.com/office/drawing/2014/main" id="{48B106A3-C64F-AB0C-E87B-7B8CC55AA48B}"/>
              </a:ext>
            </a:extLst>
          </p:cNvPr>
          <p:cNvSpPr/>
          <p:nvPr userDrawn="1"/>
        </p:nvSpPr>
        <p:spPr>
          <a:xfrm>
            <a:off x="559324" y="916022"/>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8" name="Rectangle 7">
            <a:extLst>
              <a:ext uri="{FF2B5EF4-FFF2-40B4-BE49-F238E27FC236}">
                <a16:creationId xmlns:a16="http://schemas.microsoft.com/office/drawing/2014/main" id="{24DEABFA-4FF5-10B5-4438-C7AA3F0D70BC}"/>
              </a:ext>
            </a:extLst>
          </p:cNvPr>
          <p:cNvSpPr/>
          <p:nvPr userDrawn="1"/>
        </p:nvSpPr>
        <p:spPr>
          <a:xfrm>
            <a:off x="559324" y="1127498"/>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9" name="Rectangle 8">
            <a:extLst>
              <a:ext uri="{FF2B5EF4-FFF2-40B4-BE49-F238E27FC236}">
                <a16:creationId xmlns:a16="http://schemas.microsoft.com/office/drawing/2014/main" id="{4BE8B126-32AC-D3EB-C67A-E988C6DA53B6}"/>
              </a:ext>
            </a:extLst>
          </p:cNvPr>
          <p:cNvSpPr/>
          <p:nvPr userDrawn="1"/>
        </p:nvSpPr>
        <p:spPr>
          <a:xfrm>
            <a:off x="559324" y="1338973"/>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0" name="Rectangle 9">
            <a:extLst>
              <a:ext uri="{FF2B5EF4-FFF2-40B4-BE49-F238E27FC236}">
                <a16:creationId xmlns:a16="http://schemas.microsoft.com/office/drawing/2014/main" id="{5B2F234A-2B8F-EFAA-1952-080A1B2DEA7A}"/>
              </a:ext>
            </a:extLst>
          </p:cNvPr>
          <p:cNvSpPr/>
          <p:nvPr userDrawn="1"/>
        </p:nvSpPr>
        <p:spPr>
          <a:xfrm>
            <a:off x="559324" y="1550448"/>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1" name="Rectangle 10">
            <a:extLst>
              <a:ext uri="{FF2B5EF4-FFF2-40B4-BE49-F238E27FC236}">
                <a16:creationId xmlns:a16="http://schemas.microsoft.com/office/drawing/2014/main" id="{8134C917-283E-B2E0-A056-F1F460D17DCA}"/>
              </a:ext>
            </a:extLst>
          </p:cNvPr>
          <p:cNvSpPr/>
          <p:nvPr userDrawn="1"/>
        </p:nvSpPr>
        <p:spPr>
          <a:xfrm>
            <a:off x="559324" y="1761924"/>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3" name="Rounded Rectangle 12">
            <a:extLst>
              <a:ext uri="{FF2B5EF4-FFF2-40B4-BE49-F238E27FC236}">
                <a16:creationId xmlns:a16="http://schemas.microsoft.com/office/drawing/2014/main" id="{6F9687BB-B9B4-7D93-FA8D-1BD286A43DDA}"/>
              </a:ext>
            </a:extLst>
          </p:cNvPr>
          <p:cNvSpPr/>
          <p:nvPr userDrawn="1"/>
        </p:nvSpPr>
        <p:spPr>
          <a:xfrm>
            <a:off x="151979" y="159983"/>
            <a:ext cx="3119243" cy="583891"/>
          </a:xfrm>
          <a:prstGeom prst="roundRect">
            <a:avLst>
              <a:gd name="adj" fmla="val 5916"/>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GENRE</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47FC33E9-241B-F49C-E319-51BA8D78B627}"/>
              </a:ext>
            </a:extLst>
          </p:cNvPr>
          <p:cNvSpPr/>
          <p:nvPr userDrawn="1"/>
        </p:nvSpPr>
        <p:spPr>
          <a:xfrm>
            <a:off x="3489820" y="159984"/>
            <a:ext cx="3119245" cy="229884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300"/>
              </a:spcBef>
            </a:pPr>
            <a:r>
              <a:rPr lang="en-US" sz="1400" dirty="0">
                <a:solidFill>
                  <a:schemeClr val="tx1"/>
                </a:solidFill>
                <a:latin typeface="Arial" panose="020B0604020202020204" pitchFamily="34" charset="0"/>
                <a:cs typeface="Arial" panose="020B0604020202020204" pitchFamily="34" charset="0"/>
              </a:rPr>
              <a:t>     </a:t>
            </a:r>
          </a:p>
          <a:p>
            <a:pPr>
              <a:spcBef>
                <a:spcPts val="300"/>
              </a:spcBef>
            </a:pPr>
            <a:r>
              <a:rPr lang="en-US" sz="1400" dirty="0">
                <a:solidFill>
                  <a:schemeClr val="tx1"/>
                </a:solidFill>
                <a:latin typeface="Arial" panose="020B0604020202020204" pitchFamily="34" charset="0"/>
                <a:cs typeface="Arial" panose="020B0604020202020204" pitchFamily="34" charset="0"/>
              </a:rPr>
              <a:t>            4-6 years old</a:t>
            </a:r>
          </a:p>
          <a:p>
            <a:pPr>
              <a:spcBef>
                <a:spcPts val="300"/>
              </a:spcBef>
            </a:pPr>
            <a:r>
              <a:rPr lang="en-US" sz="1400" dirty="0">
                <a:solidFill>
                  <a:schemeClr val="tx1"/>
                </a:solidFill>
                <a:latin typeface="Arial" panose="020B0604020202020204" pitchFamily="34" charset="0"/>
                <a:cs typeface="Arial" panose="020B0604020202020204" pitchFamily="34" charset="0"/>
              </a:rPr>
              <a:t>            7-9 years old</a:t>
            </a:r>
          </a:p>
          <a:p>
            <a:pPr>
              <a:spcBef>
                <a:spcPts val="300"/>
              </a:spcBef>
            </a:pPr>
            <a:r>
              <a:rPr lang="en-US" sz="1400" dirty="0">
                <a:solidFill>
                  <a:schemeClr val="tx1"/>
                </a:solidFill>
                <a:latin typeface="Arial" panose="020B0604020202020204" pitchFamily="34" charset="0"/>
                <a:cs typeface="Arial" panose="020B0604020202020204" pitchFamily="34" charset="0"/>
              </a:rPr>
              <a:t>            10-12 years old</a:t>
            </a:r>
          </a:p>
          <a:p>
            <a:pPr>
              <a:spcBef>
                <a:spcPts val="300"/>
              </a:spcBef>
            </a:pPr>
            <a:r>
              <a:rPr lang="en-US" sz="1400" dirty="0">
                <a:solidFill>
                  <a:schemeClr val="tx1"/>
                </a:solidFill>
                <a:latin typeface="Arial" panose="020B0604020202020204" pitchFamily="34" charset="0"/>
                <a:cs typeface="Arial" panose="020B0604020202020204" pitchFamily="34" charset="0"/>
              </a:rPr>
              <a:t>            13-15 years old</a:t>
            </a:r>
          </a:p>
          <a:p>
            <a:pPr>
              <a:spcBef>
                <a:spcPts val="300"/>
              </a:spcBef>
            </a:pPr>
            <a:r>
              <a:rPr lang="en-US" sz="1400" dirty="0">
                <a:solidFill>
                  <a:schemeClr val="tx1"/>
                </a:solidFill>
                <a:latin typeface="Arial" panose="020B0604020202020204" pitchFamily="34" charset="0"/>
                <a:cs typeface="Arial" panose="020B0604020202020204" pitchFamily="34" charset="0"/>
              </a:rPr>
              <a:t>            16-18 years old</a:t>
            </a:r>
          </a:p>
        </p:txBody>
      </p:sp>
      <p:sp>
        <p:nvSpPr>
          <p:cNvPr id="15" name="Rectangle 14">
            <a:extLst>
              <a:ext uri="{FF2B5EF4-FFF2-40B4-BE49-F238E27FC236}">
                <a16:creationId xmlns:a16="http://schemas.microsoft.com/office/drawing/2014/main" id="{A0292BAD-8091-FF50-B464-4C62553C8851}"/>
              </a:ext>
            </a:extLst>
          </p:cNvPr>
          <p:cNvSpPr/>
          <p:nvPr userDrawn="1"/>
        </p:nvSpPr>
        <p:spPr>
          <a:xfrm>
            <a:off x="3869333" y="871035"/>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6" name="Rectangle 15">
            <a:extLst>
              <a:ext uri="{FF2B5EF4-FFF2-40B4-BE49-F238E27FC236}">
                <a16:creationId xmlns:a16="http://schemas.microsoft.com/office/drawing/2014/main" id="{4DBCAA7D-6722-1256-629E-DC0D46135F66}"/>
              </a:ext>
            </a:extLst>
          </p:cNvPr>
          <p:cNvSpPr/>
          <p:nvPr userDrawn="1"/>
        </p:nvSpPr>
        <p:spPr>
          <a:xfrm>
            <a:off x="3869333" y="1124073"/>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7" name="Rectangle 16">
            <a:extLst>
              <a:ext uri="{FF2B5EF4-FFF2-40B4-BE49-F238E27FC236}">
                <a16:creationId xmlns:a16="http://schemas.microsoft.com/office/drawing/2014/main" id="{6790B790-D4BC-162D-BE9A-048DFEDD5085}"/>
              </a:ext>
            </a:extLst>
          </p:cNvPr>
          <p:cNvSpPr/>
          <p:nvPr userDrawn="1"/>
        </p:nvSpPr>
        <p:spPr>
          <a:xfrm>
            <a:off x="3869333" y="1377111"/>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8" name="Rectangle 17">
            <a:extLst>
              <a:ext uri="{FF2B5EF4-FFF2-40B4-BE49-F238E27FC236}">
                <a16:creationId xmlns:a16="http://schemas.microsoft.com/office/drawing/2014/main" id="{2C887695-2717-A9A8-0FBC-65D83E27ACE4}"/>
              </a:ext>
            </a:extLst>
          </p:cNvPr>
          <p:cNvSpPr/>
          <p:nvPr userDrawn="1"/>
        </p:nvSpPr>
        <p:spPr>
          <a:xfrm>
            <a:off x="3869333" y="1630149"/>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9" name="Rectangle 18">
            <a:extLst>
              <a:ext uri="{FF2B5EF4-FFF2-40B4-BE49-F238E27FC236}">
                <a16:creationId xmlns:a16="http://schemas.microsoft.com/office/drawing/2014/main" id="{E2403A39-891E-075F-BB87-DCA5946A3819}"/>
              </a:ext>
            </a:extLst>
          </p:cNvPr>
          <p:cNvSpPr/>
          <p:nvPr userDrawn="1"/>
        </p:nvSpPr>
        <p:spPr>
          <a:xfrm>
            <a:off x="3869333" y="1883187"/>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0" name="Rounded Rectangle 19">
            <a:extLst>
              <a:ext uri="{FF2B5EF4-FFF2-40B4-BE49-F238E27FC236}">
                <a16:creationId xmlns:a16="http://schemas.microsoft.com/office/drawing/2014/main" id="{00B01FB3-9895-8FF5-287A-273D4366F154}"/>
              </a:ext>
            </a:extLst>
          </p:cNvPr>
          <p:cNvSpPr/>
          <p:nvPr userDrawn="1"/>
        </p:nvSpPr>
        <p:spPr>
          <a:xfrm>
            <a:off x="3489821" y="159983"/>
            <a:ext cx="3119244" cy="583891"/>
          </a:xfrm>
          <a:prstGeom prst="roundRect">
            <a:avLst>
              <a:gd name="adj" fmla="val 4318"/>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AUDIENCE</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28" name="Rounded Rectangle 27">
            <a:extLst>
              <a:ext uri="{FF2B5EF4-FFF2-40B4-BE49-F238E27FC236}">
                <a16:creationId xmlns:a16="http://schemas.microsoft.com/office/drawing/2014/main" id="{761EE38A-2CD7-9E3B-460C-4F19F192A533}"/>
              </a:ext>
            </a:extLst>
          </p:cNvPr>
          <p:cNvSpPr/>
          <p:nvPr userDrawn="1"/>
        </p:nvSpPr>
        <p:spPr>
          <a:xfrm>
            <a:off x="151977" y="2754948"/>
            <a:ext cx="6457091" cy="5623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GAME TITLE:</a:t>
            </a:r>
          </a:p>
        </p:txBody>
      </p:sp>
      <p:sp>
        <p:nvSpPr>
          <p:cNvPr id="29" name="Rounded Rectangle 28">
            <a:extLst>
              <a:ext uri="{FF2B5EF4-FFF2-40B4-BE49-F238E27FC236}">
                <a16:creationId xmlns:a16="http://schemas.microsoft.com/office/drawing/2014/main" id="{85F0D0B8-8EC1-E751-41B5-015F094F814C}"/>
              </a:ext>
            </a:extLst>
          </p:cNvPr>
          <p:cNvSpPr/>
          <p:nvPr userDrawn="1"/>
        </p:nvSpPr>
        <p:spPr>
          <a:xfrm>
            <a:off x="151976" y="2754947"/>
            <a:ext cx="25813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EDUCATIONAL TOPIC(S)</a:t>
            </a:r>
          </a:p>
          <a:p>
            <a:pPr algn="ctr"/>
            <a:endParaRPr lang="en-US" sz="700" b="1" dirty="0">
              <a:solidFill>
                <a:schemeClr val="bg1"/>
              </a:solidFill>
              <a:latin typeface="Arial" panose="020B0604020202020204" pitchFamily="34" charset="0"/>
              <a:cs typeface="Arial" panose="020B0604020202020204" pitchFamily="34" charset="0"/>
            </a:endParaRPr>
          </a:p>
        </p:txBody>
      </p:sp>
      <p:sp>
        <p:nvSpPr>
          <p:cNvPr id="30" name="Rounded Rectangle 29">
            <a:extLst>
              <a:ext uri="{FF2B5EF4-FFF2-40B4-BE49-F238E27FC236}">
                <a16:creationId xmlns:a16="http://schemas.microsoft.com/office/drawing/2014/main" id="{3C87AF74-9E95-D772-AC69-A18841CAA87A}"/>
              </a:ext>
            </a:extLst>
          </p:cNvPr>
          <p:cNvSpPr/>
          <p:nvPr userDrawn="1"/>
        </p:nvSpPr>
        <p:spPr>
          <a:xfrm>
            <a:off x="151977" y="3589880"/>
            <a:ext cx="6457091" cy="1954857"/>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dirty="0">
              <a:solidFill>
                <a:schemeClr val="tx1"/>
              </a:solidFill>
            </a:endParaRPr>
          </a:p>
        </p:txBody>
      </p:sp>
      <p:sp>
        <p:nvSpPr>
          <p:cNvPr id="31" name="Rounded Rectangle 30">
            <a:extLst>
              <a:ext uri="{FF2B5EF4-FFF2-40B4-BE49-F238E27FC236}">
                <a16:creationId xmlns:a16="http://schemas.microsoft.com/office/drawing/2014/main" id="{1DE579A6-1890-8B8C-A034-3D23C9D846DE}"/>
              </a:ext>
            </a:extLst>
          </p:cNvPr>
          <p:cNvSpPr/>
          <p:nvPr userDrawn="1"/>
        </p:nvSpPr>
        <p:spPr>
          <a:xfrm>
            <a:off x="151977" y="3589880"/>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ELEVATOR PITCH</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32" name="Rounded Rectangle 31">
            <a:extLst>
              <a:ext uri="{FF2B5EF4-FFF2-40B4-BE49-F238E27FC236}">
                <a16:creationId xmlns:a16="http://schemas.microsoft.com/office/drawing/2014/main" id="{3CC8AD09-118E-DF1A-BFD3-88442958F43D}"/>
              </a:ext>
            </a:extLst>
          </p:cNvPr>
          <p:cNvSpPr/>
          <p:nvPr userDrawn="1"/>
        </p:nvSpPr>
        <p:spPr>
          <a:xfrm>
            <a:off x="151975" y="5781361"/>
            <a:ext cx="6457091" cy="183037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dirty="0">
              <a:solidFill>
                <a:schemeClr val="tx1"/>
              </a:solidFill>
            </a:endParaRPr>
          </a:p>
        </p:txBody>
      </p:sp>
      <p:sp>
        <p:nvSpPr>
          <p:cNvPr id="33" name="Rounded Rectangle 32">
            <a:extLst>
              <a:ext uri="{FF2B5EF4-FFF2-40B4-BE49-F238E27FC236}">
                <a16:creationId xmlns:a16="http://schemas.microsoft.com/office/drawing/2014/main" id="{27CE5BFC-C872-537F-375E-C7A61EBD4DDE}"/>
              </a:ext>
            </a:extLst>
          </p:cNvPr>
          <p:cNvSpPr/>
          <p:nvPr userDrawn="1"/>
        </p:nvSpPr>
        <p:spPr>
          <a:xfrm>
            <a:off x="151975" y="5781360"/>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LEARNING OBJECTIVES</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E905D54D-04C7-EEEC-2985-9629CC62C04F}"/>
              </a:ext>
            </a:extLst>
          </p:cNvPr>
          <p:cNvSpPr txBox="1"/>
          <p:nvPr userDrawn="1"/>
        </p:nvSpPr>
        <p:spPr>
          <a:xfrm>
            <a:off x="151975" y="6088176"/>
            <a:ext cx="6457090" cy="220178"/>
          </a:xfrm>
          <a:prstGeom prst="rect">
            <a:avLst/>
          </a:prstGeom>
          <a:noFill/>
        </p:spPr>
        <p:txBody>
          <a:bodyPr wrap="square">
            <a:spAutoFit/>
          </a:bodyPr>
          <a:lstStyle/>
          <a:p>
            <a:pPr algn="ctr"/>
            <a:r>
              <a:rPr lang="en-US" sz="800" dirty="0">
                <a:solidFill>
                  <a:schemeClr val="bg1"/>
                </a:solidFill>
              </a:rPr>
              <a:t>What specific skills/knowledge will players will players gain? Be specific and measurable! </a:t>
            </a:r>
            <a:r>
              <a:rPr lang="en-US" sz="800" b="1" dirty="0">
                <a:solidFill>
                  <a:schemeClr val="bg1"/>
                </a:solidFill>
              </a:rPr>
              <a:t>Max 1 line per answer</a:t>
            </a:r>
            <a:r>
              <a:rPr lang="en-US" sz="800" dirty="0">
                <a:solidFill>
                  <a:schemeClr val="bg1"/>
                </a:solidFill>
              </a:rPr>
              <a:t>.</a:t>
            </a:r>
          </a:p>
        </p:txBody>
      </p:sp>
      <p:sp>
        <p:nvSpPr>
          <p:cNvPr id="35" name="TextBox 34">
            <a:extLst>
              <a:ext uri="{FF2B5EF4-FFF2-40B4-BE49-F238E27FC236}">
                <a16:creationId xmlns:a16="http://schemas.microsoft.com/office/drawing/2014/main" id="{1D429D11-020D-EB84-BBD0-FCF7A226B9CD}"/>
              </a:ext>
            </a:extLst>
          </p:cNvPr>
          <p:cNvSpPr txBox="1"/>
          <p:nvPr userDrawn="1"/>
        </p:nvSpPr>
        <p:spPr>
          <a:xfrm>
            <a:off x="151975" y="3911897"/>
            <a:ext cx="6457091" cy="215444"/>
          </a:xfrm>
          <a:prstGeom prst="rect">
            <a:avLst/>
          </a:prstGeom>
          <a:noFill/>
        </p:spPr>
        <p:txBody>
          <a:bodyPr wrap="square">
            <a:spAutoFit/>
          </a:bodyPr>
          <a:lstStyle/>
          <a:p>
            <a:pPr algn="ctr"/>
            <a:r>
              <a:rPr lang="en-US" sz="800" dirty="0">
                <a:solidFill>
                  <a:schemeClr val="bg1"/>
                </a:solidFill>
              </a:rPr>
              <a:t>What type of game is this? What do players do? How do they learn? What makes it special? </a:t>
            </a:r>
            <a:r>
              <a:rPr lang="en-US" sz="800" b="1" dirty="0">
                <a:solidFill>
                  <a:schemeClr val="bg1"/>
                </a:solidFill>
              </a:rPr>
              <a:t>Max</a:t>
            </a:r>
            <a:r>
              <a:rPr lang="en-US" sz="800" dirty="0">
                <a:solidFill>
                  <a:schemeClr val="bg1"/>
                </a:solidFill>
              </a:rPr>
              <a:t> </a:t>
            </a:r>
            <a:r>
              <a:rPr lang="en-US" sz="800" b="1" dirty="0">
                <a:solidFill>
                  <a:schemeClr val="bg1"/>
                </a:solidFill>
              </a:rPr>
              <a:t>100 words</a:t>
            </a:r>
            <a:r>
              <a:rPr lang="en-US" sz="800" dirty="0">
                <a:solidFill>
                  <a:schemeClr val="bg1"/>
                </a:solidFill>
              </a:rPr>
              <a:t>.</a:t>
            </a:r>
          </a:p>
        </p:txBody>
      </p:sp>
      <p:sp>
        <p:nvSpPr>
          <p:cNvPr id="36" name="TextBox 35">
            <a:extLst>
              <a:ext uri="{FF2B5EF4-FFF2-40B4-BE49-F238E27FC236}">
                <a16:creationId xmlns:a16="http://schemas.microsoft.com/office/drawing/2014/main" id="{0DB7A2A7-48CC-1639-C3A3-757CE135CAB7}"/>
              </a:ext>
            </a:extLst>
          </p:cNvPr>
          <p:cNvSpPr txBox="1"/>
          <p:nvPr userDrawn="1"/>
        </p:nvSpPr>
        <p:spPr>
          <a:xfrm>
            <a:off x="149736" y="3101858"/>
            <a:ext cx="2581391" cy="215444"/>
          </a:xfrm>
          <a:prstGeom prst="rect">
            <a:avLst/>
          </a:prstGeom>
          <a:noFill/>
        </p:spPr>
        <p:txBody>
          <a:bodyPr wrap="square">
            <a:spAutoFit/>
          </a:bodyPr>
          <a:lstStyle/>
          <a:p>
            <a:pPr algn="ctr"/>
            <a:r>
              <a:rPr lang="en-US" sz="800" dirty="0">
                <a:solidFill>
                  <a:schemeClr val="bg1"/>
                </a:solidFill>
              </a:rPr>
              <a:t>Mathematics, Geography, etc</a:t>
            </a:r>
          </a:p>
        </p:txBody>
      </p:sp>
      <p:sp>
        <p:nvSpPr>
          <p:cNvPr id="37" name="TextBox 36">
            <a:extLst>
              <a:ext uri="{FF2B5EF4-FFF2-40B4-BE49-F238E27FC236}">
                <a16:creationId xmlns:a16="http://schemas.microsoft.com/office/drawing/2014/main" id="{D5150228-E69C-F7C9-D3F2-3D0A3237659F}"/>
              </a:ext>
            </a:extLst>
          </p:cNvPr>
          <p:cNvSpPr txBox="1"/>
          <p:nvPr userDrawn="1"/>
        </p:nvSpPr>
        <p:spPr>
          <a:xfrm>
            <a:off x="200453" y="6425450"/>
            <a:ext cx="6457090" cy="1169551"/>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1.</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2.</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 </a:t>
            </a:r>
          </a:p>
        </p:txBody>
      </p:sp>
      <p:sp>
        <p:nvSpPr>
          <p:cNvPr id="38" name="Rounded Rectangle 37">
            <a:extLst>
              <a:ext uri="{FF2B5EF4-FFF2-40B4-BE49-F238E27FC236}">
                <a16:creationId xmlns:a16="http://schemas.microsoft.com/office/drawing/2014/main" id="{59E11404-9A78-7235-2FA6-F2C4FB78EAEC}"/>
              </a:ext>
            </a:extLst>
          </p:cNvPr>
          <p:cNvSpPr/>
          <p:nvPr userDrawn="1"/>
        </p:nvSpPr>
        <p:spPr>
          <a:xfrm>
            <a:off x="151975" y="7866518"/>
            <a:ext cx="6457091" cy="183037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dirty="0">
              <a:solidFill>
                <a:schemeClr val="tx1"/>
              </a:solidFill>
            </a:endParaRPr>
          </a:p>
        </p:txBody>
      </p:sp>
      <p:sp>
        <p:nvSpPr>
          <p:cNvPr id="39" name="Rounded Rectangle 38">
            <a:extLst>
              <a:ext uri="{FF2B5EF4-FFF2-40B4-BE49-F238E27FC236}">
                <a16:creationId xmlns:a16="http://schemas.microsoft.com/office/drawing/2014/main" id="{4A5B8614-8E33-73ED-350A-8182496E010D}"/>
              </a:ext>
            </a:extLst>
          </p:cNvPr>
          <p:cNvSpPr/>
          <p:nvPr userDrawn="1"/>
        </p:nvSpPr>
        <p:spPr>
          <a:xfrm>
            <a:off x="151975" y="7866517"/>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HOW IT TEACHES</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4CB6C0CB-8A97-D91A-2659-622FE1CC60CD}"/>
              </a:ext>
            </a:extLst>
          </p:cNvPr>
          <p:cNvSpPr txBox="1"/>
          <p:nvPr userDrawn="1"/>
        </p:nvSpPr>
        <p:spPr>
          <a:xfrm>
            <a:off x="151975" y="8189099"/>
            <a:ext cx="6457090" cy="215444"/>
          </a:xfrm>
          <a:prstGeom prst="rect">
            <a:avLst/>
          </a:prstGeom>
          <a:noFill/>
        </p:spPr>
        <p:txBody>
          <a:bodyPr wrap="square">
            <a:spAutoFit/>
          </a:bodyPr>
          <a:lstStyle/>
          <a:p>
            <a:pPr algn="ctr"/>
            <a:r>
              <a:rPr lang="en-US" sz="800" dirty="0">
                <a:solidFill>
                  <a:schemeClr val="bg1"/>
                </a:solidFill>
              </a:rPr>
              <a:t>How does learning happen </a:t>
            </a:r>
            <a:r>
              <a:rPr lang="en-US" sz="800" b="1" dirty="0">
                <a:solidFill>
                  <a:schemeClr val="bg1"/>
                </a:solidFill>
              </a:rPr>
              <a:t>through</a:t>
            </a:r>
            <a:r>
              <a:rPr lang="en-US" sz="800" dirty="0">
                <a:solidFill>
                  <a:schemeClr val="bg1"/>
                </a:solidFill>
              </a:rPr>
              <a:t> gameplay? </a:t>
            </a:r>
            <a:r>
              <a:rPr lang="en-US" sz="800" b="1" dirty="0">
                <a:solidFill>
                  <a:schemeClr val="bg1"/>
                </a:solidFill>
              </a:rPr>
              <a:t>Max 1 line per answer</a:t>
            </a:r>
            <a:r>
              <a:rPr lang="en-US" sz="800" dirty="0">
                <a:solidFill>
                  <a:schemeClr val="bg1"/>
                </a:solidFill>
              </a:rPr>
              <a:t>.</a:t>
            </a:r>
          </a:p>
        </p:txBody>
      </p:sp>
      <p:sp>
        <p:nvSpPr>
          <p:cNvPr id="41" name="TextBox 40">
            <a:extLst>
              <a:ext uri="{FF2B5EF4-FFF2-40B4-BE49-F238E27FC236}">
                <a16:creationId xmlns:a16="http://schemas.microsoft.com/office/drawing/2014/main" id="{C49D34C5-11D0-C9F9-FFB3-E8711CA4D92D}"/>
              </a:ext>
            </a:extLst>
          </p:cNvPr>
          <p:cNvSpPr txBox="1"/>
          <p:nvPr userDrawn="1"/>
        </p:nvSpPr>
        <p:spPr>
          <a:xfrm>
            <a:off x="200453" y="8522482"/>
            <a:ext cx="6457090" cy="1169551"/>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1.</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2.</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66A908A7-D38F-B8D7-FAC8-601F0B35D85D}"/>
              </a:ext>
            </a:extLst>
          </p:cNvPr>
          <p:cNvSpPr txBox="1"/>
          <p:nvPr userDrawn="1"/>
        </p:nvSpPr>
        <p:spPr>
          <a:xfrm>
            <a:off x="149737" y="513027"/>
            <a:ext cx="3119242" cy="215444"/>
          </a:xfrm>
          <a:prstGeom prst="rect">
            <a:avLst/>
          </a:prstGeom>
          <a:noFill/>
        </p:spPr>
        <p:txBody>
          <a:bodyPr wrap="square">
            <a:spAutoFit/>
          </a:bodyPr>
          <a:lstStyle/>
          <a:p>
            <a:pPr algn="ctr"/>
            <a:r>
              <a:rPr lang="en-US" sz="800" dirty="0">
                <a:solidFill>
                  <a:schemeClr val="bg1"/>
                </a:solidFill>
              </a:rPr>
              <a:t>The type of game</a:t>
            </a:r>
          </a:p>
        </p:txBody>
      </p:sp>
      <p:sp>
        <p:nvSpPr>
          <p:cNvPr id="51" name="TextBox 50">
            <a:extLst>
              <a:ext uri="{FF2B5EF4-FFF2-40B4-BE49-F238E27FC236}">
                <a16:creationId xmlns:a16="http://schemas.microsoft.com/office/drawing/2014/main" id="{8EF4BAB5-68A6-FA70-C9B0-4557C7C2836B}"/>
              </a:ext>
            </a:extLst>
          </p:cNvPr>
          <p:cNvSpPr txBox="1"/>
          <p:nvPr userDrawn="1"/>
        </p:nvSpPr>
        <p:spPr>
          <a:xfrm>
            <a:off x="3489819" y="521328"/>
            <a:ext cx="3119243" cy="215444"/>
          </a:xfrm>
          <a:prstGeom prst="rect">
            <a:avLst/>
          </a:prstGeom>
          <a:noFill/>
        </p:spPr>
        <p:txBody>
          <a:bodyPr wrap="square">
            <a:spAutoFit/>
          </a:bodyPr>
          <a:lstStyle/>
          <a:p>
            <a:pPr algn="ctr"/>
            <a:r>
              <a:rPr lang="en-US" sz="800" dirty="0">
                <a:solidFill>
                  <a:schemeClr val="bg1"/>
                </a:solidFill>
              </a:rPr>
              <a:t>Who will play your game</a:t>
            </a:r>
          </a:p>
        </p:txBody>
      </p:sp>
    </p:spTree>
    <p:extLst>
      <p:ext uri="{BB962C8B-B14F-4D97-AF65-F5344CB8AC3E}">
        <p14:creationId xmlns:p14="http://schemas.microsoft.com/office/powerpoint/2010/main" val="3679907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2D5C0D24-703D-A4B7-55A9-5A80B59C76D6}"/>
              </a:ext>
            </a:extLst>
          </p:cNvPr>
          <p:cNvPicPr>
            <a:picLocks noChangeAspect="1"/>
          </p:cNvPicPr>
          <p:nvPr userDrawn="1"/>
        </p:nvPicPr>
        <p:blipFill>
          <a:blip r:embed="rId2"/>
          <a:stretch>
            <a:fillRect/>
          </a:stretch>
        </p:blipFill>
        <p:spPr>
          <a:xfrm>
            <a:off x="-53079" y="-53118"/>
            <a:ext cx="6911080" cy="9959118"/>
          </a:xfrm>
          <a:prstGeom prst="rect">
            <a:avLst/>
          </a:prstGeom>
        </p:spPr>
      </p:pic>
      <p:sp>
        <p:nvSpPr>
          <p:cNvPr id="6" name="Rounded Rectangle 5">
            <a:extLst>
              <a:ext uri="{FF2B5EF4-FFF2-40B4-BE49-F238E27FC236}">
                <a16:creationId xmlns:a16="http://schemas.microsoft.com/office/drawing/2014/main" id="{91A72167-3CFA-5618-1EFE-A6ECA37FE8BA}"/>
              </a:ext>
            </a:extLst>
          </p:cNvPr>
          <p:cNvSpPr/>
          <p:nvPr userDrawn="1"/>
        </p:nvSpPr>
        <p:spPr>
          <a:xfrm>
            <a:off x="199680" y="3058646"/>
            <a:ext cx="6457091" cy="17885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dirty="0">
              <a:solidFill>
                <a:schemeClr val="tx1"/>
              </a:solidFill>
            </a:endParaRPr>
          </a:p>
        </p:txBody>
      </p:sp>
      <p:sp>
        <p:nvSpPr>
          <p:cNvPr id="7" name="TextBox 6">
            <a:extLst>
              <a:ext uri="{FF2B5EF4-FFF2-40B4-BE49-F238E27FC236}">
                <a16:creationId xmlns:a16="http://schemas.microsoft.com/office/drawing/2014/main" id="{A9F5D7F8-5DA6-05D9-5AE9-757F7A9E1A1D}"/>
              </a:ext>
            </a:extLst>
          </p:cNvPr>
          <p:cNvSpPr txBox="1"/>
          <p:nvPr userDrawn="1"/>
        </p:nvSpPr>
        <p:spPr>
          <a:xfrm>
            <a:off x="248158" y="3660916"/>
            <a:ext cx="6457090" cy="1169551"/>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1.</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2.</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 </a:t>
            </a:r>
          </a:p>
        </p:txBody>
      </p:sp>
      <p:sp>
        <p:nvSpPr>
          <p:cNvPr id="8" name="Rounded Rectangle 7">
            <a:extLst>
              <a:ext uri="{FF2B5EF4-FFF2-40B4-BE49-F238E27FC236}">
                <a16:creationId xmlns:a16="http://schemas.microsoft.com/office/drawing/2014/main" id="{7809A626-A324-CECD-1C9D-427672A4EECD}"/>
              </a:ext>
            </a:extLst>
          </p:cNvPr>
          <p:cNvSpPr/>
          <p:nvPr userDrawn="1"/>
        </p:nvSpPr>
        <p:spPr>
          <a:xfrm>
            <a:off x="200454" y="162802"/>
            <a:ext cx="6457091" cy="2696124"/>
          </a:xfrm>
          <a:prstGeom prst="roundRect">
            <a:avLst>
              <a:gd name="adj" fmla="val 1517"/>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4ABDC001-5F71-4199-1DBE-A5F107DA3CF0}"/>
              </a:ext>
            </a:extLst>
          </p:cNvPr>
          <p:cNvSpPr/>
          <p:nvPr userDrawn="1"/>
        </p:nvSpPr>
        <p:spPr>
          <a:xfrm>
            <a:off x="200454" y="162801"/>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CORE GAMEPLAY</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AD04807-ED8D-BA8A-49C1-D4885AD7FEA9}"/>
              </a:ext>
            </a:extLst>
          </p:cNvPr>
          <p:cNvSpPr txBox="1"/>
          <p:nvPr userDrawn="1"/>
        </p:nvSpPr>
        <p:spPr>
          <a:xfrm>
            <a:off x="200452" y="484818"/>
            <a:ext cx="6457091" cy="215444"/>
          </a:xfrm>
          <a:prstGeom prst="rect">
            <a:avLst/>
          </a:prstGeom>
          <a:noFill/>
        </p:spPr>
        <p:txBody>
          <a:bodyPr wrap="square">
            <a:spAutoFit/>
          </a:bodyPr>
          <a:lstStyle/>
          <a:p>
            <a:pPr algn="ctr"/>
            <a:r>
              <a:rPr lang="en-US" sz="800" dirty="0">
                <a:solidFill>
                  <a:schemeClr val="bg1"/>
                </a:solidFill>
              </a:rPr>
              <a:t>What happens in the game? Where does the learning happen? Are there rewards? Use shapes &amp; arrows to build the mechanics. </a:t>
            </a:r>
          </a:p>
        </p:txBody>
      </p:sp>
      <p:sp>
        <p:nvSpPr>
          <p:cNvPr id="11" name="Rounded Rectangle 10">
            <a:extLst>
              <a:ext uri="{FF2B5EF4-FFF2-40B4-BE49-F238E27FC236}">
                <a16:creationId xmlns:a16="http://schemas.microsoft.com/office/drawing/2014/main" id="{6A1D5D71-22A7-0D4B-26FA-A0F76F70C806}"/>
              </a:ext>
            </a:extLst>
          </p:cNvPr>
          <p:cNvSpPr/>
          <p:nvPr userDrawn="1"/>
        </p:nvSpPr>
        <p:spPr>
          <a:xfrm>
            <a:off x="200454" y="3062974"/>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WHY IT’S FUN</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BD15CE0-14B9-B5A6-9BC0-024218DE76B6}"/>
              </a:ext>
            </a:extLst>
          </p:cNvPr>
          <p:cNvSpPr txBox="1"/>
          <p:nvPr userDrawn="1"/>
        </p:nvSpPr>
        <p:spPr>
          <a:xfrm>
            <a:off x="200454" y="3369790"/>
            <a:ext cx="6457090" cy="215444"/>
          </a:xfrm>
          <a:prstGeom prst="rect">
            <a:avLst/>
          </a:prstGeom>
          <a:noFill/>
        </p:spPr>
        <p:txBody>
          <a:bodyPr wrap="square">
            <a:spAutoFit/>
          </a:bodyPr>
          <a:lstStyle/>
          <a:p>
            <a:pPr algn="ctr"/>
            <a:r>
              <a:rPr lang="en-US" sz="800" dirty="0">
                <a:solidFill>
                  <a:schemeClr val="bg1"/>
                </a:solidFill>
              </a:rPr>
              <a:t>What makes players want to keep playing? </a:t>
            </a:r>
            <a:r>
              <a:rPr lang="en-US" sz="800" b="1" dirty="0">
                <a:solidFill>
                  <a:schemeClr val="bg1"/>
                </a:solidFill>
              </a:rPr>
              <a:t>Max 1 line per answer</a:t>
            </a:r>
            <a:r>
              <a:rPr lang="en-US" sz="800" dirty="0">
                <a:solidFill>
                  <a:schemeClr val="bg1"/>
                </a:solidFill>
              </a:rPr>
              <a:t>.</a:t>
            </a:r>
          </a:p>
        </p:txBody>
      </p:sp>
      <p:sp>
        <p:nvSpPr>
          <p:cNvPr id="13" name="Rounded Rectangle 12">
            <a:extLst>
              <a:ext uri="{FF2B5EF4-FFF2-40B4-BE49-F238E27FC236}">
                <a16:creationId xmlns:a16="http://schemas.microsoft.com/office/drawing/2014/main" id="{DAE88020-C761-FEFB-6BFE-4D93A1AB94E8}"/>
              </a:ext>
            </a:extLst>
          </p:cNvPr>
          <p:cNvSpPr/>
          <p:nvPr userDrawn="1"/>
        </p:nvSpPr>
        <p:spPr>
          <a:xfrm>
            <a:off x="200452" y="7611202"/>
            <a:ext cx="4237287" cy="197361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solidFill>
                <a:schemeClr val="tx1"/>
              </a:solidFill>
              <a:latin typeface="Arial" panose="020B0604020202020204" pitchFamily="34" charset="0"/>
              <a:cs typeface="Arial" panose="020B0604020202020204" pitchFamily="34" charset="0"/>
            </a:endParaRPr>
          </a:p>
          <a:p>
            <a:r>
              <a:rPr lang="en-US" sz="1400" b="1" dirty="0">
                <a:solidFill>
                  <a:schemeClr val="tx1"/>
                </a:solidFill>
                <a:latin typeface="Arial" panose="020B0604020202020204" pitchFamily="34" charset="0"/>
                <a:cs typeface="Arial" panose="020B0604020202020204" pitchFamily="34" charset="0"/>
              </a:rPr>
              <a:t>Perspective		      Movement</a:t>
            </a:r>
          </a:p>
          <a:p>
            <a:endParaRPr lang="en-US" sz="300" dirty="0">
              <a:solidFill>
                <a:schemeClr val="tx1"/>
              </a:solidFill>
              <a:latin typeface="Arial" panose="020B0604020202020204" pitchFamily="34" charset="0"/>
              <a:cs typeface="Arial" panose="020B0604020202020204" pitchFamily="34" charset="0"/>
            </a:endParaRPr>
          </a:p>
          <a:p>
            <a:r>
              <a:rPr lang="en-US" sz="1400" dirty="0">
                <a:solidFill>
                  <a:schemeClr val="tx1"/>
                </a:solidFill>
                <a:latin typeface="Arial" panose="020B0604020202020204" pitchFamily="34" charset="0"/>
                <a:cs typeface="Arial" panose="020B0604020202020204" pitchFamily="34" charset="0"/>
              </a:rPr>
              <a:t>      First-person 		            Fixed</a:t>
            </a:r>
          </a:p>
          <a:p>
            <a:r>
              <a:rPr lang="en-US" sz="1400" dirty="0">
                <a:solidFill>
                  <a:schemeClr val="tx1"/>
                </a:solidFill>
                <a:latin typeface="Arial" panose="020B0604020202020204" pitchFamily="34" charset="0"/>
                <a:cs typeface="Arial" panose="020B0604020202020204" pitchFamily="34" charset="0"/>
              </a:rPr>
              <a:t>      Third-person  	            Following</a:t>
            </a:r>
          </a:p>
          <a:p>
            <a:r>
              <a:rPr lang="en-US" sz="1400" dirty="0">
                <a:solidFill>
                  <a:schemeClr val="tx1"/>
                </a:solidFill>
                <a:latin typeface="Arial" panose="020B0604020202020204" pitchFamily="34" charset="0"/>
                <a:cs typeface="Arial" panose="020B0604020202020204" pitchFamily="34" charset="0"/>
              </a:rPr>
              <a:t>      Top-down	  	            Player-controlled</a:t>
            </a:r>
          </a:p>
          <a:p>
            <a:r>
              <a:rPr lang="en-US" sz="1400" dirty="0">
                <a:solidFill>
                  <a:schemeClr val="tx1"/>
                </a:solidFill>
                <a:latin typeface="Arial" panose="020B0604020202020204" pitchFamily="34" charset="0"/>
                <a:cs typeface="Arial" panose="020B0604020202020204" pitchFamily="34" charset="0"/>
              </a:rPr>
              <a:t>      Side-view</a:t>
            </a:r>
          </a:p>
          <a:p>
            <a:r>
              <a:rPr lang="en-US" sz="1400" dirty="0">
                <a:solidFill>
                  <a:schemeClr val="tx1"/>
                </a:solidFill>
                <a:latin typeface="Arial" panose="020B0604020202020204" pitchFamily="34" charset="0"/>
                <a:cs typeface="Arial" panose="020B0604020202020204" pitchFamily="34" charset="0"/>
              </a:rPr>
              <a:t>      Isometric</a:t>
            </a:r>
          </a:p>
        </p:txBody>
      </p:sp>
      <p:sp>
        <p:nvSpPr>
          <p:cNvPr id="14" name="Rectangle 13">
            <a:extLst>
              <a:ext uri="{FF2B5EF4-FFF2-40B4-BE49-F238E27FC236}">
                <a16:creationId xmlns:a16="http://schemas.microsoft.com/office/drawing/2014/main" id="{1E2D2064-2B51-0543-5F87-5C9E86547DDE}"/>
              </a:ext>
            </a:extLst>
          </p:cNvPr>
          <p:cNvSpPr/>
          <p:nvPr userDrawn="1"/>
        </p:nvSpPr>
        <p:spPr>
          <a:xfrm>
            <a:off x="340159" y="8356154"/>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5" name="Rectangle 14">
            <a:extLst>
              <a:ext uri="{FF2B5EF4-FFF2-40B4-BE49-F238E27FC236}">
                <a16:creationId xmlns:a16="http://schemas.microsoft.com/office/drawing/2014/main" id="{DBFA6EF6-1DF0-AA50-8E50-9A3128DE4C9B}"/>
              </a:ext>
            </a:extLst>
          </p:cNvPr>
          <p:cNvSpPr/>
          <p:nvPr userDrawn="1"/>
        </p:nvSpPr>
        <p:spPr>
          <a:xfrm>
            <a:off x="340159" y="8574457"/>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6" name="Rectangle 15">
            <a:extLst>
              <a:ext uri="{FF2B5EF4-FFF2-40B4-BE49-F238E27FC236}">
                <a16:creationId xmlns:a16="http://schemas.microsoft.com/office/drawing/2014/main" id="{F97B606F-C8A4-C6C4-1872-C4024532F141}"/>
              </a:ext>
            </a:extLst>
          </p:cNvPr>
          <p:cNvSpPr/>
          <p:nvPr userDrawn="1"/>
        </p:nvSpPr>
        <p:spPr>
          <a:xfrm>
            <a:off x="340159" y="8792760"/>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7" name="Rectangle 16">
            <a:extLst>
              <a:ext uri="{FF2B5EF4-FFF2-40B4-BE49-F238E27FC236}">
                <a16:creationId xmlns:a16="http://schemas.microsoft.com/office/drawing/2014/main" id="{6A253BE0-7E3C-7EC6-7907-BC597AC94202}"/>
              </a:ext>
            </a:extLst>
          </p:cNvPr>
          <p:cNvSpPr/>
          <p:nvPr userDrawn="1"/>
        </p:nvSpPr>
        <p:spPr>
          <a:xfrm>
            <a:off x="340159" y="9011063"/>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8" name="Rectangle 17">
            <a:extLst>
              <a:ext uri="{FF2B5EF4-FFF2-40B4-BE49-F238E27FC236}">
                <a16:creationId xmlns:a16="http://schemas.microsoft.com/office/drawing/2014/main" id="{47ED2679-C20E-89CA-43BE-A3605651B4D2}"/>
              </a:ext>
            </a:extLst>
          </p:cNvPr>
          <p:cNvSpPr/>
          <p:nvPr userDrawn="1"/>
        </p:nvSpPr>
        <p:spPr>
          <a:xfrm>
            <a:off x="340159" y="9229366"/>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9" name="Rounded Rectangle 18">
            <a:extLst>
              <a:ext uri="{FF2B5EF4-FFF2-40B4-BE49-F238E27FC236}">
                <a16:creationId xmlns:a16="http://schemas.microsoft.com/office/drawing/2014/main" id="{C3023661-1A6B-51E8-C9E1-63DAB95D339F}"/>
              </a:ext>
            </a:extLst>
          </p:cNvPr>
          <p:cNvSpPr/>
          <p:nvPr userDrawn="1"/>
        </p:nvSpPr>
        <p:spPr>
          <a:xfrm>
            <a:off x="200451" y="7378773"/>
            <a:ext cx="4237287" cy="562355"/>
          </a:xfrm>
          <a:prstGeom prst="roundRect">
            <a:avLst>
              <a:gd name="adj" fmla="val 7761"/>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CAMERA</a:t>
            </a:r>
          </a:p>
          <a:p>
            <a:pPr algn="ctr"/>
            <a:endParaRPr lang="en-US" sz="700" b="1" dirty="0">
              <a:solidFill>
                <a:schemeClr val="bg1"/>
              </a:solidFill>
              <a:latin typeface="Arial" panose="020B0604020202020204" pitchFamily="34" charset="0"/>
              <a:cs typeface="Arial" panose="020B0604020202020204" pitchFamily="34" charset="0"/>
            </a:endParaRPr>
          </a:p>
        </p:txBody>
      </p:sp>
      <p:sp>
        <p:nvSpPr>
          <p:cNvPr id="20" name="Rounded Rectangle 19">
            <a:extLst>
              <a:ext uri="{FF2B5EF4-FFF2-40B4-BE49-F238E27FC236}">
                <a16:creationId xmlns:a16="http://schemas.microsoft.com/office/drawing/2014/main" id="{63E3ECB1-D8D9-1CBB-43B8-9759F569D926}"/>
              </a:ext>
            </a:extLst>
          </p:cNvPr>
          <p:cNvSpPr/>
          <p:nvPr userDrawn="1"/>
        </p:nvSpPr>
        <p:spPr>
          <a:xfrm>
            <a:off x="4640065" y="7611202"/>
            <a:ext cx="2017479" cy="197361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dirty="0">
              <a:solidFill>
                <a:schemeClr val="tx1"/>
              </a:solidFill>
              <a:latin typeface="Arial" panose="020B0604020202020204" pitchFamily="34" charset="0"/>
              <a:cs typeface="Arial" panose="020B0604020202020204" pitchFamily="34" charset="0"/>
            </a:endParaRPr>
          </a:p>
          <a:p>
            <a:r>
              <a:rPr lang="en-US" sz="1400" dirty="0">
                <a:solidFill>
                  <a:schemeClr val="tx1"/>
                </a:solidFill>
                <a:latin typeface="Arial" panose="020B0604020202020204" pitchFamily="34" charset="0"/>
                <a:cs typeface="Arial" panose="020B0604020202020204" pitchFamily="34" charset="0"/>
              </a:rPr>
              <a:t>     1-3 buttons</a:t>
            </a:r>
          </a:p>
          <a:p>
            <a:r>
              <a:rPr lang="en-US" sz="1400" dirty="0">
                <a:solidFill>
                  <a:schemeClr val="tx1"/>
                </a:solidFill>
                <a:latin typeface="Arial" panose="020B0604020202020204" pitchFamily="34" charset="0"/>
                <a:cs typeface="Arial" panose="020B0604020202020204" pitchFamily="34" charset="0"/>
              </a:rPr>
              <a:t>     4-6 buttons</a:t>
            </a:r>
          </a:p>
          <a:p>
            <a:r>
              <a:rPr lang="en-US" sz="1400" dirty="0">
                <a:solidFill>
                  <a:schemeClr val="tx1"/>
                </a:solidFill>
                <a:latin typeface="Arial" panose="020B0604020202020204" pitchFamily="34" charset="0"/>
                <a:cs typeface="Arial" panose="020B0604020202020204" pitchFamily="34" charset="0"/>
              </a:rPr>
              <a:t>     7+ buttons</a:t>
            </a:r>
          </a:p>
          <a:p>
            <a:r>
              <a:rPr lang="en-US" sz="1400" dirty="0">
                <a:solidFill>
                  <a:schemeClr val="tx1"/>
                </a:solidFill>
                <a:latin typeface="Arial" panose="020B0604020202020204" pitchFamily="34" charset="0"/>
                <a:cs typeface="Arial" panose="020B0604020202020204" pitchFamily="34" charset="0"/>
              </a:rPr>
              <a:t>     </a:t>
            </a:r>
          </a:p>
          <a:p>
            <a:endParaRPr lang="en-US" sz="1400" dirty="0">
              <a:solidFill>
                <a:schemeClr val="tx1"/>
              </a:solidFill>
              <a:latin typeface="Arial" panose="020B0604020202020204" pitchFamily="34" charset="0"/>
              <a:cs typeface="Arial" panose="020B0604020202020204" pitchFamily="34" charset="0"/>
            </a:endParaRPr>
          </a:p>
          <a:p>
            <a:r>
              <a:rPr lang="en-US" sz="1400" dirty="0">
                <a:solidFill>
                  <a:schemeClr val="tx1"/>
                </a:solidFill>
                <a:latin typeface="Arial" panose="020B0604020202020204" pitchFamily="34" charset="0"/>
                <a:cs typeface="Arial" panose="020B0604020202020204" pitchFamily="34" charset="0"/>
              </a:rPr>
              <a:t>     </a:t>
            </a:r>
          </a:p>
        </p:txBody>
      </p:sp>
      <p:sp>
        <p:nvSpPr>
          <p:cNvPr id="24" name="Rounded Rectangle 23">
            <a:extLst>
              <a:ext uri="{FF2B5EF4-FFF2-40B4-BE49-F238E27FC236}">
                <a16:creationId xmlns:a16="http://schemas.microsoft.com/office/drawing/2014/main" id="{17A04B29-1595-3A7A-1972-0DB36E29E485}"/>
              </a:ext>
            </a:extLst>
          </p:cNvPr>
          <p:cNvSpPr/>
          <p:nvPr userDrawn="1"/>
        </p:nvSpPr>
        <p:spPr>
          <a:xfrm>
            <a:off x="4640064" y="7378773"/>
            <a:ext cx="2017479" cy="562355"/>
          </a:xfrm>
          <a:prstGeom prst="roundRect">
            <a:avLst>
              <a:gd name="adj" fmla="val 6471"/>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CONTROL</a:t>
            </a:r>
          </a:p>
          <a:p>
            <a:pPr algn="ctr"/>
            <a:endParaRPr lang="en-US" sz="700" b="1" dirty="0">
              <a:solidFill>
                <a:schemeClr val="bg1"/>
              </a:solidFill>
              <a:latin typeface="Arial" panose="020B0604020202020204" pitchFamily="34" charset="0"/>
              <a:cs typeface="Arial" panose="020B0604020202020204" pitchFamily="34" charset="0"/>
            </a:endParaRPr>
          </a:p>
        </p:txBody>
      </p:sp>
      <p:sp>
        <p:nvSpPr>
          <p:cNvPr id="25" name="Rounded Rectangle 24">
            <a:extLst>
              <a:ext uri="{FF2B5EF4-FFF2-40B4-BE49-F238E27FC236}">
                <a16:creationId xmlns:a16="http://schemas.microsoft.com/office/drawing/2014/main" id="{6C57B49A-232E-B460-89EE-00D066E11083}"/>
              </a:ext>
            </a:extLst>
          </p:cNvPr>
          <p:cNvSpPr/>
          <p:nvPr userDrawn="1"/>
        </p:nvSpPr>
        <p:spPr>
          <a:xfrm>
            <a:off x="200454" y="5004330"/>
            <a:ext cx="6457091" cy="2187617"/>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latin typeface="Arial" panose="020B0604020202020204" pitchFamily="34" charset="0"/>
              <a:cs typeface="Arial" panose="020B0604020202020204" pitchFamily="34" charset="0"/>
            </a:endParaRPr>
          </a:p>
        </p:txBody>
      </p:sp>
      <p:sp>
        <p:nvSpPr>
          <p:cNvPr id="26" name="Rounded Rectangle 25">
            <a:extLst>
              <a:ext uri="{FF2B5EF4-FFF2-40B4-BE49-F238E27FC236}">
                <a16:creationId xmlns:a16="http://schemas.microsoft.com/office/drawing/2014/main" id="{BA2DC22F-EC8D-1B75-0FD1-4D4589AB0435}"/>
              </a:ext>
            </a:extLst>
          </p:cNvPr>
          <p:cNvSpPr/>
          <p:nvPr userDrawn="1"/>
        </p:nvSpPr>
        <p:spPr>
          <a:xfrm>
            <a:off x="200454" y="4996423"/>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CHARACTER</a:t>
            </a:r>
          </a:p>
          <a:p>
            <a:pPr algn="ctr"/>
            <a:endParaRPr lang="en-US" sz="800" b="1" dirty="0">
              <a:solidFill>
                <a:schemeClr val="bg1"/>
              </a:solidFill>
              <a:latin typeface="Arial" panose="020B0604020202020204" pitchFamily="34" charset="0"/>
              <a:cs typeface="Arial" panose="020B0604020202020204" pitchFamily="34" charset="0"/>
            </a:endParaRPr>
          </a:p>
        </p:txBody>
      </p:sp>
      <p:cxnSp>
        <p:nvCxnSpPr>
          <p:cNvPr id="27" name="Straight Connector 26">
            <a:extLst>
              <a:ext uri="{FF2B5EF4-FFF2-40B4-BE49-F238E27FC236}">
                <a16:creationId xmlns:a16="http://schemas.microsoft.com/office/drawing/2014/main" id="{8AEB0A8D-1B65-BE8B-4703-63FCF7E1BC29}"/>
              </a:ext>
            </a:extLst>
          </p:cNvPr>
          <p:cNvCxnSpPr/>
          <p:nvPr userDrawn="1"/>
        </p:nvCxnSpPr>
        <p:spPr>
          <a:xfrm>
            <a:off x="2270589" y="8192142"/>
            <a:ext cx="0" cy="1263470"/>
          </a:xfrm>
          <a:prstGeom prst="line">
            <a:avLst/>
          </a:prstGeom>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9A4E5A91-8EED-735D-4222-E0A44D37AA88}"/>
              </a:ext>
            </a:extLst>
          </p:cNvPr>
          <p:cNvSpPr/>
          <p:nvPr userDrawn="1"/>
        </p:nvSpPr>
        <p:spPr>
          <a:xfrm>
            <a:off x="2403551" y="8363409"/>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9" name="Rectangle 28">
            <a:extLst>
              <a:ext uri="{FF2B5EF4-FFF2-40B4-BE49-F238E27FC236}">
                <a16:creationId xmlns:a16="http://schemas.microsoft.com/office/drawing/2014/main" id="{EF5FE5D4-7FCD-5613-C670-67DE790F217E}"/>
              </a:ext>
            </a:extLst>
          </p:cNvPr>
          <p:cNvSpPr/>
          <p:nvPr userDrawn="1"/>
        </p:nvSpPr>
        <p:spPr>
          <a:xfrm>
            <a:off x="2403551" y="8580367"/>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0" name="Rectangle 29">
            <a:extLst>
              <a:ext uri="{FF2B5EF4-FFF2-40B4-BE49-F238E27FC236}">
                <a16:creationId xmlns:a16="http://schemas.microsoft.com/office/drawing/2014/main" id="{572E66A2-EA49-AAE1-ABA2-E0A67D4FD632}"/>
              </a:ext>
            </a:extLst>
          </p:cNvPr>
          <p:cNvSpPr/>
          <p:nvPr userDrawn="1"/>
        </p:nvSpPr>
        <p:spPr>
          <a:xfrm>
            <a:off x="2403551" y="8797325"/>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1" name="TextBox 30">
            <a:extLst>
              <a:ext uri="{FF2B5EF4-FFF2-40B4-BE49-F238E27FC236}">
                <a16:creationId xmlns:a16="http://schemas.microsoft.com/office/drawing/2014/main" id="{D0068BD6-A28B-0BBA-50E6-D0E55E7442A8}"/>
              </a:ext>
            </a:extLst>
          </p:cNvPr>
          <p:cNvSpPr txBox="1"/>
          <p:nvPr userDrawn="1"/>
        </p:nvSpPr>
        <p:spPr>
          <a:xfrm>
            <a:off x="200451" y="5340911"/>
            <a:ext cx="6457090" cy="215444"/>
          </a:xfrm>
          <a:prstGeom prst="rect">
            <a:avLst/>
          </a:prstGeom>
          <a:noFill/>
        </p:spPr>
        <p:txBody>
          <a:bodyPr wrap="square">
            <a:spAutoFit/>
          </a:bodyPr>
          <a:lstStyle/>
          <a:p>
            <a:pPr algn="ctr"/>
            <a:r>
              <a:rPr lang="en-US" sz="800" dirty="0">
                <a:solidFill>
                  <a:schemeClr val="bg1"/>
                </a:solidFill>
              </a:rPr>
              <a:t>Who/what? Main abilities? How they progress? </a:t>
            </a:r>
            <a:r>
              <a:rPr lang="en-US" sz="800" b="1" dirty="0">
                <a:solidFill>
                  <a:schemeClr val="bg1"/>
                </a:solidFill>
              </a:rPr>
              <a:t>Max</a:t>
            </a:r>
            <a:r>
              <a:rPr lang="en-US" sz="800" dirty="0">
                <a:solidFill>
                  <a:schemeClr val="bg1"/>
                </a:solidFill>
              </a:rPr>
              <a:t> </a:t>
            </a:r>
            <a:r>
              <a:rPr lang="en-US" sz="800" b="1" dirty="0">
                <a:solidFill>
                  <a:schemeClr val="bg1"/>
                </a:solidFill>
              </a:rPr>
              <a:t>100 words</a:t>
            </a:r>
            <a:r>
              <a:rPr lang="en-US" sz="800" dirty="0">
                <a:solidFill>
                  <a:schemeClr val="bg1"/>
                </a:solidFill>
              </a:rPr>
              <a:t>.</a:t>
            </a:r>
          </a:p>
        </p:txBody>
      </p:sp>
      <p:sp>
        <p:nvSpPr>
          <p:cNvPr id="32" name="TextBox 31">
            <a:extLst>
              <a:ext uri="{FF2B5EF4-FFF2-40B4-BE49-F238E27FC236}">
                <a16:creationId xmlns:a16="http://schemas.microsoft.com/office/drawing/2014/main" id="{097F5CFA-AFD3-BFBB-C63B-D33D30E44FB5}"/>
              </a:ext>
            </a:extLst>
          </p:cNvPr>
          <p:cNvSpPr txBox="1"/>
          <p:nvPr userDrawn="1"/>
        </p:nvSpPr>
        <p:spPr>
          <a:xfrm>
            <a:off x="200451" y="7721356"/>
            <a:ext cx="4237287" cy="215444"/>
          </a:xfrm>
          <a:prstGeom prst="rect">
            <a:avLst/>
          </a:prstGeom>
          <a:noFill/>
        </p:spPr>
        <p:txBody>
          <a:bodyPr wrap="square">
            <a:spAutoFit/>
          </a:bodyPr>
          <a:lstStyle/>
          <a:p>
            <a:pPr algn="ctr"/>
            <a:r>
              <a:rPr lang="en-US" sz="800" dirty="0">
                <a:solidFill>
                  <a:schemeClr val="bg1"/>
                </a:solidFill>
              </a:rPr>
              <a:t>How does the player see the world?</a:t>
            </a:r>
          </a:p>
        </p:txBody>
      </p:sp>
      <p:sp>
        <p:nvSpPr>
          <p:cNvPr id="33" name="TextBox 32">
            <a:extLst>
              <a:ext uri="{FF2B5EF4-FFF2-40B4-BE49-F238E27FC236}">
                <a16:creationId xmlns:a16="http://schemas.microsoft.com/office/drawing/2014/main" id="{72EBB52C-41D3-62F2-F8AD-9FE0F012689C}"/>
              </a:ext>
            </a:extLst>
          </p:cNvPr>
          <p:cNvSpPr txBox="1"/>
          <p:nvPr userDrawn="1"/>
        </p:nvSpPr>
        <p:spPr>
          <a:xfrm>
            <a:off x="4640062" y="7727848"/>
            <a:ext cx="2017480" cy="215444"/>
          </a:xfrm>
          <a:prstGeom prst="rect">
            <a:avLst/>
          </a:prstGeom>
          <a:noFill/>
        </p:spPr>
        <p:txBody>
          <a:bodyPr wrap="square">
            <a:spAutoFit/>
          </a:bodyPr>
          <a:lstStyle/>
          <a:p>
            <a:pPr algn="ctr"/>
            <a:r>
              <a:rPr lang="en-US" sz="800" dirty="0">
                <a:solidFill>
                  <a:schemeClr val="bg1"/>
                </a:solidFill>
              </a:rPr>
              <a:t>How to move or act?</a:t>
            </a:r>
          </a:p>
        </p:txBody>
      </p:sp>
      <p:sp>
        <p:nvSpPr>
          <p:cNvPr id="34" name="Rectangle 33">
            <a:extLst>
              <a:ext uri="{FF2B5EF4-FFF2-40B4-BE49-F238E27FC236}">
                <a16:creationId xmlns:a16="http://schemas.microsoft.com/office/drawing/2014/main" id="{B941893D-8CE8-5A8E-44AD-28D656BBF3D3}"/>
              </a:ext>
            </a:extLst>
          </p:cNvPr>
          <p:cNvSpPr/>
          <p:nvPr userDrawn="1"/>
        </p:nvSpPr>
        <p:spPr>
          <a:xfrm>
            <a:off x="4761269" y="8166126"/>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5" name="Rectangle 34">
            <a:extLst>
              <a:ext uri="{FF2B5EF4-FFF2-40B4-BE49-F238E27FC236}">
                <a16:creationId xmlns:a16="http://schemas.microsoft.com/office/drawing/2014/main" id="{8E65B6E8-E490-B20B-39BF-DC0CC8D8DD71}"/>
              </a:ext>
            </a:extLst>
          </p:cNvPr>
          <p:cNvSpPr/>
          <p:nvPr userDrawn="1"/>
        </p:nvSpPr>
        <p:spPr>
          <a:xfrm>
            <a:off x="4761269" y="8383084"/>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6" name="Rectangle 35">
            <a:extLst>
              <a:ext uri="{FF2B5EF4-FFF2-40B4-BE49-F238E27FC236}">
                <a16:creationId xmlns:a16="http://schemas.microsoft.com/office/drawing/2014/main" id="{3DD197FB-B89A-8246-F4FB-9677D89CA5F5}"/>
              </a:ext>
            </a:extLst>
          </p:cNvPr>
          <p:cNvSpPr/>
          <p:nvPr userDrawn="1"/>
        </p:nvSpPr>
        <p:spPr>
          <a:xfrm>
            <a:off x="4761269" y="8600042"/>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Tree>
    <p:extLst>
      <p:ext uri="{BB962C8B-B14F-4D97-AF65-F5344CB8AC3E}">
        <p14:creationId xmlns:p14="http://schemas.microsoft.com/office/powerpoint/2010/main" val="4258011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016B5A-1B8F-E20D-AAE9-D4522831ED5B}"/>
              </a:ext>
            </a:extLst>
          </p:cNvPr>
          <p:cNvPicPr>
            <a:picLocks noChangeAspect="1"/>
          </p:cNvPicPr>
          <p:nvPr userDrawn="1"/>
        </p:nvPicPr>
        <p:blipFill>
          <a:blip r:embed="rId2"/>
          <a:stretch>
            <a:fillRect/>
          </a:stretch>
        </p:blipFill>
        <p:spPr>
          <a:xfrm>
            <a:off x="-53079" y="-53118"/>
            <a:ext cx="6911080" cy="9959118"/>
          </a:xfrm>
          <a:prstGeom prst="rect">
            <a:avLst/>
          </a:prstGeom>
        </p:spPr>
      </p:pic>
      <p:sp>
        <p:nvSpPr>
          <p:cNvPr id="3" name="Rounded Rectangle 2">
            <a:extLst>
              <a:ext uri="{FF2B5EF4-FFF2-40B4-BE49-F238E27FC236}">
                <a16:creationId xmlns:a16="http://schemas.microsoft.com/office/drawing/2014/main" id="{51F21812-ED1E-2718-6745-425358E5CD32}"/>
              </a:ext>
            </a:extLst>
          </p:cNvPr>
          <p:cNvSpPr/>
          <p:nvPr userDrawn="1"/>
        </p:nvSpPr>
        <p:spPr>
          <a:xfrm>
            <a:off x="2266403" y="193537"/>
            <a:ext cx="4391137" cy="2265293"/>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latin typeface="Arial" panose="020B0604020202020204" pitchFamily="34" charset="0"/>
              <a:cs typeface="Arial" panose="020B0604020202020204" pitchFamily="34" charset="0"/>
            </a:endParaRPr>
          </a:p>
        </p:txBody>
      </p:sp>
      <p:sp>
        <p:nvSpPr>
          <p:cNvPr id="4" name="Rounded Rectangle 3">
            <a:extLst>
              <a:ext uri="{FF2B5EF4-FFF2-40B4-BE49-F238E27FC236}">
                <a16:creationId xmlns:a16="http://schemas.microsoft.com/office/drawing/2014/main" id="{77C282C1-D974-7DAF-04C7-9F8F767CAD93}"/>
              </a:ext>
            </a:extLst>
          </p:cNvPr>
          <p:cNvSpPr/>
          <p:nvPr userDrawn="1"/>
        </p:nvSpPr>
        <p:spPr>
          <a:xfrm>
            <a:off x="2266409" y="158423"/>
            <a:ext cx="4391137" cy="597470"/>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ART IN SUPPORT OF LEARNING</a:t>
            </a:r>
            <a:endParaRPr lang="en-US" sz="800" b="1" dirty="0">
              <a:solidFill>
                <a:schemeClr val="bg1"/>
              </a:solidFill>
              <a:latin typeface="Arial" panose="020B0604020202020204" pitchFamily="34" charset="0"/>
              <a:cs typeface="Arial" panose="020B0604020202020204" pitchFamily="34" charset="0"/>
            </a:endParaRP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D7F6791-E81D-D94A-7C12-9F34BCA5816A}"/>
              </a:ext>
            </a:extLst>
          </p:cNvPr>
          <p:cNvSpPr txBox="1"/>
          <p:nvPr userDrawn="1"/>
        </p:nvSpPr>
        <p:spPr>
          <a:xfrm>
            <a:off x="2266408" y="515554"/>
            <a:ext cx="4391138" cy="215444"/>
          </a:xfrm>
          <a:prstGeom prst="rect">
            <a:avLst/>
          </a:prstGeom>
          <a:noFill/>
        </p:spPr>
        <p:txBody>
          <a:bodyPr wrap="square">
            <a:spAutoFit/>
          </a:bodyPr>
          <a:lstStyle/>
          <a:p>
            <a:pPr algn="ctr"/>
            <a:r>
              <a:rPr lang="en-US" sz="800" dirty="0">
                <a:solidFill>
                  <a:schemeClr val="bg1"/>
                </a:solidFill>
              </a:rPr>
              <a:t>How does art support your learning objectives ? </a:t>
            </a:r>
            <a:r>
              <a:rPr lang="en-US" sz="800" b="1" dirty="0">
                <a:solidFill>
                  <a:schemeClr val="bg1"/>
                </a:solidFill>
              </a:rPr>
              <a:t>Max 100 words</a:t>
            </a:r>
            <a:r>
              <a:rPr lang="en-US" sz="800" dirty="0">
                <a:solidFill>
                  <a:schemeClr val="bg1"/>
                </a:solidFill>
              </a:rPr>
              <a:t>.</a:t>
            </a:r>
          </a:p>
        </p:txBody>
      </p:sp>
      <p:sp>
        <p:nvSpPr>
          <p:cNvPr id="12" name="Rounded Rectangle 11">
            <a:extLst>
              <a:ext uri="{FF2B5EF4-FFF2-40B4-BE49-F238E27FC236}">
                <a16:creationId xmlns:a16="http://schemas.microsoft.com/office/drawing/2014/main" id="{4CF2E419-28B2-2A17-1DC2-846395BBF964}"/>
              </a:ext>
            </a:extLst>
          </p:cNvPr>
          <p:cNvSpPr/>
          <p:nvPr userDrawn="1"/>
        </p:nvSpPr>
        <p:spPr>
          <a:xfrm>
            <a:off x="151973" y="2626239"/>
            <a:ext cx="6505565" cy="6411239"/>
          </a:xfrm>
          <a:prstGeom prst="roundRect">
            <a:avLst>
              <a:gd name="adj" fmla="val 983"/>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latin typeface="Arial" panose="020B0604020202020204" pitchFamily="34" charset="0"/>
              <a:cs typeface="Arial" panose="020B0604020202020204" pitchFamily="34" charset="0"/>
            </a:endParaRPr>
          </a:p>
        </p:txBody>
      </p:sp>
      <p:sp>
        <p:nvSpPr>
          <p:cNvPr id="13" name="Rounded Rectangle 12">
            <a:extLst>
              <a:ext uri="{FF2B5EF4-FFF2-40B4-BE49-F238E27FC236}">
                <a16:creationId xmlns:a16="http://schemas.microsoft.com/office/drawing/2014/main" id="{C22D6319-21C2-EF5E-B591-D8F3EE3DB541}"/>
              </a:ext>
            </a:extLst>
          </p:cNvPr>
          <p:cNvSpPr/>
          <p:nvPr userDrawn="1"/>
        </p:nvSpPr>
        <p:spPr>
          <a:xfrm>
            <a:off x="151979" y="2626239"/>
            <a:ext cx="6505565"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MOOD BOARD</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8F42A42C-EBA6-E62E-831A-51DB373E8BF3}"/>
              </a:ext>
            </a:extLst>
          </p:cNvPr>
          <p:cNvSpPr txBox="1"/>
          <p:nvPr userDrawn="1"/>
        </p:nvSpPr>
        <p:spPr>
          <a:xfrm>
            <a:off x="151975" y="2970727"/>
            <a:ext cx="6505565" cy="215444"/>
          </a:xfrm>
          <a:prstGeom prst="rect">
            <a:avLst/>
          </a:prstGeom>
          <a:noFill/>
        </p:spPr>
        <p:txBody>
          <a:bodyPr wrap="square">
            <a:spAutoFit/>
          </a:bodyPr>
          <a:lstStyle/>
          <a:p>
            <a:pPr algn="ctr"/>
            <a:r>
              <a:rPr lang="en-CA" sz="800" dirty="0">
                <a:solidFill>
                  <a:schemeClr val="bg1"/>
                </a:solidFill>
                <a:latin typeface="Arial" panose="020B0604020202020204" pitchFamily="34" charset="0"/>
                <a:cs typeface="Arial" panose="020B0604020202020204" pitchFamily="34" charset="0"/>
              </a:rPr>
              <a:t>Games, movies, comics, AI-generated art, sketches, or real-world sources that inspire the art direction. </a:t>
            </a:r>
            <a:r>
              <a:rPr lang="en-CA" sz="800" b="1" dirty="0">
                <a:solidFill>
                  <a:schemeClr val="bg1"/>
                </a:solidFill>
                <a:latin typeface="Arial" panose="020B0604020202020204" pitchFamily="34" charset="0"/>
                <a:cs typeface="Arial" panose="020B0604020202020204" pitchFamily="34" charset="0"/>
              </a:rPr>
              <a:t>Min 4 pictures, Max 7 pictures</a:t>
            </a:r>
            <a:r>
              <a:rPr lang="en-CA" sz="800" dirty="0">
                <a:solidFill>
                  <a:schemeClr val="bg1"/>
                </a:solidFill>
                <a:latin typeface="Arial" panose="020B0604020202020204" pitchFamily="34" charset="0"/>
                <a:cs typeface="Arial" panose="020B0604020202020204" pitchFamily="34" charset="0"/>
              </a:rPr>
              <a:t>. </a:t>
            </a:r>
          </a:p>
        </p:txBody>
      </p:sp>
      <p:sp>
        <p:nvSpPr>
          <p:cNvPr id="23" name="Rounded Rectangle 22">
            <a:extLst>
              <a:ext uri="{FF2B5EF4-FFF2-40B4-BE49-F238E27FC236}">
                <a16:creationId xmlns:a16="http://schemas.microsoft.com/office/drawing/2014/main" id="{65D507D7-613C-649E-038B-F904DCA84E7D}"/>
              </a:ext>
            </a:extLst>
          </p:cNvPr>
          <p:cNvSpPr/>
          <p:nvPr userDrawn="1"/>
        </p:nvSpPr>
        <p:spPr>
          <a:xfrm>
            <a:off x="151980" y="159984"/>
            <a:ext cx="2017479" cy="229884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pPr>
              <a:lnSpc>
                <a:spcPct val="100000"/>
              </a:lnSpc>
              <a:spcBef>
                <a:spcPts val="300"/>
              </a:spcBef>
            </a:pPr>
            <a:endParaRPr lang="en-US" sz="1400" dirty="0">
              <a:solidFill>
                <a:schemeClr val="tx1"/>
              </a:solidFill>
              <a:latin typeface="Arial" panose="020B0604020202020204" pitchFamily="34" charset="0"/>
              <a:cs typeface="Arial" panose="020B0604020202020204" pitchFamily="34" charset="0"/>
            </a:endParaRPr>
          </a:p>
          <a:p>
            <a:pPr>
              <a:lnSpc>
                <a:spcPct val="100000"/>
              </a:lnSpc>
              <a:spcBef>
                <a:spcPts val="300"/>
              </a:spcBef>
            </a:pPr>
            <a:endParaRPr lang="en-US" sz="1400" dirty="0">
              <a:solidFill>
                <a:schemeClr val="tx1"/>
              </a:solidFill>
              <a:latin typeface="Arial" panose="020B0604020202020204" pitchFamily="34" charset="0"/>
              <a:cs typeface="Arial" panose="020B0604020202020204" pitchFamily="34" charset="0"/>
            </a:endParaRPr>
          </a:p>
          <a:p>
            <a:pPr>
              <a:lnSpc>
                <a:spcPct val="100000"/>
              </a:lnSpc>
              <a:spcBef>
                <a:spcPts val="300"/>
              </a:spcBef>
            </a:pPr>
            <a:r>
              <a:rPr lang="en-US" sz="1400" dirty="0">
                <a:solidFill>
                  <a:schemeClr val="tx1"/>
                </a:solidFill>
                <a:latin typeface="Arial" panose="020B0604020202020204" pitchFamily="34" charset="0"/>
                <a:cs typeface="Arial" panose="020B0604020202020204" pitchFamily="34" charset="0"/>
              </a:rPr>
              <a:t>     Pixel art</a:t>
            </a:r>
          </a:p>
          <a:p>
            <a:pPr>
              <a:lnSpc>
                <a:spcPct val="100000"/>
              </a:lnSpc>
              <a:spcBef>
                <a:spcPts val="300"/>
              </a:spcBef>
            </a:pPr>
            <a:r>
              <a:rPr lang="en-US" sz="1400" dirty="0">
                <a:solidFill>
                  <a:schemeClr val="tx1"/>
                </a:solidFill>
                <a:latin typeface="Arial" panose="020B0604020202020204" pitchFamily="34" charset="0"/>
                <a:cs typeface="Arial" panose="020B0604020202020204" pitchFamily="34" charset="0"/>
              </a:rPr>
              <a:t>     Cartoon</a:t>
            </a:r>
          </a:p>
          <a:p>
            <a:pPr>
              <a:lnSpc>
                <a:spcPct val="100000"/>
              </a:lnSpc>
              <a:spcBef>
                <a:spcPts val="300"/>
              </a:spcBef>
            </a:pPr>
            <a:r>
              <a:rPr lang="en-US" sz="1400" dirty="0">
                <a:solidFill>
                  <a:schemeClr val="tx1"/>
                </a:solidFill>
                <a:latin typeface="Arial" panose="020B0604020202020204" pitchFamily="34" charset="0"/>
                <a:cs typeface="Arial" panose="020B0604020202020204" pitchFamily="34" charset="0"/>
              </a:rPr>
              <a:t>     Realistic</a:t>
            </a:r>
          </a:p>
          <a:p>
            <a:pPr>
              <a:lnSpc>
                <a:spcPct val="100000"/>
              </a:lnSpc>
              <a:spcBef>
                <a:spcPts val="300"/>
              </a:spcBef>
            </a:pPr>
            <a:r>
              <a:rPr lang="en-US" sz="1400" dirty="0">
                <a:solidFill>
                  <a:schemeClr val="tx1"/>
                </a:solidFill>
                <a:latin typeface="Arial" panose="020B0604020202020204" pitchFamily="34" charset="0"/>
                <a:cs typeface="Arial" panose="020B0604020202020204" pitchFamily="34" charset="0"/>
              </a:rPr>
              <a:t>     Stylized</a:t>
            </a:r>
          </a:p>
          <a:p>
            <a:pPr>
              <a:lnSpc>
                <a:spcPct val="100000"/>
              </a:lnSpc>
              <a:spcBef>
                <a:spcPts val="300"/>
              </a:spcBef>
            </a:pPr>
            <a:r>
              <a:rPr lang="en-US" sz="1400" dirty="0">
                <a:solidFill>
                  <a:schemeClr val="tx1"/>
                </a:solidFill>
                <a:latin typeface="Arial" panose="020B0604020202020204" pitchFamily="34" charset="0"/>
                <a:cs typeface="Arial" panose="020B0604020202020204" pitchFamily="34" charset="0"/>
              </a:rPr>
              <a:t>     Minimalist</a:t>
            </a:r>
          </a:p>
          <a:p>
            <a:pPr>
              <a:lnSpc>
                <a:spcPct val="100000"/>
              </a:lnSpc>
              <a:spcBef>
                <a:spcPts val="300"/>
              </a:spcBef>
            </a:pPr>
            <a:r>
              <a:rPr lang="en-US" sz="1400" dirty="0">
                <a:solidFill>
                  <a:schemeClr val="tx1"/>
                </a:solidFill>
                <a:latin typeface="Arial" panose="020B0604020202020204" pitchFamily="34" charset="0"/>
                <a:cs typeface="Arial" panose="020B0604020202020204" pitchFamily="34" charset="0"/>
              </a:rPr>
              <a:t>     Low poly</a:t>
            </a:r>
          </a:p>
        </p:txBody>
      </p:sp>
      <p:sp>
        <p:nvSpPr>
          <p:cNvPr id="24" name="Rectangle 23">
            <a:extLst>
              <a:ext uri="{FF2B5EF4-FFF2-40B4-BE49-F238E27FC236}">
                <a16:creationId xmlns:a16="http://schemas.microsoft.com/office/drawing/2014/main" id="{B22CEF52-1045-DB99-BDCC-3D6F59C79DB2}"/>
              </a:ext>
            </a:extLst>
          </p:cNvPr>
          <p:cNvSpPr/>
          <p:nvPr userDrawn="1"/>
        </p:nvSpPr>
        <p:spPr>
          <a:xfrm>
            <a:off x="248931" y="868522"/>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5" name="Rectangle 24">
            <a:extLst>
              <a:ext uri="{FF2B5EF4-FFF2-40B4-BE49-F238E27FC236}">
                <a16:creationId xmlns:a16="http://schemas.microsoft.com/office/drawing/2014/main" id="{31A3F6FD-D51F-3145-F770-75BCC967F1FD}"/>
              </a:ext>
            </a:extLst>
          </p:cNvPr>
          <p:cNvSpPr/>
          <p:nvPr userDrawn="1"/>
        </p:nvSpPr>
        <p:spPr>
          <a:xfrm>
            <a:off x="248931" y="1118866"/>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6" name="Rectangle 25">
            <a:extLst>
              <a:ext uri="{FF2B5EF4-FFF2-40B4-BE49-F238E27FC236}">
                <a16:creationId xmlns:a16="http://schemas.microsoft.com/office/drawing/2014/main" id="{64BC6408-CEDE-508E-B02E-10A8AAE85F44}"/>
              </a:ext>
            </a:extLst>
          </p:cNvPr>
          <p:cNvSpPr/>
          <p:nvPr userDrawn="1"/>
        </p:nvSpPr>
        <p:spPr>
          <a:xfrm>
            <a:off x="248931" y="1369210"/>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7" name="Rectangle 26">
            <a:extLst>
              <a:ext uri="{FF2B5EF4-FFF2-40B4-BE49-F238E27FC236}">
                <a16:creationId xmlns:a16="http://schemas.microsoft.com/office/drawing/2014/main" id="{6AF41C2A-1152-0667-DDF6-E26401938985}"/>
              </a:ext>
            </a:extLst>
          </p:cNvPr>
          <p:cNvSpPr/>
          <p:nvPr userDrawn="1"/>
        </p:nvSpPr>
        <p:spPr>
          <a:xfrm>
            <a:off x="248931" y="1619554"/>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8" name="Rectangle 27">
            <a:extLst>
              <a:ext uri="{FF2B5EF4-FFF2-40B4-BE49-F238E27FC236}">
                <a16:creationId xmlns:a16="http://schemas.microsoft.com/office/drawing/2014/main" id="{B0184ABB-B282-7C3E-16F2-C179C7D8A569}"/>
              </a:ext>
            </a:extLst>
          </p:cNvPr>
          <p:cNvSpPr/>
          <p:nvPr userDrawn="1"/>
        </p:nvSpPr>
        <p:spPr>
          <a:xfrm>
            <a:off x="248931" y="1869898"/>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9" name="Rectangle 28">
            <a:extLst>
              <a:ext uri="{FF2B5EF4-FFF2-40B4-BE49-F238E27FC236}">
                <a16:creationId xmlns:a16="http://schemas.microsoft.com/office/drawing/2014/main" id="{7321DA95-BCE6-0A5B-6AA8-B474CD63F590}"/>
              </a:ext>
            </a:extLst>
          </p:cNvPr>
          <p:cNvSpPr/>
          <p:nvPr userDrawn="1"/>
        </p:nvSpPr>
        <p:spPr>
          <a:xfrm>
            <a:off x="248931" y="2120242"/>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0" name="Rounded Rectangle 29">
            <a:extLst>
              <a:ext uri="{FF2B5EF4-FFF2-40B4-BE49-F238E27FC236}">
                <a16:creationId xmlns:a16="http://schemas.microsoft.com/office/drawing/2014/main" id="{1F3A8D48-98D0-028E-B981-73793ED97039}"/>
              </a:ext>
            </a:extLst>
          </p:cNvPr>
          <p:cNvSpPr/>
          <p:nvPr userDrawn="1"/>
        </p:nvSpPr>
        <p:spPr>
          <a:xfrm>
            <a:off x="151979" y="159983"/>
            <a:ext cx="2017479" cy="583891"/>
          </a:xfrm>
          <a:prstGeom prst="roundRect">
            <a:avLst>
              <a:gd name="adj" fmla="val 5916"/>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ART STYLE</a:t>
            </a:r>
          </a:p>
        </p:txBody>
      </p:sp>
      <p:sp>
        <p:nvSpPr>
          <p:cNvPr id="32" name="Rounded Rectangle 31">
            <a:extLst>
              <a:ext uri="{FF2B5EF4-FFF2-40B4-BE49-F238E27FC236}">
                <a16:creationId xmlns:a16="http://schemas.microsoft.com/office/drawing/2014/main" id="{7B7AAEC0-2869-663B-0872-57F8DA20524A}"/>
              </a:ext>
            </a:extLst>
          </p:cNvPr>
          <p:cNvSpPr/>
          <p:nvPr userDrawn="1"/>
        </p:nvSpPr>
        <p:spPr>
          <a:xfrm>
            <a:off x="156581" y="9204888"/>
            <a:ext cx="6500957" cy="5623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GAME TITLE:</a:t>
            </a:r>
          </a:p>
        </p:txBody>
      </p:sp>
      <p:sp>
        <p:nvSpPr>
          <p:cNvPr id="33" name="Rounded Rectangle 32">
            <a:extLst>
              <a:ext uri="{FF2B5EF4-FFF2-40B4-BE49-F238E27FC236}">
                <a16:creationId xmlns:a16="http://schemas.microsoft.com/office/drawing/2014/main" id="{6438F25A-8A4B-069B-E98F-EFAA0F0EE31D}"/>
              </a:ext>
            </a:extLst>
          </p:cNvPr>
          <p:cNvSpPr/>
          <p:nvPr userDrawn="1"/>
        </p:nvSpPr>
        <p:spPr>
          <a:xfrm>
            <a:off x="156581" y="9204887"/>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IMAGES SOURCES:</a:t>
            </a:r>
          </a:p>
          <a:p>
            <a:pPr algn="ctr"/>
            <a:endParaRPr lang="en-US" sz="700" b="1" dirty="0">
              <a:solidFill>
                <a:schemeClr val="bg1"/>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E9CD8E3E-97AD-856F-1DA2-F77EA7068AC2}"/>
              </a:ext>
            </a:extLst>
          </p:cNvPr>
          <p:cNvSpPr txBox="1"/>
          <p:nvPr userDrawn="1"/>
        </p:nvSpPr>
        <p:spPr>
          <a:xfrm>
            <a:off x="151973" y="9551799"/>
            <a:ext cx="2212399" cy="215444"/>
          </a:xfrm>
          <a:prstGeom prst="rect">
            <a:avLst/>
          </a:prstGeom>
          <a:noFill/>
        </p:spPr>
        <p:txBody>
          <a:bodyPr wrap="square">
            <a:spAutoFit/>
          </a:bodyPr>
          <a:lstStyle/>
          <a:p>
            <a:pPr algn="ctr"/>
            <a:r>
              <a:rPr lang="en-US" sz="800" dirty="0">
                <a:solidFill>
                  <a:schemeClr val="bg1"/>
                </a:solidFill>
              </a:rPr>
              <a:t>Own sketches, AI, Google Image, etc.</a:t>
            </a:r>
          </a:p>
        </p:txBody>
      </p:sp>
    </p:spTree>
    <p:extLst>
      <p:ext uri="{BB962C8B-B14F-4D97-AF65-F5344CB8AC3E}">
        <p14:creationId xmlns:p14="http://schemas.microsoft.com/office/powerpoint/2010/main" val="654025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CECC1F28-4219-8A4C-FD64-DDB158EFADEE}"/>
              </a:ext>
            </a:extLst>
          </p:cNvPr>
          <p:cNvPicPr>
            <a:picLocks noChangeAspect="1"/>
          </p:cNvPicPr>
          <p:nvPr userDrawn="1"/>
        </p:nvPicPr>
        <p:blipFill>
          <a:blip r:embed="rId2"/>
          <a:stretch>
            <a:fillRect/>
          </a:stretch>
        </p:blipFill>
        <p:spPr>
          <a:xfrm>
            <a:off x="-53079" y="-53118"/>
            <a:ext cx="6911080" cy="9959118"/>
          </a:xfrm>
          <a:prstGeom prst="rect">
            <a:avLst/>
          </a:prstGeom>
        </p:spPr>
      </p:pic>
      <p:sp>
        <p:nvSpPr>
          <p:cNvPr id="6" name="Rounded Rectangle 5">
            <a:extLst>
              <a:ext uri="{FF2B5EF4-FFF2-40B4-BE49-F238E27FC236}">
                <a16:creationId xmlns:a16="http://schemas.microsoft.com/office/drawing/2014/main" id="{C192753B-264A-D8E1-400C-1E08D66230C0}"/>
              </a:ext>
            </a:extLst>
          </p:cNvPr>
          <p:cNvSpPr/>
          <p:nvPr userDrawn="1"/>
        </p:nvSpPr>
        <p:spPr>
          <a:xfrm>
            <a:off x="172744" y="162802"/>
            <a:ext cx="6457091" cy="4322934"/>
          </a:xfrm>
          <a:prstGeom prst="roundRect">
            <a:avLst>
              <a:gd name="adj" fmla="val 1517"/>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latin typeface="Arial" panose="020B0604020202020204" pitchFamily="34" charset="0"/>
              <a:cs typeface="Arial" panose="020B0604020202020204" pitchFamily="34" charset="0"/>
            </a:endParaRPr>
          </a:p>
        </p:txBody>
      </p:sp>
      <p:sp>
        <p:nvSpPr>
          <p:cNvPr id="7" name="Rounded Rectangle 6">
            <a:extLst>
              <a:ext uri="{FF2B5EF4-FFF2-40B4-BE49-F238E27FC236}">
                <a16:creationId xmlns:a16="http://schemas.microsoft.com/office/drawing/2014/main" id="{A7C5E4C7-0A02-5E9C-8582-3AB2A6FFEB5F}"/>
              </a:ext>
            </a:extLst>
          </p:cNvPr>
          <p:cNvSpPr/>
          <p:nvPr userDrawn="1"/>
        </p:nvSpPr>
        <p:spPr>
          <a:xfrm>
            <a:off x="172742" y="162802"/>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NARRATIVE &amp; STORY</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C561D3B-611B-51EE-34FC-49AA369EFCEC}"/>
              </a:ext>
            </a:extLst>
          </p:cNvPr>
          <p:cNvSpPr txBox="1"/>
          <p:nvPr userDrawn="1"/>
        </p:nvSpPr>
        <p:spPr>
          <a:xfrm>
            <a:off x="172740" y="484819"/>
            <a:ext cx="6457091" cy="215444"/>
          </a:xfrm>
          <a:prstGeom prst="rect">
            <a:avLst/>
          </a:prstGeom>
          <a:noFill/>
        </p:spPr>
        <p:txBody>
          <a:bodyPr wrap="square">
            <a:spAutoFit/>
          </a:bodyPr>
          <a:lstStyle/>
          <a:p>
            <a:pPr algn="ctr"/>
            <a:r>
              <a:rPr lang="en-US" sz="800" dirty="0">
                <a:solidFill>
                  <a:schemeClr val="bg1"/>
                </a:solidFill>
                <a:latin typeface="Arial" panose="020B0604020202020204" pitchFamily="34" charset="0"/>
                <a:cs typeface="Arial" panose="020B0604020202020204" pitchFamily="34" charset="0"/>
              </a:rPr>
              <a:t>High-level plot, world back story, themes, characters</a:t>
            </a:r>
            <a:r>
              <a:rPr lang="en-CA" sz="800" dirty="0">
                <a:solidFill>
                  <a:schemeClr val="bg1"/>
                </a:solidFill>
                <a:latin typeface="Arial" panose="020B0604020202020204" pitchFamily="34" charset="0"/>
                <a:cs typeface="Arial" panose="020B0604020202020204" pitchFamily="34" charset="0"/>
              </a:rPr>
              <a:t>. </a:t>
            </a:r>
            <a:r>
              <a:rPr lang="en-CA" sz="800" b="1" dirty="0">
                <a:solidFill>
                  <a:schemeClr val="bg1"/>
                </a:solidFill>
                <a:latin typeface="Arial" panose="020B0604020202020204" pitchFamily="34" charset="0"/>
                <a:cs typeface="Arial" panose="020B0604020202020204" pitchFamily="34" charset="0"/>
              </a:rPr>
              <a:t>Max</a:t>
            </a:r>
            <a:r>
              <a:rPr lang="en-CA" sz="800" dirty="0">
                <a:solidFill>
                  <a:schemeClr val="bg1"/>
                </a:solidFill>
                <a:latin typeface="Arial" panose="020B0604020202020204" pitchFamily="34" charset="0"/>
                <a:cs typeface="Arial" panose="020B0604020202020204" pitchFamily="34" charset="0"/>
              </a:rPr>
              <a:t> </a:t>
            </a:r>
            <a:r>
              <a:rPr lang="en-CA" sz="800" b="1" dirty="0">
                <a:solidFill>
                  <a:schemeClr val="bg1"/>
                </a:solidFill>
                <a:latin typeface="Arial" panose="020B0604020202020204" pitchFamily="34" charset="0"/>
                <a:cs typeface="Arial" panose="020B0604020202020204" pitchFamily="34" charset="0"/>
              </a:rPr>
              <a:t>300 words</a:t>
            </a:r>
            <a:r>
              <a:rPr lang="en-CA" sz="800" dirty="0">
                <a:solidFill>
                  <a:schemeClr val="bg1"/>
                </a:solidFill>
                <a:latin typeface="Arial" panose="020B0604020202020204" pitchFamily="34" charset="0"/>
                <a:cs typeface="Arial" panose="020B0604020202020204" pitchFamily="34" charset="0"/>
              </a:rPr>
              <a:t>. </a:t>
            </a:r>
            <a:endParaRPr lang="en-US" sz="800" dirty="0">
              <a:solidFill>
                <a:schemeClr val="bg1"/>
              </a:solidFill>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FC803751-CB70-3108-7A86-1C53F4E82CEB}"/>
              </a:ext>
            </a:extLst>
          </p:cNvPr>
          <p:cNvSpPr/>
          <p:nvPr userDrawn="1"/>
        </p:nvSpPr>
        <p:spPr>
          <a:xfrm>
            <a:off x="172742" y="4754610"/>
            <a:ext cx="6457091" cy="2832821"/>
          </a:xfrm>
          <a:prstGeom prst="roundRect">
            <a:avLst>
              <a:gd name="adj" fmla="val 1517"/>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8D9D6BDD-7B09-B8C3-5027-345352722989}"/>
              </a:ext>
            </a:extLst>
          </p:cNvPr>
          <p:cNvSpPr/>
          <p:nvPr userDrawn="1"/>
        </p:nvSpPr>
        <p:spPr>
          <a:xfrm>
            <a:off x="172742" y="4754609"/>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AI TOOLS USED</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10E7D4A-215E-98E5-C113-D9A076F2213E}"/>
              </a:ext>
            </a:extLst>
          </p:cNvPr>
          <p:cNvSpPr txBox="1"/>
          <p:nvPr userDrawn="1"/>
        </p:nvSpPr>
        <p:spPr>
          <a:xfrm>
            <a:off x="172740" y="5076626"/>
            <a:ext cx="6457091" cy="215444"/>
          </a:xfrm>
          <a:prstGeom prst="rect">
            <a:avLst/>
          </a:prstGeom>
          <a:noFill/>
        </p:spPr>
        <p:txBody>
          <a:bodyPr wrap="square">
            <a:spAutoFit/>
          </a:bodyPr>
          <a:lstStyle/>
          <a:p>
            <a:pPr algn="ctr"/>
            <a:r>
              <a:rPr lang="en-CA" sz="800" dirty="0">
                <a:solidFill>
                  <a:schemeClr val="bg1"/>
                </a:solidFill>
                <a:latin typeface="Arial" panose="020B0604020202020204" pitchFamily="34" charset="0"/>
                <a:cs typeface="Arial" panose="020B0604020202020204" pitchFamily="34" charset="0"/>
              </a:rPr>
              <a:t>For each tool, indicate the one you used, for which part(s) of the document, and how it helped you in your work. </a:t>
            </a:r>
            <a:r>
              <a:rPr lang="en-CA" sz="800" b="1" dirty="0">
                <a:solidFill>
                  <a:schemeClr val="bg1"/>
                </a:solidFill>
                <a:latin typeface="Arial" panose="020B0604020202020204" pitchFamily="34" charset="0"/>
                <a:cs typeface="Arial" panose="020B0604020202020204" pitchFamily="34" charset="0"/>
              </a:rPr>
              <a:t>Max 2 lines per tool</a:t>
            </a:r>
            <a:r>
              <a:rPr lang="en-CA" sz="800" dirty="0">
                <a:solidFill>
                  <a:schemeClr val="bg1"/>
                </a:solidFill>
                <a:latin typeface="Arial" panose="020B0604020202020204" pitchFamily="34" charset="0"/>
                <a:cs typeface="Arial" panose="020B0604020202020204" pitchFamily="34" charset="0"/>
              </a:rPr>
              <a:t>.</a:t>
            </a:r>
            <a:endParaRPr lang="en-US" sz="800" dirty="0">
              <a:solidFill>
                <a:schemeClr val="bg1"/>
              </a:solidFill>
              <a:latin typeface="Arial" panose="020B0604020202020204" pitchFamily="34" charset="0"/>
              <a:cs typeface="Arial" panose="020B0604020202020204" pitchFamily="34" charset="0"/>
            </a:endParaRPr>
          </a:p>
        </p:txBody>
      </p:sp>
      <p:sp>
        <p:nvSpPr>
          <p:cNvPr id="13" name="Rounded Rectangle 12">
            <a:extLst>
              <a:ext uri="{FF2B5EF4-FFF2-40B4-BE49-F238E27FC236}">
                <a16:creationId xmlns:a16="http://schemas.microsoft.com/office/drawing/2014/main" id="{8E98CB2E-D8B7-F8DF-2F33-E75E545114EA}"/>
              </a:ext>
            </a:extLst>
          </p:cNvPr>
          <p:cNvSpPr/>
          <p:nvPr userDrawn="1"/>
        </p:nvSpPr>
        <p:spPr>
          <a:xfrm>
            <a:off x="296350" y="5525694"/>
            <a:ext cx="394481" cy="562355"/>
          </a:xfrm>
          <a:prstGeom prst="roundRect">
            <a:avLst/>
          </a:prstGeom>
          <a:solidFill>
            <a:srgbClr val="512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A" sz="1600" dirty="0">
                <a:latin typeface="Arial" panose="020B0604020202020204" pitchFamily="34" charset="0"/>
                <a:cs typeface="Arial" panose="020B0604020202020204" pitchFamily="34" charset="0"/>
              </a:rPr>
              <a:t>1</a:t>
            </a:r>
          </a:p>
        </p:txBody>
      </p:sp>
      <p:sp>
        <p:nvSpPr>
          <p:cNvPr id="15" name="Rounded Rectangle 14">
            <a:extLst>
              <a:ext uri="{FF2B5EF4-FFF2-40B4-BE49-F238E27FC236}">
                <a16:creationId xmlns:a16="http://schemas.microsoft.com/office/drawing/2014/main" id="{088483D6-8639-A572-C879-D6F14005CA82}"/>
              </a:ext>
            </a:extLst>
          </p:cNvPr>
          <p:cNvSpPr/>
          <p:nvPr userDrawn="1"/>
        </p:nvSpPr>
        <p:spPr>
          <a:xfrm>
            <a:off x="296350" y="6191300"/>
            <a:ext cx="394481" cy="562355"/>
          </a:xfrm>
          <a:prstGeom prst="roundRect">
            <a:avLst/>
          </a:prstGeom>
          <a:solidFill>
            <a:srgbClr val="512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A" sz="1600" dirty="0">
                <a:latin typeface="Arial" panose="020B0604020202020204" pitchFamily="34" charset="0"/>
                <a:cs typeface="Arial" panose="020B0604020202020204" pitchFamily="34" charset="0"/>
              </a:rPr>
              <a:t>2</a:t>
            </a:r>
          </a:p>
        </p:txBody>
      </p:sp>
      <p:sp>
        <p:nvSpPr>
          <p:cNvPr id="17" name="Rounded Rectangle 16">
            <a:extLst>
              <a:ext uri="{FF2B5EF4-FFF2-40B4-BE49-F238E27FC236}">
                <a16:creationId xmlns:a16="http://schemas.microsoft.com/office/drawing/2014/main" id="{2C0BE4FB-31A4-7B30-B2E5-74E25B6C35B4}"/>
              </a:ext>
            </a:extLst>
          </p:cNvPr>
          <p:cNvSpPr/>
          <p:nvPr userDrawn="1"/>
        </p:nvSpPr>
        <p:spPr>
          <a:xfrm>
            <a:off x="296350" y="6856906"/>
            <a:ext cx="394481" cy="562355"/>
          </a:xfrm>
          <a:prstGeom prst="roundRect">
            <a:avLst/>
          </a:prstGeom>
          <a:solidFill>
            <a:srgbClr val="512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A" sz="1600" dirty="0">
                <a:latin typeface="Arial" panose="020B0604020202020204" pitchFamily="34" charset="0"/>
                <a:cs typeface="Arial" panose="020B0604020202020204" pitchFamily="34" charset="0"/>
              </a:rPr>
              <a:t>3</a:t>
            </a:r>
          </a:p>
        </p:txBody>
      </p:sp>
      <p:sp>
        <p:nvSpPr>
          <p:cNvPr id="2" name="TextBox 1">
            <a:extLst>
              <a:ext uri="{FF2B5EF4-FFF2-40B4-BE49-F238E27FC236}">
                <a16:creationId xmlns:a16="http://schemas.microsoft.com/office/drawing/2014/main" id="{672E4BD1-A5AD-CE72-55FF-F802792A9057}"/>
              </a:ext>
            </a:extLst>
          </p:cNvPr>
          <p:cNvSpPr txBox="1"/>
          <p:nvPr userDrawn="1"/>
        </p:nvSpPr>
        <p:spPr>
          <a:xfrm>
            <a:off x="172740" y="8245343"/>
            <a:ext cx="6457091" cy="1346522"/>
          </a:xfrm>
          <a:prstGeom prst="rect">
            <a:avLst/>
          </a:prstGeom>
          <a:noFill/>
        </p:spPr>
        <p:txBody>
          <a:bodyPr wrap="square">
            <a:spAutoFit/>
          </a:bodyPr>
          <a:lstStyle/>
          <a:p>
            <a:pPr algn="ctr" rtl="0">
              <a:buNone/>
            </a:pPr>
            <a:r>
              <a:rPr lang="en-US" sz="2000" b="1" i="0" u="none" strike="noStrike" dirty="0">
                <a:solidFill>
                  <a:srgbClr val="E13140"/>
                </a:solidFill>
                <a:effectLst/>
                <a:latin typeface="Arial" panose="020B0604020202020204" pitchFamily="34" charset="0"/>
                <a:cs typeface="Arial" panose="020B0604020202020204" pitchFamily="34" charset="0"/>
              </a:rPr>
              <a:t>- END OF GAME CONCEPT DOCUMENT - </a:t>
            </a:r>
          </a:p>
          <a:p>
            <a:pPr algn="ctr" rtl="0">
              <a:buNone/>
            </a:pPr>
            <a:endParaRPr lang="en-US" sz="600" b="1" i="1" u="none" strike="noStrike" dirty="0">
              <a:solidFill>
                <a:srgbClr val="FFFFFF"/>
              </a:solidFill>
              <a:effectLst/>
              <a:latin typeface="Arial" panose="020B0604020202020204" pitchFamily="34" charset="0"/>
              <a:cs typeface="Arial" panose="020B0604020202020204" pitchFamily="34" charset="0"/>
            </a:endParaRPr>
          </a:p>
          <a:p>
            <a:pPr algn="ctr" rtl="0">
              <a:buNone/>
            </a:pPr>
            <a:r>
              <a:rPr lang="en-US" sz="1050" b="0" i="0" u="none" strike="noStrike" dirty="0">
                <a:solidFill>
                  <a:srgbClr val="FFFFFF"/>
                </a:solidFill>
                <a:effectLst/>
                <a:latin typeface="Arial" panose="020B0604020202020204" pitchFamily="34" charset="0"/>
                <a:cs typeface="Arial" panose="020B0604020202020204" pitchFamily="34" charset="0"/>
              </a:rPr>
              <a:t>Good job! Now save your document as a </a:t>
            </a:r>
            <a:r>
              <a:rPr lang="en-US" sz="1050" b="1" i="0" u="none" strike="noStrike" dirty="0">
                <a:solidFill>
                  <a:srgbClr val="FFFFFF"/>
                </a:solidFill>
                <a:effectLst/>
                <a:latin typeface="Arial" panose="020B0604020202020204" pitchFamily="34" charset="0"/>
                <a:cs typeface="Arial" panose="020B0604020202020204" pitchFamily="34" charset="0"/>
              </a:rPr>
              <a:t>PDF</a:t>
            </a:r>
            <a:r>
              <a:rPr lang="en-US" sz="1050" b="0" i="0" u="none" strike="noStrike" dirty="0">
                <a:solidFill>
                  <a:srgbClr val="FFFFFF"/>
                </a:solidFill>
                <a:effectLst/>
                <a:latin typeface="Arial" panose="020B0604020202020204" pitchFamily="34" charset="0"/>
                <a:cs typeface="Arial" panose="020B0604020202020204" pitchFamily="34" charset="0"/>
              </a:rPr>
              <a:t>, and shared it by </a:t>
            </a:r>
            <a:r>
              <a:rPr lang="en-US" sz="1050" b="1" i="0" u="none" strike="noStrike" dirty="0">
                <a:solidFill>
                  <a:srgbClr val="FFFFFF"/>
                </a:solidFill>
                <a:effectLst/>
                <a:latin typeface="Arial" panose="020B0604020202020204" pitchFamily="34" charset="0"/>
                <a:cs typeface="Arial" panose="020B0604020202020204" pitchFamily="34" charset="0"/>
              </a:rPr>
              <a:t>email</a:t>
            </a:r>
            <a:r>
              <a:rPr lang="en-US" sz="1050" b="0" i="0" u="none" strike="noStrike" dirty="0">
                <a:solidFill>
                  <a:srgbClr val="FFFFFF"/>
                </a:solidFill>
                <a:effectLst/>
                <a:latin typeface="Arial" panose="020B0604020202020204" pitchFamily="34" charset="0"/>
                <a:cs typeface="Arial" panose="020B0604020202020204" pitchFamily="34" charset="0"/>
              </a:rPr>
              <a:t> with your school’s jury member. They will review all submissions and select the one elected to represent your school at the region level. Then Savvy Games will choose the regional winners, and finally the national winner! </a:t>
            </a:r>
            <a:endParaRPr lang="en-US" sz="1050" b="1" i="0" dirty="0">
              <a:solidFill>
                <a:srgbClr val="E13140"/>
              </a:solidFill>
              <a:effectLst/>
              <a:latin typeface="Arial" panose="020B0604020202020204" pitchFamily="34" charset="0"/>
              <a:cs typeface="Arial" panose="020B0604020202020204" pitchFamily="34" charset="0"/>
            </a:endParaRPr>
          </a:p>
          <a:p>
            <a:pPr>
              <a:buNone/>
            </a:pPr>
            <a:br>
              <a:rPr lang="en-US" sz="1200" b="1" i="1" dirty="0">
                <a:latin typeface="Arial" panose="020B0604020202020204" pitchFamily="34" charset="0"/>
                <a:cs typeface="Arial" panose="020B0604020202020204" pitchFamily="34" charset="0"/>
              </a:rPr>
            </a:br>
            <a:endParaRPr lang="en-SA" sz="12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4610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7BAF50-20CB-49E1-BC54-11DBB35C5170}"/>
              </a:ext>
            </a:extLst>
          </p:cNvPr>
          <p:cNvPicPr>
            <a:picLocks noChangeAspect="1"/>
          </p:cNvPicPr>
          <p:nvPr userDrawn="1"/>
        </p:nvPicPr>
        <p:blipFill>
          <a:blip r:embed="rId2"/>
          <a:stretch>
            <a:fillRect/>
          </a:stretch>
        </p:blipFill>
        <p:spPr>
          <a:xfrm>
            <a:off x="-53079" y="-36789"/>
            <a:ext cx="6911080" cy="9959118"/>
          </a:xfrm>
          <a:prstGeom prst="rect">
            <a:avLst/>
          </a:prstGeom>
        </p:spPr>
      </p:pic>
      <p:sp>
        <p:nvSpPr>
          <p:cNvPr id="8" name="Rounded Rectangle 7">
            <a:extLst>
              <a:ext uri="{FF2B5EF4-FFF2-40B4-BE49-F238E27FC236}">
                <a16:creationId xmlns:a16="http://schemas.microsoft.com/office/drawing/2014/main" id="{91E8968B-AD81-907D-DF8E-460266C3BEE3}"/>
              </a:ext>
            </a:extLst>
          </p:cNvPr>
          <p:cNvSpPr/>
          <p:nvPr userDrawn="1"/>
        </p:nvSpPr>
        <p:spPr>
          <a:xfrm>
            <a:off x="167796" y="180257"/>
            <a:ext cx="6457091" cy="183037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A7D8AB15-55BC-84BD-9DD3-BD67C13318FB}"/>
              </a:ext>
            </a:extLst>
          </p:cNvPr>
          <p:cNvSpPr/>
          <p:nvPr userDrawn="1"/>
        </p:nvSpPr>
        <p:spPr>
          <a:xfrm>
            <a:off x="167796" y="180256"/>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ETHICAL &amp; FAIR USE CHECKLIST</a:t>
            </a:r>
          </a:p>
        </p:txBody>
      </p:sp>
      <p:sp>
        <p:nvSpPr>
          <p:cNvPr id="10" name="TextBox 9">
            <a:extLst>
              <a:ext uri="{FF2B5EF4-FFF2-40B4-BE49-F238E27FC236}">
                <a16:creationId xmlns:a16="http://schemas.microsoft.com/office/drawing/2014/main" id="{99B24C3D-3242-4328-D5A1-13F5C2837252}"/>
              </a:ext>
            </a:extLst>
          </p:cNvPr>
          <p:cNvSpPr txBox="1"/>
          <p:nvPr userDrawn="1"/>
        </p:nvSpPr>
        <p:spPr>
          <a:xfrm>
            <a:off x="216274" y="807940"/>
            <a:ext cx="6457090" cy="1154162"/>
          </a:xfrm>
          <a:prstGeom prst="rect">
            <a:avLst/>
          </a:prstGeom>
          <a:noFill/>
        </p:spPr>
        <p:txBody>
          <a:bodyPr wrap="square">
            <a:spAutoFit/>
          </a:bodyPr>
          <a:lstStyle/>
          <a:p>
            <a:r>
              <a:rPr lang="en-US" sz="900" b="1" dirty="0">
                <a:latin typeface="Arial" panose="020B0604020202020204" pitchFamily="34" charset="0"/>
                <a:cs typeface="Arial" panose="020B0604020202020204" pitchFamily="34" charset="0"/>
              </a:rPr>
              <a:t>By submitting our document, we confirm that:</a:t>
            </a:r>
          </a:p>
          <a:p>
            <a:endParaRPr lang="en-US" sz="6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We didn’t use AI to steal or copy copyrighted work.</a:t>
            </a:r>
          </a:p>
          <a:p>
            <a:pPr marL="17145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We only used AI to help us, not to do all the creative work.</a:t>
            </a:r>
          </a:p>
          <a:p>
            <a:pPr marL="17145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We understand judging is about our own original ideas and design, not how much AI we used.</a:t>
            </a:r>
          </a:p>
          <a:p>
            <a:pPr marL="17145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We know joining is by choice, and there is no guarantee of winning.</a:t>
            </a:r>
          </a:p>
          <a:p>
            <a:pPr marL="17145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We accept that the organizers’ decisions are final.</a:t>
            </a:r>
          </a:p>
          <a:p>
            <a:pPr marL="17145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We agree to follow the </a:t>
            </a:r>
            <a:r>
              <a:rPr lang="en-US" sz="900" b="0" u="none" dirty="0">
                <a:solidFill>
                  <a:schemeClr val="tx1"/>
                </a:solidFill>
                <a:latin typeface="Arial" panose="020B0604020202020204" pitchFamily="34" charset="0"/>
                <a:cs typeface="Arial" panose="020B0604020202020204" pitchFamily="34" charset="0"/>
              </a:rPr>
              <a:t>contest rules </a:t>
            </a:r>
            <a:r>
              <a:rPr lang="en-US" sz="900" dirty="0">
                <a:latin typeface="Arial" panose="020B0604020202020204" pitchFamily="34" charset="0"/>
                <a:cs typeface="Arial" panose="020B0604020202020204" pitchFamily="34" charset="0"/>
              </a:rPr>
              <a:t>and respect other participants.</a:t>
            </a:r>
          </a:p>
        </p:txBody>
      </p:sp>
      <p:sp>
        <p:nvSpPr>
          <p:cNvPr id="11" name="Rounded Rectangle 10">
            <a:extLst>
              <a:ext uri="{FF2B5EF4-FFF2-40B4-BE49-F238E27FC236}">
                <a16:creationId xmlns:a16="http://schemas.microsoft.com/office/drawing/2014/main" id="{8D3AACB2-AB93-DFAA-3559-73B05F45BD6B}"/>
              </a:ext>
            </a:extLst>
          </p:cNvPr>
          <p:cNvSpPr/>
          <p:nvPr userDrawn="1"/>
        </p:nvSpPr>
        <p:spPr>
          <a:xfrm>
            <a:off x="167796" y="2224089"/>
            <a:ext cx="6457091" cy="7468996"/>
          </a:xfrm>
          <a:prstGeom prst="roundRect">
            <a:avLst>
              <a:gd name="adj" fmla="val 1062"/>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dirty="0">
              <a:solidFill>
                <a:schemeClr val="tx1"/>
              </a:solidFill>
            </a:endParaRPr>
          </a:p>
        </p:txBody>
      </p:sp>
      <p:sp>
        <p:nvSpPr>
          <p:cNvPr id="14" name="Rounded Rectangle 13">
            <a:extLst>
              <a:ext uri="{FF2B5EF4-FFF2-40B4-BE49-F238E27FC236}">
                <a16:creationId xmlns:a16="http://schemas.microsoft.com/office/drawing/2014/main" id="{14487ED4-892F-AC0B-8B16-77CF6A03D3F8}"/>
              </a:ext>
            </a:extLst>
          </p:cNvPr>
          <p:cNvSpPr/>
          <p:nvPr userDrawn="1"/>
        </p:nvSpPr>
        <p:spPr>
          <a:xfrm>
            <a:off x="167796" y="2224088"/>
            <a:ext cx="6481328"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EVALUATION GRID</a:t>
            </a: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8C329407-F567-88D5-8611-5D8EEE9A8965}"/>
              </a:ext>
            </a:extLst>
          </p:cNvPr>
          <p:cNvSpPr txBox="1"/>
          <p:nvPr userDrawn="1"/>
        </p:nvSpPr>
        <p:spPr>
          <a:xfrm>
            <a:off x="143555" y="2568576"/>
            <a:ext cx="6505565" cy="200055"/>
          </a:xfrm>
          <a:prstGeom prst="rect">
            <a:avLst/>
          </a:prstGeom>
          <a:noFill/>
        </p:spPr>
        <p:txBody>
          <a:bodyPr wrap="square">
            <a:spAutoFit/>
          </a:bodyPr>
          <a:lstStyle/>
          <a:p>
            <a:pPr algn="ctr"/>
            <a:r>
              <a:rPr lang="en-US" sz="700" dirty="0">
                <a:solidFill>
                  <a:schemeClr val="bg1"/>
                </a:solidFill>
                <a:latin typeface="Arial" panose="020B0604020202020204" pitchFamily="34" charset="0"/>
                <a:cs typeface="Arial" panose="020B0604020202020204" pitchFamily="34" charset="0"/>
              </a:rPr>
              <a:t>To uphold fairness and transparency, please find below the criteria that will be used to review your game concept.</a:t>
            </a:r>
            <a:endParaRPr lang="en-CA" sz="700" dirty="0">
              <a:solidFill>
                <a:schemeClr val="bg1"/>
              </a:solidFill>
              <a:latin typeface="Arial" panose="020B0604020202020204" pitchFamily="34" charset="0"/>
              <a:cs typeface="Arial" panose="020B0604020202020204"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C4CD5C9D-38EC-4220-53C2-EA652C89003B}"/>
              </a:ext>
            </a:extLst>
          </p:cNvPr>
          <p:cNvPicPr>
            <a:picLocks noChangeAspect="1"/>
          </p:cNvPicPr>
          <p:nvPr userDrawn="1"/>
        </p:nvPicPr>
        <p:blipFill>
          <a:blip r:embed="rId3"/>
          <a:srcRect l="566" t="8559" r="13126" b="2168"/>
          <a:stretch>
            <a:fillRect/>
          </a:stretch>
        </p:blipFill>
        <p:spPr>
          <a:xfrm>
            <a:off x="-679270" y="2929696"/>
            <a:ext cx="7257351" cy="6685498"/>
          </a:xfrm>
          <a:prstGeom prst="rect">
            <a:avLst/>
          </a:prstGeom>
        </p:spPr>
      </p:pic>
    </p:spTree>
    <p:extLst>
      <p:ext uri="{BB962C8B-B14F-4D97-AF65-F5344CB8AC3E}">
        <p14:creationId xmlns:p14="http://schemas.microsoft.com/office/powerpoint/2010/main" val="3261155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7"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2DDFB7E-2FBF-6A4D-987E-4EA5B0AC2CA8}" type="datetimeFigureOut">
              <a:rPr lang="en-SA" smtClean="0"/>
              <a:t>04/11/2025 R</a:t>
            </a:fld>
            <a:endParaRPr lang="en-SA"/>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SA"/>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0058CF0C-FABB-8845-BDF9-E1081C638B2A}" type="slidenum">
              <a:rPr lang="en-SA" smtClean="0"/>
              <a:t>‹#›</a:t>
            </a:fld>
            <a:endParaRPr lang="en-SA"/>
          </a:p>
        </p:txBody>
      </p:sp>
      <p:sp>
        <p:nvSpPr>
          <p:cNvPr id="8" name="TextBox 7">
            <a:extLst>
              <a:ext uri="{FF2B5EF4-FFF2-40B4-BE49-F238E27FC236}">
                <a16:creationId xmlns:a16="http://schemas.microsoft.com/office/drawing/2014/main" id="{96912FC7-8C82-F7A0-0D07-BDC050061E85}"/>
              </a:ext>
            </a:extLst>
          </p:cNvPr>
          <p:cNvSpPr txBox="1"/>
          <p:nvPr userDrawn="1">
            <p:extLst>
              <p:ext uri="{1162E1C5-73C7-4A58-AE30-91384D911F3F}">
                <p184:classification xmlns:p184="http://schemas.microsoft.com/office/powerpoint/2018/4/main" val="ftr"/>
              </p:ext>
            </p:extLst>
          </p:nvPr>
        </p:nvSpPr>
        <p:spPr>
          <a:xfrm>
            <a:off x="3167063" y="9690100"/>
            <a:ext cx="552450" cy="152400"/>
          </a:xfrm>
          <a:prstGeom prst="rect">
            <a:avLst/>
          </a:prstGeom>
        </p:spPr>
        <p:txBody>
          <a:bodyPr horzOverflow="overflow" lIns="0" tIns="0" rIns="0" bIns="0">
            <a:spAutoFit/>
          </a:bodyPr>
          <a:lstStyle/>
          <a:p>
            <a:pPr algn="l"/>
            <a:r>
              <a:rPr lang="en-SA" sz="1000">
                <a:solidFill>
                  <a:srgbClr val="E6AF00">
                    <a:alpha val="50000"/>
                  </a:srgbClr>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35508004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ECAC98-E0AB-7080-4468-5165F0F0735D}"/>
              </a:ext>
            </a:extLst>
          </p:cNvPr>
          <p:cNvSpPr txBox="1"/>
          <p:nvPr/>
        </p:nvSpPr>
        <p:spPr>
          <a:xfrm>
            <a:off x="2464232" y="2857501"/>
            <a:ext cx="4078082" cy="262180"/>
          </a:xfrm>
          <a:prstGeom prst="rect">
            <a:avLst/>
          </a:prstGeom>
          <a:solidFill>
            <a:schemeClr val="bg1"/>
          </a:solidFill>
          <a:ln>
            <a:solidFill>
              <a:schemeClr val="bg1">
                <a:lumMod val="85000"/>
              </a:schemeClr>
            </a:solidFill>
          </a:ln>
        </p:spPr>
        <p:txBody>
          <a:bodyPr wrap="square" rtlCol="0">
            <a:noAutofit/>
          </a:bodyPr>
          <a:lstStyle/>
          <a:p>
            <a:endParaRPr lang="en-SA" sz="12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7285A01-B0A6-ACF7-D16E-EB74C5DB42D0}"/>
              </a:ext>
            </a:extLst>
          </p:cNvPr>
          <p:cNvSpPr txBox="1"/>
          <p:nvPr/>
        </p:nvSpPr>
        <p:spPr>
          <a:xfrm>
            <a:off x="2464231" y="3581401"/>
            <a:ext cx="4078082" cy="262180"/>
          </a:xfrm>
          <a:prstGeom prst="rect">
            <a:avLst/>
          </a:prstGeom>
          <a:solidFill>
            <a:schemeClr val="bg1"/>
          </a:solidFill>
          <a:ln>
            <a:solidFill>
              <a:schemeClr val="bg1">
                <a:lumMod val="85000"/>
              </a:schemeClr>
            </a:solidFill>
          </a:ln>
        </p:spPr>
        <p:txBody>
          <a:bodyPr wrap="square" rtlCol="0">
            <a:noAutofit/>
          </a:bodyPr>
          <a:lstStyle/>
          <a:p>
            <a:endParaRPr lang="en-SA"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DBF1BCF-C6E9-36BB-30C6-1C23586AC44B}"/>
              </a:ext>
            </a:extLst>
          </p:cNvPr>
          <p:cNvSpPr txBox="1"/>
          <p:nvPr/>
        </p:nvSpPr>
        <p:spPr>
          <a:xfrm>
            <a:off x="2464230" y="4305301"/>
            <a:ext cx="4078082" cy="262180"/>
          </a:xfrm>
          <a:prstGeom prst="rect">
            <a:avLst/>
          </a:prstGeom>
          <a:solidFill>
            <a:schemeClr val="bg1"/>
          </a:solidFill>
          <a:ln>
            <a:solidFill>
              <a:schemeClr val="bg1">
                <a:lumMod val="85000"/>
              </a:schemeClr>
            </a:solidFill>
          </a:ln>
        </p:spPr>
        <p:txBody>
          <a:bodyPr wrap="square" rtlCol="0">
            <a:noAutofit/>
          </a:bodyPr>
          <a:lstStyle/>
          <a:p>
            <a:endParaRPr lang="en-SA" sz="1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E8F743E-7F00-598B-5537-B11D8900F341}"/>
              </a:ext>
            </a:extLst>
          </p:cNvPr>
          <p:cNvSpPr txBox="1"/>
          <p:nvPr/>
        </p:nvSpPr>
        <p:spPr>
          <a:xfrm>
            <a:off x="2464230" y="5029109"/>
            <a:ext cx="4078082" cy="262180"/>
          </a:xfrm>
          <a:prstGeom prst="rect">
            <a:avLst/>
          </a:prstGeom>
          <a:solidFill>
            <a:schemeClr val="bg1"/>
          </a:solidFill>
          <a:ln>
            <a:solidFill>
              <a:schemeClr val="bg1">
                <a:lumMod val="85000"/>
              </a:schemeClr>
            </a:solidFill>
          </a:ln>
        </p:spPr>
        <p:txBody>
          <a:bodyPr wrap="square" rtlCol="0">
            <a:noAutofit/>
          </a:bodyPr>
          <a:lstStyle/>
          <a:p>
            <a:endParaRPr lang="en-SA" sz="1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241FFB0-754A-9C80-77B8-58F3DBC1A6E4}"/>
              </a:ext>
            </a:extLst>
          </p:cNvPr>
          <p:cNvSpPr txBox="1"/>
          <p:nvPr/>
        </p:nvSpPr>
        <p:spPr>
          <a:xfrm>
            <a:off x="261257" y="6259287"/>
            <a:ext cx="6281057" cy="3363684"/>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7347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5386DF-64BC-276F-A828-8AF8D9B91AD4}"/>
              </a:ext>
            </a:extLst>
          </p:cNvPr>
          <p:cNvSpPr txBox="1"/>
          <p:nvPr/>
        </p:nvSpPr>
        <p:spPr>
          <a:xfrm>
            <a:off x="2851842" y="2899063"/>
            <a:ext cx="3621693" cy="280416"/>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E5F7E24-AA97-08C8-AF91-4EB6789DFC42}"/>
              </a:ext>
            </a:extLst>
          </p:cNvPr>
          <p:cNvSpPr txBox="1"/>
          <p:nvPr/>
        </p:nvSpPr>
        <p:spPr>
          <a:xfrm>
            <a:off x="280556" y="4267199"/>
            <a:ext cx="6192980" cy="1094510"/>
          </a:xfrm>
          <a:prstGeom prst="rect">
            <a:avLst/>
          </a:prstGeom>
          <a:solidFill>
            <a:schemeClr val="bg1"/>
          </a:solidFill>
          <a:ln>
            <a:solidFill>
              <a:schemeClr val="bg1">
                <a:lumMod val="85000"/>
              </a:schemeClr>
            </a:solidFill>
          </a:ln>
        </p:spPr>
        <p:txBody>
          <a:bodyPr wrap="square" rtlCol="0">
            <a:noAutofit/>
          </a:bodyPr>
          <a:lstStyle/>
          <a:p>
            <a:endParaRPr lang="en-SA" sz="1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2491FD9-7532-6715-0A29-B8F98D19F91A}"/>
              </a:ext>
            </a:extLst>
          </p:cNvPr>
          <p:cNvSpPr txBox="1"/>
          <p:nvPr/>
        </p:nvSpPr>
        <p:spPr>
          <a:xfrm>
            <a:off x="526470" y="6406330"/>
            <a:ext cx="5947063" cy="276999"/>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1798CCA-390B-FE4D-D55A-937ED0F7F882}"/>
              </a:ext>
            </a:extLst>
          </p:cNvPr>
          <p:cNvSpPr txBox="1"/>
          <p:nvPr/>
        </p:nvSpPr>
        <p:spPr>
          <a:xfrm>
            <a:off x="526472" y="6820038"/>
            <a:ext cx="5947063" cy="276999"/>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7D811ED-A00D-85D4-45FE-47B20344C249}"/>
              </a:ext>
            </a:extLst>
          </p:cNvPr>
          <p:cNvSpPr txBox="1"/>
          <p:nvPr/>
        </p:nvSpPr>
        <p:spPr>
          <a:xfrm>
            <a:off x="526471" y="7233746"/>
            <a:ext cx="5947063" cy="276999"/>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7716F37-5D12-6C1C-FE00-4912BD0B28AE}"/>
              </a:ext>
            </a:extLst>
          </p:cNvPr>
          <p:cNvSpPr txBox="1"/>
          <p:nvPr/>
        </p:nvSpPr>
        <p:spPr>
          <a:xfrm>
            <a:off x="526472" y="8491439"/>
            <a:ext cx="5947063" cy="276999"/>
          </a:xfrm>
          <a:prstGeom prst="rect">
            <a:avLst/>
          </a:prstGeom>
          <a:solidFill>
            <a:schemeClr val="bg1"/>
          </a:solidFill>
          <a:ln>
            <a:solidFill>
              <a:schemeClr val="bg1">
                <a:lumMod val="85000"/>
              </a:schemeClr>
            </a:solidFill>
          </a:ln>
        </p:spPr>
        <p:txBody>
          <a:bodyPr wrap="square" rtlCol="0">
            <a:spAutoFit/>
          </a:bodyPr>
          <a:lstStyle/>
          <a:p>
            <a:endParaRPr lang="en-SA" sz="1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C869845-A18F-B6A2-12F3-113C5DCCFC30}"/>
              </a:ext>
            </a:extLst>
          </p:cNvPr>
          <p:cNvSpPr txBox="1"/>
          <p:nvPr/>
        </p:nvSpPr>
        <p:spPr>
          <a:xfrm>
            <a:off x="526472" y="8905147"/>
            <a:ext cx="5947063" cy="276999"/>
          </a:xfrm>
          <a:prstGeom prst="rect">
            <a:avLst/>
          </a:prstGeom>
          <a:solidFill>
            <a:schemeClr val="bg1"/>
          </a:solidFill>
          <a:ln>
            <a:solidFill>
              <a:schemeClr val="bg1">
                <a:lumMod val="85000"/>
              </a:schemeClr>
            </a:solidFill>
          </a:ln>
        </p:spPr>
        <p:txBody>
          <a:bodyPr wrap="square" rtlCol="0">
            <a:spAutoFit/>
          </a:bodyPr>
          <a:lstStyle/>
          <a:p>
            <a:endParaRPr lang="en-SA"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5EDA78E-4D10-542C-DC80-FF612096D691}"/>
              </a:ext>
            </a:extLst>
          </p:cNvPr>
          <p:cNvSpPr txBox="1"/>
          <p:nvPr/>
        </p:nvSpPr>
        <p:spPr>
          <a:xfrm>
            <a:off x="526472" y="9327853"/>
            <a:ext cx="5947063" cy="276999"/>
          </a:xfrm>
          <a:prstGeom prst="rect">
            <a:avLst/>
          </a:prstGeom>
          <a:solidFill>
            <a:schemeClr val="bg1"/>
          </a:solidFill>
          <a:ln>
            <a:solidFill>
              <a:schemeClr val="bg1">
                <a:lumMod val="85000"/>
              </a:schemeClr>
            </a:solidFill>
          </a:ln>
        </p:spPr>
        <p:txBody>
          <a:bodyPr wrap="square" rtlCol="0">
            <a:spAutoFit/>
          </a:bodyPr>
          <a:lstStyle/>
          <a:p>
            <a:endParaRPr lang="en-SA" sz="1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53A1DBB-F494-ED98-56CF-AE8A0AD263E5}"/>
              </a:ext>
            </a:extLst>
          </p:cNvPr>
          <p:cNvSpPr txBox="1"/>
          <p:nvPr/>
        </p:nvSpPr>
        <p:spPr>
          <a:xfrm>
            <a:off x="567970" y="924280"/>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33AE777-8755-60F0-B347-56A9FAF75AD0}"/>
              </a:ext>
            </a:extLst>
          </p:cNvPr>
          <p:cNvSpPr txBox="1"/>
          <p:nvPr/>
        </p:nvSpPr>
        <p:spPr>
          <a:xfrm>
            <a:off x="567969" y="1137562"/>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01FF5F26-21B0-379E-AD3C-3540C70DF7D2}"/>
              </a:ext>
            </a:extLst>
          </p:cNvPr>
          <p:cNvSpPr txBox="1"/>
          <p:nvPr/>
        </p:nvSpPr>
        <p:spPr>
          <a:xfrm>
            <a:off x="567968" y="1350844"/>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ABAA3A4-F918-2198-BE9E-C6087CFFB9F8}"/>
              </a:ext>
            </a:extLst>
          </p:cNvPr>
          <p:cNvSpPr txBox="1"/>
          <p:nvPr/>
        </p:nvSpPr>
        <p:spPr>
          <a:xfrm>
            <a:off x="567967" y="1564126"/>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28ECC8F6-A668-BFB2-9E37-8FCF81093F07}"/>
              </a:ext>
            </a:extLst>
          </p:cNvPr>
          <p:cNvSpPr txBox="1"/>
          <p:nvPr/>
        </p:nvSpPr>
        <p:spPr>
          <a:xfrm>
            <a:off x="567967" y="1777407"/>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008E991-5A23-438E-A76A-36D2976A3FDA}"/>
              </a:ext>
            </a:extLst>
          </p:cNvPr>
          <p:cNvSpPr txBox="1"/>
          <p:nvPr/>
        </p:nvSpPr>
        <p:spPr>
          <a:xfrm>
            <a:off x="1124193" y="1960950"/>
            <a:ext cx="1952835" cy="17990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33B23572-3BBB-60B4-A44B-5B741E58F278}"/>
              </a:ext>
            </a:extLst>
          </p:cNvPr>
          <p:cNvSpPr txBox="1"/>
          <p:nvPr/>
        </p:nvSpPr>
        <p:spPr>
          <a:xfrm>
            <a:off x="3878197" y="873447"/>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83262253-E359-5E2E-848B-7D04DC98CEB6}"/>
              </a:ext>
            </a:extLst>
          </p:cNvPr>
          <p:cNvSpPr txBox="1"/>
          <p:nvPr/>
        </p:nvSpPr>
        <p:spPr>
          <a:xfrm>
            <a:off x="3878196" y="1128457"/>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E625D4-B415-2BEE-1503-A4B402B0F613}"/>
              </a:ext>
            </a:extLst>
          </p:cNvPr>
          <p:cNvSpPr txBox="1"/>
          <p:nvPr/>
        </p:nvSpPr>
        <p:spPr>
          <a:xfrm>
            <a:off x="3878195" y="1383467"/>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36C1073A-4A99-7AEA-0115-4CFF353C407E}"/>
              </a:ext>
            </a:extLst>
          </p:cNvPr>
          <p:cNvSpPr txBox="1"/>
          <p:nvPr/>
        </p:nvSpPr>
        <p:spPr>
          <a:xfrm>
            <a:off x="3878194" y="1638477"/>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53F7415C-BA5E-6083-B635-236C160BCEC3}"/>
              </a:ext>
            </a:extLst>
          </p:cNvPr>
          <p:cNvSpPr txBox="1"/>
          <p:nvPr/>
        </p:nvSpPr>
        <p:spPr>
          <a:xfrm>
            <a:off x="3878194" y="1893485"/>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2933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3A2088-737F-430C-D332-3AE6932A4C72}"/>
              </a:ext>
            </a:extLst>
          </p:cNvPr>
          <p:cNvSpPr txBox="1"/>
          <p:nvPr/>
        </p:nvSpPr>
        <p:spPr>
          <a:xfrm>
            <a:off x="557643" y="3665288"/>
            <a:ext cx="5947063" cy="276999"/>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2C3FFC9-828E-5B48-03F9-1979FAA6DF1A}"/>
              </a:ext>
            </a:extLst>
          </p:cNvPr>
          <p:cNvSpPr txBox="1"/>
          <p:nvPr/>
        </p:nvSpPr>
        <p:spPr>
          <a:xfrm>
            <a:off x="557642" y="4074675"/>
            <a:ext cx="5947063" cy="276999"/>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83184F0-D090-9EBB-DDFC-A67E29A68772}"/>
              </a:ext>
            </a:extLst>
          </p:cNvPr>
          <p:cNvSpPr txBox="1"/>
          <p:nvPr/>
        </p:nvSpPr>
        <p:spPr>
          <a:xfrm>
            <a:off x="557643" y="4487279"/>
            <a:ext cx="5947063" cy="276999"/>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8BD189F-1204-078F-4D62-578BBF95D078}"/>
              </a:ext>
            </a:extLst>
          </p:cNvPr>
          <p:cNvSpPr txBox="1"/>
          <p:nvPr/>
        </p:nvSpPr>
        <p:spPr>
          <a:xfrm>
            <a:off x="363682" y="5649329"/>
            <a:ext cx="6141025" cy="1426880"/>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385A7C8-E7E6-969B-3647-76C317BDE4DB}"/>
              </a:ext>
            </a:extLst>
          </p:cNvPr>
          <p:cNvSpPr txBox="1"/>
          <p:nvPr/>
        </p:nvSpPr>
        <p:spPr>
          <a:xfrm>
            <a:off x="348271" y="8358997"/>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0A2CAED-05A2-C0A5-AA47-9693F8A40F7E}"/>
              </a:ext>
            </a:extLst>
          </p:cNvPr>
          <p:cNvSpPr txBox="1"/>
          <p:nvPr/>
        </p:nvSpPr>
        <p:spPr>
          <a:xfrm>
            <a:off x="348270" y="8579536"/>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5CACD37-E77C-DFA8-788B-0372F58F09C0}"/>
              </a:ext>
            </a:extLst>
          </p:cNvPr>
          <p:cNvSpPr txBox="1"/>
          <p:nvPr/>
        </p:nvSpPr>
        <p:spPr>
          <a:xfrm>
            <a:off x="348269" y="8800075"/>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E95A709-DF55-1A01-B487-29EE6964DED6}"/>
              </a:ext>
            </a:extLst>
          </p:cNvPr>
          <p:cNvSpPr txBox="1"/>
          <p:nvPr/>
        </p:nvSpPr>
        <p:spPr>
          <a:xfrm>
            <a:off x="348268" y="9020614"/>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D423B70-120D-C5FB-9A94-EC5834FA954B}"/>
              </a:ext>
            </a:extLst>
          </p:cNvPr>
          <p:cNvSpPr txBox="1"/>
          <p:nvPr/>
        </p:nvSpPr>
        <p:spPr>
          <a:xfrm>
            <a:off x="348268" y="9241152"/>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5554888-15DC-F658-E5E0-5D7D047844BE}"/>
              </a:ext>
            </a:extLst>
          </p:cNvPr>
          <p:cNvSpPr txBox="1"/>
          <p:nvPr/>
        </p:nvSpPr>
        <p:spPr>
          <a:xfrm>
            <a:off x="2413996" y="8369669"/>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88EE2F1A-9160-8806-AAC7-447094853292}"/>
              </a:ext>
            </a:extLst>
          </p:cNvPr>
          <p:cNvSpPr txBox="1"/>
          <p:nvPr/>
        </p:nvSpPr>
        <p:spPr>
          <a:xfrm>
            <a:off x="2413995" y="8584765"/>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CA989DC-41E9-2623-CC20-1875C2316A87}"/>
              </a:ext>
            </a:extLst>
          </p:cNvPr>
          <p:cNvSpPr txBox="1"/>
          <p:nvPr/>
        </p:nvSpPr>
        <p:spPr>
          <a:xfrm>
            <a:off x="2413994" y="8799861"/>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CE7AC9F-00A2-73D7-CA78-009EDD6A384F}"/>
              </a:ext>
            </a:extLst>
          </p:cNvPr>
          <p:cNvSpPr txBox="1"/>
          <p:nvPr/>
        </p:nvSpPr>
        <p:spPr>
          <a:xfrm>
            <a:off x="4770433" y="8173903"/>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91E5DE36-5D9E-7FDD-2889-B99D5E993B4E}"/>
              </a:ext>
            </a:extLst>
          </p:cNvPr>
          <p:cNvSpPr txBox="1"/>
          <p:nvPr/>
        </p:nvSpPr>
        <p:spPr>
          <a:xfrm>
            <a:off x="4770433" y="8388999"/>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87DD590-B7A7-E520-C42D-318539555F85}"/>
              </a:ext>
            </a:extLst>
          </p:cNvPr>
          <p:cNvSpPr txBox="1"/>
          <p:nvPr/>
        </p:nvSpPr>
        <p:spPr>
          <a:xfrm>
            <a:off x="4770433" y="8604095"/>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75F34224-0C4A-179F-4D10-C8226E7C4ADD}"/>
              </a:ext>
            </a:extLst>
          </p:cNvPr>
          <p:cNvSpPr/>
          <p:nvPr/>
        </p:nvSpPr>
        <p:spPr>
          <a:xfrm>
            <a:off x="2754995" y="955122"/>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A" sz="1600" dirty="0"/>
              <a:t>Start</a:t>
            </a:r>
          </a:p>
        </p:txBody>
      </p:sp>
      <p:sp>
        <p:nvSpPr>
          <p:cNvPr id="18" name="Rounded Rectangle 17">
            <a:extLst>
              <a:ext uri="{FF2B5EF4-FFF2-40B4-BE49-F238E27FC236}">
                <a16:creationId xmlns:a16="http://schemas.microsoft.com/office/drawing/2014/main" id="{EE53C8C2-229D-0A9A-E39D-7343F242A5B6}"/>
              </a:ext>
            </a:extLst>
          </p:cNvPr>
          <p:cNvSpPr/>
          <p:nvPr/>
        </p:nvSpPr>
        <p:spPr>
          <a:xfrm>
            <a:off x="5018043" y="1451068"/>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A" sz="1600" dirty="0"/>
              <a:t>Action</a:t>
            </a:r>
          </a:p>
          <a:p>
            <a:pPr algn="ctr"/>
            <a:r>
              <a:rPr lang="en-SA" sz="1050" i="1" dirty="0"/>
              <a:t>Place city on map</a:t>
            </a:r>
          </a:p>
        </p:txBody>
      </p:sp>
      <p:sp>
        <p:nvSpPr>
          <p:cNvPr id="23" name="Rounded Rectangle 22">
            <a:extLst>
              <a:ext uri="{FF2B5EF4-FFF2-40B4-BE49-F238E27FC236}">
                <a16:creationId xmlns:a16="http://schemas.microsoft.com/office/drawing/2014/main" id="{4D58E5D1-044E-8D55-AF7C-808CB423F184}"/>
              </a:ext>
            </a:extLst>
          </p:cNvPr>
          <p:cNvSpPr/>
          <p:nvPr/>
        </p:nvSpPr>
        <p:spPr>
          <a:xfrm>
            <a:off x="3764916" y="2138369"/>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A" sz="1600" dirty="0"/>
              <a:t>Learn</a:t>
            </a:r>
          </a:p>
          <a:p>
            <a:pPr algn="ctr"/>
            <a:r>
              <a:rPr lang="en-SA" sz="1050" dirty="0"/>
              <a:t>Fun facts</a:t>
            </a:r>
          </a:p>
        </p:txBody>
      </p:sp>
      <p:sp>
        <p:nvSpPr>
          <p:cNvPr id="24" name="Rounded Rectangle 23">
            <a:extLst>
              <a:ext uri="{FF2B5EF4-FFF2-40B4-BE49-F238E27FC236}">
                <a16:creationId xmlns:a16="http://schemas.microsoft.com/office/drawing/2014/main" id="{DEBF82EA-05E8-A38D-991D-8CF61962DE6C}"/>
              </a:ext>
            </a:extLst>
          </p:cNvPr>
          <p:cNvSpPr/>
          <p:nvPr/>
        </p:nvSpPr>
        <p:spPr>
          <a:xfrm>
            <a:off x="1675154" y="2138369"/>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A" sz="1600" dirty="0"/>
              <a:t>Reward</a:t>
            </a:r>
          </a:p>
          <a:p>
            <a:pPr algn="ctr"/>
            <a:r>
              <a:rPr lang="en-SA" sz="1050" dirty="0"/>
              <a:t>+10 points</a:t>
            </a:r>
          </a:p>
        </p:txBody>
      </p:sp>
      <p:sp>
        <p:nvSpPr>
          <p:cNvPr id="25" name="Rounded Rectangle 24">
            <a:extLst>
              <a:ext uri="{FF2B5EF4-FFF2-40B4-BE49-F238E27FC236}">
                <a16:creationId xmlns:a16="http://schemas.microsoft.com/office/drawing/2014/main" id="{148D7C1B-85AA-26B0-B89A-5691166BE3D9}"/>
              </a:ext>
            </a:extLst>
          </p:cNvPr>
          <p:cNvSpPr/>
          <p:nvPr/>
        </p:nvSpPr>
        <p:spPr>
          <a:xfrm>
            <a:off x="491947" y="1402826"/>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A" sz="1600" dirty="0"/>
              <a:t>Progress</a:t>
            </a:r>
          </a:p>
          <a:p>
            <a:pPr algn="ctr"/>
            <a:r>
              <a:rPr lang="en-SA" sz="1050" dirty="0"/>
              <a:t>Move to next coutry</a:t>
            </a:r>
          </a:p>
        </p:txBody>
      </p:sp>
      <p:cxnSp>
        <p:nvCxnSpPr>
          <p:cNvPr id="26" name="Elbow Connector 25">
            <a:extLst>
              <a:ext uri="{FF2B5EF4-FFF2-40B4-BE49-F238E27FC236}">
                <a16:creationId xmlns:a16="http://schemas.microsoft.com/office/drawing/2014/main" id="{62312F5B-06ED-7422-1AB3-DA06A45EE0DE}"/>
              </a:ext>
            </a:extLst>
          </p:cNvPr>
          <p:cNvCxnSpPr>
            <a:cxnSpLocks/>
            <a:stCxn id="11" idx="3"/>
            <a:endCxn id="18" idx="0"/>
          </p:cNvCxnSpPr>
          <p:nvPr/>
        </p:nvCxnSpPr>
        <p:spPr>
          <a:xfrm>
            <a:off x="4122328" y="1203095"/>
            <a:ext cx="1579382" cy="24797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Elbow Connector 28">
            <a:extLst>
              <a:ext uri="{FF2B5EF4-FFF2-40B4-BE49-F238E27FC236}">
                <a16:creationId xmlns:a16="http://schemas.microsoft.com/office/drawing/2014/main" id="{01E778A7-14A6-B470-39C1-A1D200CC8C4A}"/>
              </a:ext>
            </a:extLst>
          </p:cNvPr>
          <p:cNvCxnSpPr>
            <a:cxnSpLocks/>
            <a:stCxn id="18" idx="2"/>
            <a:endCxn id="23" idx="3"/>
          </p:cNvCxnSpPr>
          <p:nvPr/>
        </p:nvCxnSpPr>
        <p:spPr>
          <a:xfrm rot="5400000">
            <a:off x="5197316" y="1881948"/>
            <a:ext cx="439328" cy="56946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Elbow Connector 29">
            <a:extLst>
              <a:ext uri="{FF2B5EF4-FFF2-40B4-BE49-F238E27FC236}">
                <a16:creationId xmlns:a16="http://schemas.microsoft.com/office/drawing/2014/main" id="{5CF3CD33-3798-6BCF-A795-400ACCCFF733}"/>
              </a:ext>
            </a:extLst>
          </p:cNvPr>
          <p:cNvCxnSpPr>
            <a:cxnSpLocks/>
            <a:stCxn id="25" idx="0"/>
            <a:endCxn id="11" idx="1"/>
          </p:cNvCxnSpPr>
          <p:nvPr/>
        </p:nvCxnSpPr>
        <p:spPr>
          <a:xfrm rot="5400000" flipH="1" flipV="1">
            <a:off x="1865439" y="513271"/>
            <a:ext cx="199731" cy="157938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40027579-4B31-0C0A-DF62-EF954DE44A50}"/>
              </a:ext>
            </a:extLst>
          </p:cNvPr>
          <p:cNvCxnSpPr>
            <a:cxnSpLocks/>
            <a:stCxn id="24" idx="1"/>
            <a:endCxn id="25" idx="2"/>
          </p:cNvCxnSpPr>
          <p:nvPr/>
        </p:nvCxnSpPr>
        <p:spPr>
          <a:xfrm rot="10800000">
            <a:off x="1175614" y="1898772"/>
            <a:ext cx="499540" cy="48757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C67093B4-E9FC-D48F-80DB-88C90367CD6B}"/>
              </a:ext>
            </a:extLst>
          </p:cNvPr>
          <p:cNvCxnSpPr>
            <a:cxnSpLocks/>
            <a:stCxn id="23" idx="1"/>
            <a:endCxn id="24" idx="3"/>
          </p:cNvCxnSpPr>
          <p:nvPr/>
        </p:nvCxnSpPr>
        <p:spPr>
          <a:xfrm flipH="1">
            <a:off x="3042487" y="2386342"/>
            <a:ext cx="7224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871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ey square with a picture of a mountain&#10;&#10;AI-generated content may be incorrect.">
            <a:extLst>
              <a:ext uri="{FF2B5EF4-FFF2-40B4-BE49-F238E27FC236}">
                <a16:creationId xmlns:a16="http://schemas.microsoft.com/office/drawing/2014/main" id="{0BE1549B-7BEC-88EF-F361-0AC92F42BD88}"/>
              </a:ext>
            </a:extLst>
          </p:cNvPr>
          <p:cNvPicPr>
            <a:picLocks noChangeAspect="1"/>
          </p:cNvPicPr>
          <p:nvPr/>
        </p:nvPicPr>
        <p:blipFill>
          <a:blip r:embed="rId2"/>
          <a:srcRect r="3742"/>
          <a:stretch>
            <a:fillRect/>
          </a:stretch>
        </p:blipFill>
        <p:spPr>
          <a:xfrm>
            <a:off x="298213" y="3257256"/>
            <a:ext cx="3059854" cy="1530068"/>
          </a:xfrm>
          <a:prstGeom prst="rect">
            <a:avLst/>
          </a:prstGeom>
        </p:spPr>
      </p:pic>
      <p:pic>
        <p:nvPicPr>
          <p:cNvPr id="3" name="Picture 2" descr="A grey square with a picture of a mountain&#10;&#10;AI-generated content may be incorrect.">
            <a:extLst>
              <a:ext uri="{FF2B5EF4-FFF2-40B4-BE49-F238E27FC236}">
                <a16:creationId xmlns:a16="http://schemas.microsoft.com/office/drawing/2014/main" id="{B8F4FA12-0944-5F9D-97B9-0227444FD4F1}"/>
              </a:ext>
            </a:extLst>
          </p:cNvPr>
          <p:cNvPicPr>
            <a:picLocks noChangeAspect="1"/>
          </p:cNvPicPr>
          <p:nvPr/>
        </p:nvPicPr>
        <p:blipFill>
          <a:blip r:embed="rId2"/>
          <a:srcRect r="3742"/>
          <a:stretch>
            <a:fillRect/>
          </a:stretch>
        </p:blipFill>
        <p:spPr>
          <a:xfrm>
            <a:off x="3448897" y="3257256"/>
            <a:ext cx="3059854" cy="1530068"/>
          </a:xfrm>
          <a:prstGeom prst="rect">
            <a:avLst/>
          </a:prstGeom>
        </p:spPr>
      </p:pic>
      <p:pic>
        <p:nvPicPr>
          <p:cNvPr id="4" name="Picture 3" descr="A grey square with a picture of a mountain&#10;&#10;AI-generated content may be incorrect.">
            <a:extLst>
              <a:ext uri="{FF2B5EF4-FFF2-40B4-BE49-F238E27FC236}">
                <a16:creationId xmlns:a16="http://schemas.microsoft.com/office/drawing/2014/main" id="{AF8F30C1-2209-F059-F5BF-CAA418086D40}"/>
              </a:ext>
            </a:extLst>
          </p:cNvPr>
          <p:cNvPicPr>
            <a:picLocks noChangeAspect="1"/>
          </p:cNvPicPr>
          <p:nvPr/>
        </p:nvPicPr>
        <p:blipFill>
          <a:blip r:embed="rId2"/>
          <a:srcRect r="3742"/>
          <a:stretch>
            <a:fillRect/>
          </a:stretch>
        </p:blipFill>
        <p:spPr>
          <a:xfrm>
            <a:off x="298213" y="4850122"/>
            <a:ext cx="3059854" cy="1530068"/>
          </a:xfrm>
          <a:prstGeom prst="rect">
            <a:avLst/>
          </a:prstGeom>
        </p:spPr>
      </p:pic>
      <p:pic>
        <p:nvPicPr>
          <p:cNvPr id="5" name="Picture 4" descr="A grey square with a picture of a mountain&#10;&#10;AI-generated content may be incorrect.">
            <a:extLst>
              <a:ext uri="{FF2B5EF4-FFF2-40B4-BE49-F238E27FC236}">
                <a16:creationId xmlns:a16="http://schemas.microsoft.com/office/drawing/2014/main" id="{37F486E2-CCDC-9F2D-B7B2-3FCC1C5C31D5}"/>
              </a:ext>
            </a:extLst>
          </p:cNvPr>
          <p:cNvPicPr>
            <a:picLocks noChangeAspect="1"/>
          </p:cNvPicPr>
          <p:nvPr/>
        </p:nvPicPr>
        <p:blipFill>
          <a:blip r:embed="rId2"/>
          <a:srcRect r="3742"/>
          <a:stretch>
            <a:fillRect/>
          </a:stretch>
        </p:blipFill>
        <p:spPr>
          <a:xfrm>
            <a:off x="3448897" y="4850122"/>
            <a:ext cx="3059854" cy="1530068"/>
          </a:xfrm>
          <a:prstGeom prst="rect">
            <a:avLst/>
          </a:prstGeom>
        </p:spPr>
      </p:pic>
      <p:pic>
        <p:nvPicPr>
          <p:cNvPr id="6" name="Picture 5" descr="A grey and white image&#10;&#10;AI-generated content may be incorrect.">
            <a:extLst>
              <a:ext uri="{FF2B5EF4-FFF2-40B4-BE49-F238E27FC236}">
                <a16:creationId xmlns:a16="http://schemas.microsoft.com/office/drawing/2014/main" id="{1FFBC471-84F3-02A9-816E-48703B6CD712}"/>
              </a:ext>
            </a:extLst>
          </p:cNvPr>
          <p:cNvPicPr>
            <a:picLocks noChangeAspect="1"/>
          </p:cNvPicPr>
          <p:nvPr/>
        </p:nvPicPr>
        <p:blipFill>
          <a:blip r:embed="rId3"/>
          <a:stretch>
            <a:fillRect/>
          </a:stretch>
        </p:blipFill>
        <p:spPr>
          <a:xfrm>
            <a:off x="437455" y="6469783"/>
            <a:ext cx="1879063" cy="2408120"/>
          </a:xfrm>
          <a:prstGeom prst="rect">
            <a:avLst/>
          </a:prstGeom>
        </p:spPr>
      </p:pic>
      <p:pic>
        <p:nvPicPr>
          <p:cNvPr id="9" name="Picture 8" descr="A grey and white image&#10;&#10;AI-generated content may be incorrect.">
            <a:extLst>
              <a:ext uri="{FF2B5EF4-FFF2-40B4-BE49-F238E27FC236}">
                <a16:creationId xmlns:a16="http://schemas.microsoft.com/office/drawing/2014/main" id="{B711F0D8-8A2C-2C76-9199-8C7751B065D2}"/>
              </a:ext>
            </a:extLst>
          </p:cNvPr>
          <p:cNvPicPr>
            <a:picLocks noChangeAspect="1"/>
          </p:cNvPicPr>
          <p:nvPr/>
        </p:nvPicPr>
        <p:blipFill>
          <a:blip r:embed="rId3"/>
          <a:stretch>
            <a:fillRect/>
          </a:stretch>
        </p:blipFill>
        <p:spPr>
          <a:xfrm>
            <a:off x="2489468" y="6469783"/>
            <a:ext cx="1879063" cy="2408120"/>
          </a:xfrm>
          <a:prstGeom prst="rect">
            <a:avLst/>
          </a:prstGeom>
        </p:spPr>
      </p:pic>
      <p:pic>
        <p:nvPicPr>
          <p:cNvPr id="10" name="Picture 9" descr="A grey and white image&#10;&#10;AI-generated content may be incorrect.">
            <a:extLst>
              <a:ext uri="{FF2B5EF4-FFF2-40B4-BE49-F238E27FC236}">
                <a16:creationId xmlns:a16="http://schemas.microsoft.com/office/drawing/2014/main" id="{8AD1DDFD-179D-693C-CA86-8428D9BE96B2}"/>
              </a:ext>
            </a:extLst>
          </p:cNvPr>
          <p:cNvPicPr>
            <a:picLocks noChangeAspect="1"/>
          </p:cNvPicPr>
          <p:nvPr/>
        </p:nvPicPr>
        <p:blipFill>
          <a:blip r:embed="rId3"/>
          <a:stretch>
            <a:fillRect/>
          </a:stretch>
        </p:blipFill>
        <p:spPr>
          <a:xfrm>
            <a:off x="4548408" y="6469783"/>
            <a:ext cx="1879063" cy="2408120"/>
          </a:xfrm>
          <a:prstGeom prst="rect">
            <a:avLst/>
          </a:prstGeom>
        </p:spPr>
      </p:pic>
      <p:sp>
        <p:nvSpPr>
          <p:cNvPr id="11" name="TextBox 10">
            <a:extLst>
              <a:ext uri="{FF2B5EF4-FFF2-40B4-BE49-F238E27FC236}">
                <a16:creationId xmlns:a16="http://schemas.microsoft.com/office/drawing/2014/main" id="{EA65618D-0698-6208-EFB7-1B28BD0C28C6}"/>
              </a:ext>
            </a:extLst>
          </p:cNvPr>
          <p:cNvSpPr txBox="1"/>
          <p:nvPr/>
        </p:nvSpPr>
        <p:spPr>
          <a:xfrm>
            <a:off x="2360802" y="818277"/>
            <a:ext cx="4248267" cy="1530068"/>
          </a:xfrm>
          <a:prstGeom prst="rect">
            <a:avLst/>
          </a:prstGeom>
          <a:solidFill>
            <a:schemeClr val="bg1"/>
          </a:solidFill>
          <a:ln>
            <a:solidFill>
              <a:schemeClr val="bg1">
                <a:lumMod val="85000"/>
              </a:schemeClr>
            </a:solidFill>
          </a:ln>
        </p:spPr>
        <p:txBody>
          <a:bodyPr wrap="square" rtlCol="0">
            <a:noAutofit/>
          </a:bodyPr>
          <a:lstStyle/>
          <a:p>
            <a:endParaRPr lang="en-SA" sz="1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ECAF600-5A86-C5BD-E629-F16F052D2592}"/>
              </a:ext>
            </a:extLst>
          </p:cNvPr>
          <p:cNvSpPr txBox="1"/>
          <p:nvPr/>
        </p:nvSpPr>
        <p:spPr>
          <a:xfrm>
            <a:off x="257577" y="880738"/>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418D792-D130-D5D2-6662-9A3D567FA17E}"/>
              </a:ext>
            </a:extLst>
          </p:cNvPr>
          <p:cNvSpPr txBox="1"/>
          <p:nvPr/>
        </p:nvSpPr>
        <p:spPr>
          <a:xfrm>
            <a:off x="257576" y="1129662"/>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858A0071-449E-7DC3-F5A1-A10AC0F88F56}"/>
              </a:ext>
            </a:extLst>
          </p:cNvPr>
          <p:cNvSpPr txBox="1"/>
          <p:nvPr/>
        </p:nvSpPr>
        <p:spPr>
          <a:xfrm>
            <a:off x="257575" y="1378586"/>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3DD5E6E-4D32-675C-BD55-FD0E8E192059}"/>
              </a:ext>
            </a:extLst>
          </p:cNvPr>
          <p:cNvSpPr txBox="1"/>
          <p:nvPr/>
        </p:nvSpPr>
        <p:spPr>
          <a:xfrm>
            <a:off x="257574" y="1627510"/>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C37BFDAD-0310-2DA7-EEEB-C9B0C64C4A00}"/>
              </a:ext>
            </a:extLst>
          </p:cNvPr>
          <p:cNvSpPr txBox="1"/>
          <p:nvPr/>
        </p:nvSpPr>
        <p:spPr>
          <a:xfrm>
            <a:off x="257574" y="1876434"/>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2E7C3D3-A598-A817-2E34-9C1881E444F0}"/>
              </a:ext>
            </a:extLst>
          </p:cNvPr>
          <p:cNvSpPr txBox="1"/>
          <p:nvPr/>
        </p:nvSpPr>
        <p:spPr>
          <a:xfrm>
            <a:off x="257573" y="2125357"/>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dirty="0">
              <a:solidFill>
                <a:srgbClr val="E13140"/>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99545CBC-465C-0A14-B64A-7D91CF627121}"/>
              </a:ext>
            </a:extLst>
          </p:cNvPr>
          <p:cNvSpPr txBox="1"/>
          <p:nvPr/>
        </p:nvSpPr>
        <p:spPr>
          <a:xfrm>
            <a:off x="2489468" y="9356775"/>
            <a:ext cx="4078082" cy="262180"/>
          </a:xfrm>
          <a:prstGeom prst="rect">
            <a:avLst/>
          </a:prstGeom>
          <a:solidFill>
            <a:schemeClr val="bg1"/>
          </a:solidFill>
          <a:ln>
            <a:solidFill>
              <a:schemeClr val="bg1">
                <a:lumMod val="85000"/>
              </a:schemeClr>
            </a:solidFill>
          </a:ln>
        </p:spPr>
        <p:txBody>
          <a:bodyPr wrap="square" rtlCol="0">
            <a:noAutofit/>
          </a:bodyPr>
          <a:lstStyle/>
          <a:p>
            <a:endParaRPr lang="en-SA"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2939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A5E7AD-C6F2-58AA-40B5-296C177A2339}"/>
              </a:ext>
            </a:extLst>
          </p:cNvPr>
          <p:cNvSpPr txBox="1"/>
          <p:nvPr/>
        </p:nvSpPr>
        <p:spPr>
          <a:xfrm>
            <a:off x="282620" y="797494"/>
            <a:ext cx="6232480" cy="3587469"/>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70AA979-400A-E723-CA80-589C4B91AFDA}"/>
              </a:ext>
            </a:extLst>
          </p:cNvPr>
          <p:cNvSpPr txBox="1"/>
          <p:nvPr/>
        </p:nvSpPr>
        <p:spPr>
          <a:xfrm>
            <a:off x="749233" y="5521038"/>
            <a:ext cx="5765868" cy="548836"/>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FDDB912-BCB3-DCEB-CFD3-FEB184409C2D}"/>
              </a:ext>
            </a:extLst>
          </p:cNvPr>
          <p:cNvSpPr txBox="1"/>
          <p:nvPr/>
        </p:nvSpPr>
        <p:spPr>
          <a:xfrm>
            <a:off x="749233" y="6195952"/>
            <a:ext cx="5765868" cy="548836"/>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8AEC22F-9A2A-74AB-E2E6-F808B6E25039}"/>
              </a:ext>
            </a:extLst>
          </p:cNvPr>
          <p:cNvSpPr txBox="1"/>
          <p:nvPr/>
        </p:nvSpPr>
        <p:spPr>
          <a:xfrm>
            <a:off x="749233" y="6870866"/>
            <a:ext cx="5765868" cy="548836"/>
          </a:xfrm>
          <a:prstGeom prst="rect">
            <a:avLst/>
          </a:prstGeom>
          <a:solidFill>
            <a:schemeClr val="bg1"/>
          </a:solidFill>
          <a:ln>
            <a:solidFill>
              <a:schemeClr val="bg1">
                <a:lumMod val="85000"/>
              </a:schemeClr>
            </a:solidFill>
          </a:ln>
        </p:spPr>
        <p:txBody>
          <a:bodyPr wrap="square" rtlCol="0">
            <a:normAutofit/>
          </a:bodyPr>
          <a:lstStyle/>
          <a:p>
            <a:endParaRPr lang="en-SA"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5515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93980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4c99ac5-f6ea-4135-b1c0-e58780b79fd4">
      <Terms xmlns="http://schemas.microsoft.com/office/infopath/2007/PartnerControls"/>
    </lcf76f155ced4ddcb4097134ff3c332f>
    <TaxCatchAll xmlns="5d1d679d-936a-45a1-aaba-a0947b8bc3e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25A07D506DE2748A1B740C0A72D6ABB" ma:contentTypeVersion="12" ma:contentTypeDescription="Create a new document." ma:contentTypeScope="" ma:versionID="a75a53a20a2d617b9667cdb23b6f72dd">
  <xsd:schema xmlns:xsd="http://www.w3.org/2001/XMLSchema" xmlns:xs="http://www.w3.org/2001/XMLSchema" xmlns:p="http://schemas.microsoft.com/office/2006/metadata/properties" xmlns:ns2="e4c99ac5-f6ea-4135-b1c0-e58780b79fd4" xmlns:ns3="5d1d679d-936a-45a1-aaba-a0947b8bc3e5" targetNamespace="http://schemas.microsoft.com/office/2006/metadata/properties" ma:root="true" ma:fieldsID="94af757681e451a348e1ef2840fa059f" ns2:_="" ns3:_="">
    <xsd:import namespace="e4c99ac5-f6ea-4135-b1c0-e58780b79fd4"/>
    <xsd:import namespace="5d1d679d-936a-45a1-aaba-a0947b8bc3e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c99ac5-f6ea-4135-b1c0-e58780b79f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db886a3-360a-4c42-8388-d13770061d7a"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1d679d-936a-45a1-aaba-a0947b8bc3e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fa73a4a-8ce2-465b-a5de-7266facd6f7e}" ma:internalName="TaxCatchAll" ma:showField="CatchAllData" ma:web="5d1d679d-936a-45a1-aaba-a0947b8bc3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FC9892-B75C-4B9A-96B4-B39719B72B95}">
  <ds:schemaRefs>
    <ds:schemaRef ds:uri="http://schemas.microsoft.com/office/2006/metadata/properties"/>
    <ds:schemaRef ds:uri="http://schemas.microsoft.com/office/infopath/2007/PartnerControls"/>
    <ds:schemaRef ds:uri="e4c99ac5-f6ea-4135-b1c0-e58780b79fd4"/>
    <ds:schemaRef ds:uri="5d1d679d-936a-45a1-aaba-a0947b8bc3e5"/>
  </ds:schemaRefs>
</ds:datastoreItem>
</file>

<file path=customXml/itemProps2.xml><?xml version="1.0" encoding="utf-8"?>
<ds:datastoreItem xmlns:ds="http://schemas.openxmlformats.org/officeDocument/2006/customXml" ds:itemID="{FB370AFB-1BE2-4FD9-8270-97204AE752F0}">
  <ds:schemaRefs>
    <ds:schemaRef ds:uri="http://schemas.microsoft.com/sharepoint/v3/contenttype/forms"/>
  </ds:schemaRefs>
</ds:datastoreItem>
</file>

<file path=customXml/itemProps3.xml><?xml version="1.0" encoding="utf-8"?>
<ds:datastoreItem xmlns:ds="http://schemas.openxmlformats.org/officeDocument/2006/customXml" ds:itemID="{5BBBD224-7F76-42CC-9A82-059DCF41A8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c99ac5-f6ea-4135-b1c0-e58780b79fd4"/>
    <ds:schemaRef ds:uri="5d1d679d-936a-45a1-aaba-a0947b8bc3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de2f3a5-898c-46a8-8767-325a3ea57c42}" enabled="1" method="Standard" siteId="{ee818347-bac4-4ebf-a695-bf2bc729f555}" contentBits="2" removed="0"/>
</clbl:labelList>
</file>

<file path=docProps/app.xml><?xml version="1.0" encoding="utf-8"?>
<Properties xmlns="http://schemas.openxmlformats.org/officeDocument/2006/extended-properties" xmlns:vt="http://schemas.openxmlformats.org/officeDocument/2006/docPropsVTypes">
  <Template>Office Theme</Template>
  <TotalTime>537</TotalTime>
  <Words>18</Words>
  <Application>Microsoft Macintosh PowerPoint</Application>
  <PresentationFormat>A4 Paper (210x297 mm)</PresentationFormat>
  <Paragraphs>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Guillaume Champavere</dc:creator>
  <cp:lastModifiedBy>Guillaume Champavere</cp:lastModifiedBy>
  <cp:revision>129</cp:revision>
  <cp:lastPrinted>2025-09-24T11:20:40Z</cp:lastPrinted>
  <dcterms:created xsi:type="dcterms:W3CDTF">2025-09-23T11:39:47Z</dcterms:created>
  <dcterms:modified xsi:type="dcterms:W3CDTF">2025-11-04T05:51:57Z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Restricted</vt:lpwstr>
  </property>
  <property fmtid="{D5CDD505-2E9C-101B-9397-08002B2CF9AE}" pid="4" name="ContentTypeId">
    <vt:lpwstr>0x010100825A07D506DE2748A1B740C0A72D6ABB</vt:lpwstr>
  </property>
  <property fmtid="{D5CDD505-2E9C-101B-9397-08002B2CF9AE}" pid="5" name="MediaServiceImageTags">
    <vt:lpwstr/>
  </property>
</Properties>
</file>