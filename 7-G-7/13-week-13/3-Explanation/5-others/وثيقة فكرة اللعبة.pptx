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7" r:id="rId5"/>
    <p:sldId id="262" r:id="rId6"/>
    <p:sldId id="263" r:id="rId7"/>
    <p:sldId id="264" r:id="rId8"/>
    <p:sldId id="265" r:id="rId9"/>
    <p:sldId id="266" r:id="rId10"/>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3140"/>
    <a:srgbClr val="5129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2921"/>
    <p:restoredTop sz="94720"/>
  </p:normalViewPr>
  <p:slideViewPr>
    <p:cSldViewPr snapToGrid="0">
      <p:cViewPr varScale="1">
        <p:scale>
          <a:sx n="52" d="100"/>
          <a:sy n="52" d="100"/>
        </p:scale>
        <p:origin x="217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mas Al-Harbi" userId="f9a8e352-d037-4e41-af6a-8e12b07e037d" providerId="ADAL" clId="{25F82C2F-1F09-424A-A5C4-EFCF7C4E59F2}"/>
    <pc:docChg chg="modMainMaster">
      <pc:chgData name="Remas Al-Harbi" userId="f9a8e352-d037-4e41-af6a-8e12b07e037d" providerId="ADAL" clId="{25F82C2F-1F09-424A-A5C4-EFCF7C4E59F2}" dt="2025-11-04T10:55:54.327" v="31" actId="20577"/>
      <pc:docMkLst>
        <pc:docMk/>
      </pc:docMkLst>
      <pc:sldMasterChg chg="modSldLayout">
        <pc:chgData name="Remas Al-Harbi" userId="f9a8e352-d037-4e41-af6a-8e12b07e037d" providerId="ADAL" clId="{25F82C2F-1F09-424A-A5C4-EFCF7C4E59F2}" dt="2025-11-04T10:55:54.327" v="31" actId="20577"/>
        <pc:sldMasterMkLst>
          <pc:docMk/>
          <pc:sldMasterMk cId="3550800473" sldId="2147483660"/>
        </pc:sldMasterMkLst>
        <pc:sldLayoutChg chg="modSp mod">
          <pc:chgData name="Remas Al-Harbi" userId="f9a8e352-d037-4e41-af6a-8e12b07e037d" providerId="ADAL" clId="{25F82C2F-1F09-424A-A5C4-EFCF7C4E59F2}" dt="2025-11-04T10:55:54.327" v="31" actId="20577"/>
          <pc:sldLayoutMkLst>
            <pc:docMk/>
            <pc:sldMasterMk cId="3550800473" sldId="2147483660"/>
            <pc:sldLayoutMk cId="574096863" sldId="2147483662"/>
          </pc:sldLayoutMkLst>
          <pc:spChg chg="mod">
            <ac:chgData name="Remas Al-Harbi" userId="f9a8e352-d037-4e41-af6a-8e12b07e037d" providerId="ADAL" clId="{25F82C2F-1F09-424A-A5C4-EFCF7C4E59F2}" dt="2025-11-04T10:55:54.327" v="31" actId="20577"/>
            <ac:spMkLst>
              <pc:docMk/>
              <pc:sldMasterMk cId="3550800473" sldId="2147483660"/>
              <pc:sldLayoutMk cId="574096863" sldId="2147483662"/>
              <ac:spMk id="12" creationId="{4AD20CFB-8F09-0512-EB23-DCEA899F93B3}"/>
            </ac:spMkLst>
          </pc:spChg>
        </pc:sldLayoutChg>
        <pc:sldLayoutChg chg="modSp mod">
          <pc:chgData name="Remas Al-Harbi" userId="f9a8e352-d037-4e41-af6a-8e12b07e037d" providerId="ADAL" clId="{25F82C2F-1F09-424A-A5C4-EFCF7C4E59F2}" dt="2025-11-02T13:23:47.374" v="17" actId="20577"/>
          <pc:sldLayoutMkLst>
            <pc:docMk/>
            <pc:sldMasterMk cId="3550800473" sldId="2147483660"/>
            <pc:sldLayoutMk cId="654025571" sldId="2147483665"/>
          </pc:sldLayoutMkLst>
          <pc:spChg chg="mod">
            <ac:chgData name="Remas Al-Harbi" userId="f9a8e352-d037-4e41-af6a-8e12b07e037d" providerId="ADAL" clId="{25F82C2F-1F09-424A-A5C4-EFCF7C4E59F2}" dt="2025-11-02T13:23:47.374" v="17" actId="20577"/>
            <ac:spMkLst>
              <pc:docMk/>
              <pc:sldMasterMk cId="3550800473" sldId="2147483660"/>
              <pc:sldLayoutMk cId="654025571" sldId="2147483665"/>
              <ac:spMk id="36" creationId="{CB03887A-45CD-A639-79E6-9B7BA1EB34FD}"/>
            </ac:spMkLst>
          </pc:spChg>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B2DDFB7E-2FBF-6A4D-987E-4EA5B0AC2CA8}" type="datetimeFigureOut">
              <a:rPr lang="en-SA" smtClean="0"/>
              <a:t>11/04/2025</a:t>
            </a:fld>
            <a:endParaRPr lang="en-SA"/>
          </a:p>
        </p:txBody>
      </p:sp>
      <p:sp>
        <p:nvSpPr>
          <p:cNvPr id="5" name="Footer Placeholder 4"/>
          <p:cNvSpPr>
            <a:spLocks noGrp="1"/>
          </p:cNvSpPr>
          <p:nvPr>
            <p:ph type="ftr" sz="quarter" idx="11"/>
          </p:nvPr>
        </p:nvSpPr>
        <p:spPr/>
        <p:txBody>
          <a:bodyPr/>
          <a:lstStyle/>
          <a:p>
            <a:endParaRPr lang="en-SA"/>
          </a:p>
        </p:txBody>
      </p:sp>
      <p:sp>
        <p:nvSpPr>
          <p:cNvPr id="6" name="Slide Number Placeholder 5"/>
          <p:cNvSpPr>
            <a:spLocks noGrp="1"/>
          </p:cNvSpPr>
          <p:nvPr>
            <p:ph type="sldNum" sz="quarter" idx="12"/>
          </p:nvPr>
        </p:nvSpPr>
        <p:spPr/>
        <p:txBody>
          <a:bodyPr/>
          <a:lstStyle/>
          <a:p>
            <a:fld id="{0058CF0C-FABB-8845-BDF9-E1081C638B2A}" type="slidenum">
              <a:rPr lang="en-SA" smtClean="0"/>
              <a:t>‹#›</a:t>
            </a:fld>
            <a:endParaRPr lang="en-SA"/>
          </a:p>
        </p:txBody>
      </p:sp>
      <p:pic>
        <p:nvPicPr>
          <p:cNvPr id="7" name="Picture 6">
            <a:extLst>
              <a:ext uri="{FF2B5EF4-FFF2-40B4-BE49-F238E27FC236}">
                <a16:creationId xmlns:a16="http://schemas.microsoft.com/office/drawing/2014/main" id="{2B7BAF50-20CB-49E1-BC54-11DBB35C5170}"/>
              </a:ext>
            </a:extLst>
          </p:cNvPr>
          <p:cNvPicPr>
            <a:picLocks noChangeAspect="1"/>
          </p:cNvPicPr>
          <p:nvPr userDrawn="1"/>
        </p:nvPicPr>
        <p:blipFill>
          <a:blip r:embed="rId2"/>
          <a:stretch>
            <a:fillRect/>
          </a:stretch>
        </p:blipFill>
        <p:spPr>
          <a:xfrm>
            <a:off x="-53079" y="-53118"/>
            <a:ext cx="6911080" cy="9959118"/>
          </a:xfrm>
          <a:prstGeom prst="rect">
            <a:avLst/>
          </a:prstGeom>
        </p:spPr>
      </p:pic>
    </p:spTree>
    <p:extLst>
      <p:ext uri="{BB962C8B-B14F-4D97-AF65-F5344CB8AC3E}">
        <p14:creationId xmlns:p14="http://schemas.microsoft.com/office/powerpoint/2010/main" val="343550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BE951A73-9758-0378-3F01-F6A19FE80DF1}"/>
              </a:ext>
            </a:extLst>
          </p:cNvPr>
          <p:cNvPicPr>
            <a:picLocks noChangeAspect="1"/>
          </p:cNvPicPr>
          <p:nvPr userDrawn="1"/>
        </p:nvPicPr>
        <p:blipFill>
          <a:blip r:embed="rId2"/>
          <a:stretch>
            <a:fillRect/>
          </a:stretch>
        </p:blipFill>
        <p:spPr>
          <a:xfrm>
            <a:off x="-53079" y="-53118"/>
            <a:ext cx="6911080" cy="9959118"/>
          </a:xfrm>
          <a:prstGeom prst="rect">
            <a:avLst/>
          </a:prstGeom>
        </p:spPr>
      </p:pic>
      <p:pic>
        <p:nvPicPr>
          <p:cNvPr id="6" name="Picture 5" descr="A black background with white text&#10;&#10;Description automatically generated">
            <a:extLst>
              <a:ext uri="{FF2B5EF4-FFF2-40B4-BE49-F238E27FC236}">
                <a16:creationId xmlns:a16="http://schemas.microsoft.com/office/drawing/2014/main" id="{AF2DD4E2-3972-E227-0D08-87BFAC87FFD7}"/>
              </a:ext>
            </a:extLst>
          </p:cNvPr>
          <p:cNvPicPr>
            <a:picLocks noChangeAspect="1"/>
          </p:cNvPicPr>
          <p:nvPr userDrawn="1"/>
        </p:nvPicPr>
        <p:blipFill rotWithShape="1">
          <a:blip r:embed="rId3"/>
          <a:srcRect l="23031" t="31246" r="30909" b="34276"/>
          <a:stretch/>
        </p:blipFill>
        <p:spPr>
          <a:xfrm>
            <a:off x="2590340" y="150563"/>
            <a:ext cx="1444843" cy="608355"/>
          </a:xfrm>
          <a:prstGeom prst="rect">
            <a:avLst/>
          </a:prstGeom>
        </p:spPr>
      </p:pic>
      <p:pic>
        <p:nvPicPr>
          <p:cNvPr id="7" name="Graphic 6">
            <a:extLst>
              <a:ext uri="{FF2B5EF4-FFF2-40B4-BE49-F238E27FC236}">
                <a16:creationId xmlns:a16="http://schemas.microsoft.com/office/drawing/2014/main" id="{9407CFE1-8BFF-139A-A614-62237296368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65792" y="234722"/>
            <a:ext cx="673891" cy="512156"/>
          </a:xfrm>
          <a:prstGeom prst="rect">
            <a:avLst/>
          </a:prstGeom>
        </p:spPr>
      </p:pic>
      <p:sp>
        <p:nvSpPr>
          <p:cNvPr id="8" name="Rounded Rectangle 7">
            <a:extLst>
              <a:ext uri="{FF2B5EF4-FFF2-40B4-BE49-F238E27FC236}">
                <a16:creationId xmlns:a16="http://schemas.microsoft.com/office/drawing/2014/main" id="{6632F161-7BB5-CA9F-5D9E-FCB0DA055FD3}"/>
              </a:ext>
            </a:extLst>
          </p:cNvPr>
          <p:cNvSpPr/>
          <p:nvPr userDrawn="1"/>
        </p:nvSpPr>
        <p:spPr>
          <a:xfrm>
            <a:off x="151980" y="5590996"/>
            <a:ext cx="6500961" cy="4155019"/>
          </a:xfrm>
          <a:prstGeom prst="roundRect">
            <a:avLst>
              <a:gd name="adj" fmla="val 1479"/>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1000">
              <a:solidFill>
                <a:schemeClr val="tx1"/>
              </a:solidFill>
            </a:endParaRPr>
          </a:p>
        </p:txBody>
      </p:sp>
      <p:sp>
        <p:nvSpPr>
          <p:cNvPr id="9" name="Rounded Rectangle 8">
            <a:extLst>
              <a:ext uri="{FF2B5EF4-FFF2-40B4-BE49-F238E27FC236}">
                <a16:creationId xmlns:a16="http://schemas.microsoft.com/office/drawing/2014/main" id="{3FFA1303-8CEB-72C1-8FB1-74F7356782E1}"/>
              </a:ext>
            </a:extLst>
          </p:cNvPr>
          <p:cNvSpPr/>
          <p:nvPr userDrawn="1"/>
        </p:nvSpPr>
        <p:spPr>
          <a:xfrm>
            <a:off x="151979" y="4877072"/>
            <a:ext cx="6500958" cy="562356"/>
          </a:xfrm>
          <a:prstGeom prst="roundRect">
            <a:avLst>
              <a:gd name="adj" fmla="val 1749"/>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10" name="Rounded Rectangle 9">
            <a:extLst>
              <a:ext uri="{FF2B5EF4-FFF2-40B4-BE49-F238E27FC236}">
                <a16:creationId xmlns:a16="http://schemas.microsoft.com/office/drawing/2014/main" id="{DEC28692-4986-04BE-39A1-20E342A114B8}"/>
              </a:ext>
            </a:extLst>
          </p:cNvPr>
          <p:cNvSpPr/>
          <p:nvPr userDrawn="1"/>
        </p:nvSpPr>
        <p:spPr>
          <a:xfrm>
            <a:off x="151978" y="4149815"/>
            <a:ext cx="6500958" cy="562356"/>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11" name="TextBox 10">
            <a:extLst>
              <a:ext uri="{FF2B5EF4-FFF2-40B4-BE49-F238E27FC236}">
                <a16:creationId xmlns:a16="http://schemas.microsoft.com/office/drawing/2014/main" id="{BDC3EBFA-095F-0969-1194-0E4FBADB135E}"/>
              </a:ext>
            </a:extLst>
          </p:cNvPr>
          <p:cNvSpPr txBox="1"/>
          <p:nvPr userDrawn="1"/>
        </p:nvSpPr>
        <p:spPr>
          <a:xfrm>
            <a:off x="0" y="990066"/>
            <a:ext cx="6858000" cy="707886"/>
          </a:xfrm>
          <a:prstGeom prst="rect">
            <a:avLst/>
          </a:prstGeom>
          <a:noFill/>
        </p:spPr>
        <p:txBody>
          <a:bodyPr wrap="square">
            <a:spAutoFit/>
          </a:bodyPr>
          <a:lstStyle/>
          <a:p>
            <a:pPr algn="ctr" rtl="1"/>
            <a:r>
              <a:rPr lang="ar-SA" sz="4000" b="1" i="0" u="none" strike="noStrike" dirty="0">
                <a:solidFill>
                  <a:srgbClr val="FFFFFF"/>
                </a:solidFill>
                <a:effectLst/>
                <a:latin typeface="Arial" panose="020B0604020202020204" pitchFamily="34" charset="0"/>
                <a:cs typeface="Arial" panose="020B0604020202020204" pitchFamily="34" charset="0"/>
              </a:rPr>
              <a:t>التعلّم عبر اللعب</a:t>
            </a:r>
            <a:r>
              <a:rPr lang="en-US" sz="4000" b="1" i="0" u="none" strike="noStrike" dirty="0">
                <a:solidFill>
                  <a:srgbClr val="FFFFFF"/>
                </a:solidFill>
                <a:effectLst/>
                <a:latin typeface="Arial" panose="020B0604020202020204" pitchFamily="34" charset="0"/>
                <a:cs typeface="Arial" panose="020B0604020202020204" pitchFamily="34" charset="0"/>
              </a:rPr>
              <a:t> </a:t>
            </a:r>
            <a:r>
              <a:rPr lang="ar-SA" sz="4000" b="1" i="0" u="none" strike="noStrike" dirty="0">
                <a:solidFill>
                  <a:srgbClr val="E13140"/>
                </a:solidFill>
                <a:effectLst/>
                <a:latin typeface="Arial" panose="020B0604020202020204" pitchFamily="34" charset="0"/>
                <a:cs typeface="Arial" panose="020B0604020202020204" pitchFamily="34" charset="0"/>
              </a:rPr>
              <a:t>2025-2026</a:t>
            </a:r>
            <a:endParaRPr lang="en-SA" sz="4000" b="1" dirty="0">
              <a:solidFill>
                <a:srgbClr val="E13140"/>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4AD20CFB-8F09-0512-EB23-DCEA899F93B3}"/>
              </a:ext>
            </a:extLst>
          </p:cNvPr>
          <p:cNvSpPr txBox="1"/>
          <p:nvPr userDrawn="1"/>
        </p:nvSpPr>
        <p:spPr>
          <a:xfrm>
            <a:off x="-53080" y="1708650"/>
            <a:ext cx="6858000" cy="1323439"/>
          </a:xfrm>
          <a:prstGeom prst="rect">
            <a:avLst/>
          </a:prstGeom>
          <a:noFill/>
        </p:spPr>
        <p:txBody>
          <a:bodyPr wrap="square">
            <a:spAutoFit/>
          </a:bodyPr>
          <a:lstStyle/>
          <a:p>
            <a:pPr algn="ctr" rtl="1">
              <a:buNone/>
            </a:pPr>
            <a:r>
              <a:rPr lang="ar-SA" sz="1400" b="1" i="1" u="none" strike="noStrike" dirty="0">
                <a:solidFill>
                  <a:srgbClr val="FFFFFF"/>
                </a:solidFill>
                <a:effectLst/>
                <a:latin typeface="Arial" panose="020B0604020202020204" pitchFamily="34" charset="0"/>
                <a:cs typeface="Arial" panose="020B0604020202020204" pitchFamily="34" charset="0"/>
              </a:rPr>
              <a:t>المسابقة الوطنية لتصميم فكرة </a:t>
            </a:r>
            <a:r>
              <a:rPr lang="ar-SA" sz="1400" b="1" i="1" u="none" strike="noStrike">
                <a:solidFill>
                  <a:srgbClr val="FFFFFF"/>
                </a:solidFill>
                <a:effectLst/>
                <a:latin typeface="Arial" panose="020B0604020202020204" pitchFamily="34" charset="0"/>
                <a:cs typeface="Arial" panose="020B0604020202020204" pitchFamily="34" charset="0"/>
              </a:rPr>
              <a:t>لعبة تعليمية لهاتف الجوال </a:t>
            </a:r>
            <a:endParaRPr lang="en-US" sz="1400" b="1" i="1" u="none" strike="noStrike" dirty="0">
              <a:solidFill>
                <a:srgbClr val="FFFFFF"/>
              </a:solidFill>
              <a:effectLst/>
              <a:latin typeface="Arial" panose="020B0604020202020204" pitchFamily="34" charset="0"/>
              <a:cs typeface="Arial" panose="020B0604020202020204" pitchFamily="34" charset="0"/>
            </a:endParaRPr>
          </a:p>
          <a:p>
            <a:pPr algn="ctr" rtl="1">
              <a:buNone/>
            </a:pPr>
            <a:endParaRPr lang="en-US" sz="1600" b="1" i="1" u="none" strike="noStrike" dirty="0">
              <a:solidFill>
                <a:srgbClr val="FFFFFF"/>
              </a:solidFill>
              <a:effectLst/>
              <a:latin typeface="Arial" panose="020B0604020202020204" pitchFamily="34" charset="0"/>
              <a:cs typeface="Arial" panose="020B0604020202020204" pitchFamily="34" charset="0"/>
            </a:endParaRPr>
          </a:p>
          <a:p>
            <a:pPr algn="ctr" rtl="1">
              <a:buNone/>
            </a:pPr>
            <a:r>
              <a:rPr lang="ar-SA" sz="1100" b="0" dirty="0">
                <a:solidFill>
                  <a:schemeClr val="bg1"/>
                </a:solidFill>
              </a:rPr>
              <a:t>يرجى تسليم وثيقة فكرة اللعبة إلى لجنة التحكيم المدرسية </a:t>
            </a:r>
            <a:r>
              <a:rPr lang="ar-SA" sz="1100" b="0" dirty="0">
                <a:solidFill>
                  <a:srgbClr val="E13140"/>
                </a:solidFill>
              </a:rPr>
              <a:t>قبل 31 يناير</a:t>
            </a:r>
            <a:endParaRPr lang="fr-FR" sz="1100" b="0" dirty="0">
              <a:solidFill>
                <a:srgbClr val="E13140"/>
              </a:solidFill>
            </a:endParaRPr>
          </a:p>
          <a:p>
            <a:pPr marL="0" marR="0" lvl="0" indent="0" algn="ctr" defTabSz="457200" rtl="1" eaLnBrk="1" fontAlgn="auto" latinLnBrk="0" hangingPunct="1">
              <a:lnSpc>
                <a:spcPct val="100000"/>
              </a:lnSpc>
              <a:spcBef>
                <a:spcPts val="0"/>
              </a:spcBef>
              <a:spcAft>
                <a:spcPts val="0"/>
              </a:spcAft>
              <a:buClrTx/>
              <a:buSzTx/>
              <a:buFontTx/>
              <a:buNone/>
              <a:tabLst/>
              <a:defRPr/>
            </a:pPr>
            <a:r>
              <a:rPr lang="ar-AE" sz="1100" b="0" dirty="0">
                <a:solidFill>
                  <a:schemeClr val="bg1"/>
                </a:solidFill>
                <a:cs typeface="+mn-cs"/>
              </a:rPr>
              <a:t>هل تحتاج إلى مساعدة؟ شاهد </a:t>
            </a:r>
            <a:r>
              <a:rPr lang="ar-AE" sz="1100" b="0" dirty="0">
                <a:solidFill>
                  <a:srgbClr val="E13140"/>
                </a:solidFill>
                <a:cs typeface="+mn-cs"/>
              </a:rPr>
              <a:t>هذا الفيديو التعليمي </a:t>
            </a:r>
            <a:endParaRPr lang="en-US" sz="1100" b="0" i="0" dirty="0">
              <a:solidFill>
                <a:srgbClr val="E13140"/>
              </a:solidFill>
              <a:effectLst/>
              <a:latin typeface="Arial" panose="020B0604020202020204" pitchFamily="34" charset="0"/>
              <a:cs typeface="+mn-cs"/>
            </a:endParaRPr>
          </a:p>
          <a:p>
            <a:pPr algn="r" rtl="1">
              <a:buNone/>
            </a:pPr>
            <a:br>
              <a:rPr lang="en-US" sz="1400" b="1" i="1" dirty="0">
                <a:latin typeface="Arial" panose="020B0604020202020204" pitchFamily="34" charset="0"/>
                <a:cs typeface="Arial" panose="020B0604020202020204" pitchFamily="34" charset="0"/>
              </a:rPr>
            </a:br>
            <a:endParaRPr lang="en-SA" sz="1400" b="1" i="1" dirty="0">
              <a:latin typeface="Arial" panose="020B0604020202020204" pitchFamily="34" charset="0"/>
              <a:cs typeface="Arial" panose="020B0604020202020204" pitchFamily="34" charset="0"/>
            </a:endParaRPr>
          </a:p>
        </p:txBody>
      </p:sp>
      <p:sp>
        <p:nvSpPr>
          <p:cNvPr id="14" name="Rounded Rectangle 13">
            <a:extLst>
              <a:ext uri="{FF2B5EF4-FFF2-40B4-BE49-F238E27FC236}">
                <a16:creationId xmlns:a16="http://schemas.microsoft.com/office/drawing/2014/main" id="{2F6C6E94-A991-977B-B247-EBB6DCF8A7C2}"/>
              </a:ext>
            </a:extLst>
          </p:cNvPr>
          <p:cNvSpPr/>
          <p:nvPr userDrawn="1"/>
        </p:nvSpPr>
        <p:spPr>
          <a:xfrm>
            <a:off x="4438186" y="4880566"/>
            <a:ext cx="2212399"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dirty="0">
                <a:solidFill>
                  <a:schemeClr val="bg1"/>
                </a:solidFill>
                <a:latin typeface="Arial" panose="020B0604020202020204" pitchFamily="34" charset="0"/>
                <a:cs typeface="Arial" panose="020B0604020202020204" pitchFamily="34" charset="0"/>
              </a:rPr>
              <a:t>معلومات عضو لجنة التحكيم</a:t>
            </a:r>
            <a:endParaRPr lang="fr-FR" sz="1400" b="1" dirty="0">
              <a:solidFill>
                <a:schemeClr val="bg1"/>
              </a:solidFill>
              <a:latin typeface="Arial" panose="020B0604020202020204" pitchFamily="34" charset="0"/>
              <a:cs typeface="Arial" panose="020B0604020202020204" pitchFamily="34" charset="0"/>
            </a:endParaRPr>
          </a:p>
          <a:p>
            <a:pPr algn="ctr" rtl="1"/>
            <a:endParaRPr lang="en-US" sz="800" b="1" dirty="0">
              <a:solidFill>
                <a:schemeClr val="bg1"/>
              </a:solidFill>
              <a:latin typeface="Arial" panose="020B0604020202020204" pitchFamily="34" charset="0"/>
              <a:cs typeface="Arial" panose="020B0604020202020204" pitchFamily="34" charset="0"/>
            </a:endParaRPr>
          </a:p>
        </p:txBody>
      </p:sp>
      <p:sp>
        <p:nvSpPr>
          <p:cNvPr id="15" name="Rounded Rectangle 14">
            <a:extLst>
              <a:ext uri="{FF2B5EF4-FFF2-40B4-BE49-F238E27FC236}">
                <a16:creationId xmlns:a16="http://schemas.microsoft.com/office/drawing/2014/main" id="{3F64F81D-E803-46BB-B109-0B07EE825F47}"/>
              </a:ext>
            </a:extLst>
          </p:cNvPr>
          <p:cNvSpPr/>
          <p:nvPr userDrawn="1"/>
        </p:nvSpPr>
        <p:spPr>
          <a:xfrm>
            <a:off x="4438186" y="4153310"/>
            <a:ext cx="2212399"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dirty="0">
                <a:cs typeface="+mn-cs"/>
              </a:rPr>
              <a:t>إدارة التعليم:</a:t>
            </a:r>
            <a:endParaRPr lang="fr-FR" sz="1400" b="1" dirty="0">
              <a:cs typeface="+mn-cs"/>
            </a:endParaRPr>
          </a:p>
          <a:p>
            <a:pPr algn="ctr" rtl="1"/>
            <a:endParaRPr lang="en-US" sz="800" b="1" dirty="0">
              <a:solidFill>
                <a:schemeClr val="bg1"/>
              </a:solidFill>
              <a:latin typeface="Arial" panose="020B0604020202020204" pitchFamily="34" charset="0"/>
              <a:cs typeface="+mn-cs"/>
            </a:endParaRPr>
          </a:p>
        </p:txBody>
      </p:sp>
      <p:pic>
        <p:nvPicPr>
          <p:cNvPr id="16" name="Picture 15" descr="A logo with a black background&#10;&#10;AI-generated content may be incorrect.">
            <a:extLst>
              <a:ext uri="{FF2B5EF4-FFF2-40B4-BE49-F238E27FC236}">
                <a16:creationId xmlns:a16="http://schemas.microsoft.com/office/drawing/2014/main" id="{23CFAFFE-A8BD-3ADB-0332-58FA1604FC50}"/>
              </a:ext>
            </a:extLst>
          </p:cNvPr>
          <p:cNvPicPr>
            <a:picLocks noChangeAspect="1"/>
          </p:cNvPicPr>
          <p:nvPr userDrawn="1"/>
        </p:nvPicPr>
        <p:blipFill>
          <a:blip r:embed="rId6">
            <a:biLevel thresh="25000"/>
          </a:blip>
          <a:stretch>
            <a:fillRect/>
          </a:stretch>
        </p:blipFill>
        <p:spPr>
          <a:xfrm>
            <a:off x="4866917" y="234722"/>
            <a:ext cx="1117600" cy="558800"/>
          </a:xfrm>
          <a:prstGeom prst="rect">
            <a:avLst/>
          </a:prstGeom>
        </p:spPr>
      </p:pic>
      <p:sp>
        <p:nvSpPr>
          <p:cNvPr id="17" name="Rounded Rectangle 16">
            <a:extLst>
              <a:ext uri="{FF2B5EF4-FFF2-40B4-BE49-F238E27FC236}">
                <a16:creationId xmlns:a16="http://schemas.microsoft.com/office/drawing/2014/main" id="{62F520FB-A18A-A597-9C87-B8243A77C795}"/>
              </a:ext>
            </a:extLst>
          </p:cNvPr>
          <p:cNvSpPr/>
          <p:nvPr userDrawn="1"/>
        </p:nvSpPr>
        <p:spPr>
          <a:xfrm>
            <a:off x="151978" y="3430969"/>
            <a:ext cx="6500957" cy="562356"/>
          </a:xfrm>
          <a:prstGeom prst="roundRect">
            <a:avLst>
              <a:gd name="adj" fmla="val 1749"/>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18" name="Rounded Rectangle 17">
            <a:extLst>
              <a:ext uri="{FF2B5EF4-FFF2-40B4-BE49-F238E27FC236}">
                <a16:creationId xmlns:a16="http://schemas.microsoft.com/office/drawing/2014/main" id="{739A8F79-7530-E6AB-1CCC-2C6A1A9D9B2F}"/>
              </a:ext>
            </a:extLst>
          </p:cNvPr>
          <p:cNvSpPr/>
          <p:nvPr userDrawn="1"/>
        </p:nvSpPr>
        <p:spPr>
          <a:xfrm>
            <a:off x="151978" y="2708628"/>
            <a:ext cx="6500957" cy="562356"/>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19" name="Rounded Rectangle 18">
            <a:extLst>
              <a:ext uri="{FF2B5EF4-FFF2-40B4-BE49-F238E27FC236}">
                <a16:creationId xmlns:a16="http://schemas.microsoft.com/office/drawing/2014/main" id="{0469C825-819C-AAF9-0389-712CF8C44762}"/>
              </a:ext>
            </a:extLst>
          </p:cNvPr>
          <p:cNvSpPr/>
          <p:nvPr userDrawn="1"/>
        </p:nvSpPr>
        <p:spPr>
          <a:xfrm>
            <a:off x="4438186" y="2708628"/>
            <a:ext cx="2212399"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a:solidFill>
                  <a:schemeClr val="bg1"/>
                </a:solidFill>
                <a:latin typeface="Arial" panose="020B0604020202020204" pitchFamily="34" charset="0"/>
                <a:cs typeface="Arial" panose="020B0604020202020204" pitchFamily="34" charset="0"/>
              </a:rPr>
              <a:t>عنوان اللعبة:</a:t>
            </a:r>
            <a:endParaRPr lang="en-US" sz="1400" b="1">
              <a:solidFill>
                <a:schemeClr val="bg1"/>
              </a:solidFill>
              <a:latin typeface="Arial" panose="020B0604020202020204" pitchFamily="34" charset="0"/>
              <a:cs typeface="Arial" panose="020B0604020202020204" pitchFamily="34" charset="0"/>
            </a:endParaRPr>
          </a:p>
        </p:txBody>
      </p:sp>
      <p:sp>
        <p:nvSpPr>
          <p:cNvPr id="20" name="Rounded Rectangle 19">
            <a:extLst>
              <a:ext uri="{FF2B5EF4-FFF2-40B4-BE49-F238E27FC236}">
                <a16:creationId xmlns:a16="http://schemas.microsoft.com/office/drawing/2014/main" id="{375A74D3-FAA6-4BE7-D571-CA60D748C122}"/>
              </a:ext>
            </a:extLst>
          </p:cNvPr>
          <p:cNvSpPr/>
          <p:nvPr userDrawn="1"/>
        </p:nvSpPr>
        <p:spPr>
          <a:xfrm>
            <a:off x="4440536" y="3430970"/>
            <a:ext cx="2212399"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a:solidFill>
                  <a:schemeClr val="bg1"/>
                </a:solidFill>
                <a:latin typeface="Arial" panose="020B0604020202020204" pitchFamily="34" charset="0"/>
                <a:cs typeface="Arial" panose="020B0604020202020204" pitchFamily="34" charset="0"/>
              </a:rPr>
              <a:t>اسم المدرسة:</a:t>
            </a:r>
            <a:endParaRPr lang="en-US" sz="1400" b="1">
              <a:solidFill>
                <a:schemeClr val="bg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30A66D7-D368-30F2-B213-4BA52AD921D2}"/>
              </a:ext>
            </a:extLst>
          </p:cNvPr>
          <p:cNvSpPr txBox="1"/>
          <p:nvPr userDrawn="1"/>
        </p:nvSpPr>
        <p:spPr>
          <a:xfrm>
            <a:off x="4850659" y="4502406"/>
            <a:ext cx="1354879" cy="215444"/>
          </a:xfrm>
          <a:prstGeom prst="rect">
            <a:avLst/>
          </a:prstGeom>
          <a:noFill/>
        </p:spPr>
        <p:txBody>
          <a:bodyPr wrap="square">
            <a:spAutoFit/>
          </a:bodyPr>
          <a:lstStyle/>
          <a:p>
            <a:pPr algn="ctr" rtl="1"/>
            <a:r>
              <a:rPr lang="ar-SA" sz="800" b="0" dirty="0">
                <a:solidFill>
                  <a:schemeClr val="bg1"/>
                </a:solidFill>
              </a:rPr>
              <a:t>من بين 16 إدارة تعليم في المملكة</a:t>
            </a:r>
          </a:p>
        </p:txBody>
      </p:sp>
      <p:sp>
        <p:nvSpPr>
          <p:cNvPr id="4" name="TextBox 3">
            <a:extLst>
              <a:ext uri="{FF2B5EF4-FFF2-40B4-BE49-F238E27FC236}">
                <a16:creationId xmlns:a16="http://schemas.microsoft.com/office/drawing/2014/main" id="{8D9B60CF-0436-B99C-E320-23F057E37821}"/>
              </a:ext>
            </a:extLst>
          </p:cNvPr>
          <p:cNvSpPr txBox="1"/>
          <p:nvPr userDrawn="1"/>
        </p:nvSpPr>
        <p:spPr>
          <a:xfrm>
            <a:off x="4551403" y="5224546"/>
            <a:ext cx="1985963" cy="215444"/>
          </a:xfrm>
          <a:prstGeom prst="rect">
            <a:avLst/>
          </a:prstGeom>
          <a:noFill/>
        </p:spPr>
        <p:txBody>
          <a:bodyPr wrap="square">
            <a:spAutoFit/>
          </a:bodyPr>
          <a:lstStyle/>
          <a:p>
            <a:pPr algn="ctr" rtl="1"/>
            <a:r>
              <a:rPr lang="ar-SA" sz="800" dirty="0">
                <a:solidFill>
                  <a:schemeClr val="bg1"/>
                </a:solidFill>
              </a:rPr>
              <a:t>عنوان البريد الإلكتروني و رقم الهاتف  :</a:t>
            </a:r>
          </a:p>
        </p:txBody>
      </p:sp>
      <p:sp>
        <p:nvSpPr>
          <p:cNvPr id="5" name="Rounded Rectangle 4">
            <a:extLst>
              <a:ext uri="{FF2B5EF4-FFF2-40B4-BE49-F238E27FC236}">
                <a16:creationId xmlns:a16="http://schemas.microsoft.com/office/drawing/2014/main" id="{D2F11981-4498-9EA8-A470-B6EBCECB5B5B}"/>
              </a:ext>
            </a:extLst>
          </p:cNvPr>
          <p:cNvSpPr/>
          <p:nvPr userDrawn="1"/>
        </p:nvSpPr>
        <p:spPr>
          <a:xfrm>
            <a:off x="151978" y="5590990"/>
            <a:ext cx="650096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dirty="0"/>
              <a:t>عرّف فريقك</a:t>
            </a:r>
            <a:endParaRPr lang="fr-FR" sz="1400" b="1" dirty="0"/>
          </a:p>
          <a:p>
            <a:pPr algn="ctr" rtl="1"/>
            <a:endParaRPr lang="en-US" sz="800" b="1" dirty="0">
              <a:solidFill>
                <a:schemeClr val="bg1"/>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4D8AE8B4-F569-4796-7BCD-058CEF157B1B}"/>
              </a:ext>
            </a:extLst>
          </p:cNvPr>
          <p:cNvSpPr txBox="1"/>
          <p:nvPr userDrawn="1"/>
        </p:nvSpPr>
        <p:spPr>
          <a:xfrm>
            <a:off x="149624" y="5924901"/>
            <a:ext cx="6500961" cy="215444"/>
          </a:xfrm>
          <a:prstGeom prst="rect">
            <a:avLst/>
          </a:prstGeom>
          <a:noFill/>
        </p:spPr>
        <p:txBody>
          <a:bodyPr wrap="square">
            <a:spAutoFit/>
          </a:bodyPr>
          <a:lstStyle/>
          <a:p>
            <a:pPr algn="ctr" rtl="1"/>
            <a:r>
              <a:rPr lang="ar-SA" sz="800" dirty="0">
                <a:solidFill>
                  <a:schemeClr val="bg1"/>
                </a:solidFill>
              </a:rPr>
              <a:t>حدثنا عن فريقك: الاسم الأول، العمر، ولعبتهم المفضلة</a:t>
            </a:r>
            <a:r>
              <a:rPr lang="ar-SA" sz="800" b="0" dirty="0">
                <a:solidFill>
                  <a:schemeClr val="bg1"/>
                </a:solidFill>
              </a:rPr>
              <a:t>. لا تذكر معلومات شخصية (</a:t>
            </a:r>
            <a:r>
              <a:rPr lang="ar-SA" sz="800" dirty="0">
                <a:solidFill>
                  <a:schemeClr val="bg1"/>
                </a:solidFill>
              </a:rPr>
              <a:t>مثل، الاسم الأخير أو تاريخ الميلاد أو الصور)</a:t>
            </a:r>
            <a:r>
              <a:rPr lang="ar-SA" sz="800" b="0" dirty="0">
                <a:solidFill>
                  <a:schemeClr val="bg1"/>
                </a:solidFill>
              </a:rPr>
              <a:t>.</a:t>
            </a:r>
            <a:r>
              <a:rPr lang="ar-SA" sz="800" dirty="0">
                <a:solidFill>
                  <a:schemeClr val="bg1"/>
                </a:solidFill>
              </a:rPr>
              <a:t> </a:t>
            </a:r>
            <a:r>
              <a:rPr lang="ar-SA" sz="800" b="1" dirty="0">
                <a:solidFill>
                  <a:schemeClr val="bg1"/>
                </a:solidFill>
              </a:rPr>
              <a:t>الحد الأقصى: 250 كلمة.</a:t>
            </a:r>
            <a:endParaRPr lang="en-US" sz="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4096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53" name="Picture 52">
            <a:extLst>
              <a:ext uri="{FF2B5EF4-FFF2-40B4-BE49-F238E27FC236}">
                <a16:creationId xmlns:a16="http://schemas.microsoft.com/office/drawing/2014/main" id="{517D69EA-653D-EDC7-DABA-D1C921D6477A}"/>
              </a:ext>
            </a:extLst>
          </p:cNvPr>
          <p:cNvPicPr>
            <a:picLocks noChangeAspect="1"/>
          </p:cNvPicPr>
          <p:nvPr userDrawn="1"/>
        </p:nvPicPr>
        <p:blipFill>
          <a:blip r:embed="rId2"/>
          <a:stretch>
            <a:fillRect/>
          </a:stretch>
        </p:blipFill>
        <p:spPr>
          <a:xfrm>
            <a:off x="-53079" y="-53118"/>
            <a:ext cx="6911080" cy="9959118"/>
          </a:xfrm>
          <a:prstGeom prst="rect">
            <a:avLst/>
          </a:prstGeom>
        </p:spPr>
      </p:pic>
      <p:sp>
        <p:nvSpPr>
          <p:cNvPr id="28" name="Rounded Rectangle 27">
            <a:extLst>
              <a:ext uri="{FF2B5EF4-FFF2-40B4-BE49-F238E27FC236}">
                <a16:creationId xmlns:a16="http://schemas.microsoft.com/office/drawing/2014/main" id="{761EE38A-2CD7-9E3B-460C-4F19F192A533}"/>
              </a:ext>
            </a:extLst>
          </p:cNvPr>
          <p:cNvSpPr/>
          <p:nvPr userDrawn="1"/>
        </p:nvSpPr>
        <p:spPr>
          <a:xfrm>
            <a:off x="151977" y="2754948"/>
            <a:ext cx="6457091" cy="562356"/>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29" name="Rounded Rectangle 28">
            <a:extLst>
              <a:ext uri="{FF2B5EF4-FFF2-40B4-BE49-F238E27FC236}">
                <a16:creationId xmlns:a16="http://schemas.microsoft.com/office/drawing/2014/main" id="{85F0D0B8-8EC1-E751-41B5-015F094F814C}"/>
              </a:ext>
            </a:extLst>
          </p:cNvPr>
          <p:cNvSpPr/>
          <p:nvPr userDrawn="1"/>
        </p:nvSpPr>
        <p:spPr>
          <a:xfrm>
            <a:off x="4025431" y="2754235"/>
            <a:ext cx="25813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1400" b="1" dirty="0"/>
              <a:t>الموضوعات التعليمية:</a:t>
            </a:r>
            <a:endParaRPr lang="fr-FR" sz="1400" b="1" dirty="0"/>
          </a:p>
          <a:p>
            <a:pPr algn="ctr"/>
            <a:endParaRPr lang="en-US" sz="800" b="1" dirty="0">
              <a:solidFill>
                <a:schemeClr val="bg1"/>
              </a:solidFill>
              <a:latin typeface="Arial" panose="020B0604020202020204" pitchFamily="34" charset="0"/>
              <a:cs typeface="Arial" panose="020B0604020202020204" pitchFamily="34" charset="0"/>
            </a:endParaRPr>
          </a:p>
        </p:txBody>
      </p:sp>
      <p:sp>
        <p:nvSpPr>
          <p:cNvPr id="30" name="Rounded Rectangle 29">
            <a:extLst>
              <a:ext uri="{FF2B5EF4-FFF2-40B4-BE49-F238E27FC236}">
                <a16:creationId xmlns:a16="http://schemas.microsoft.com/office/drawing/2014/main" id="{3C87AF74-9E95-D772-AC69-A18841CAA87A}"/>
              </a:ext>
            </a:extLst>
          </p:cNvPr>
          <p:cNvSpPr/>
          <p:nvPr userDrawn="1"/>
        </p:nvSpPr>
        <p:spPr>
          <a:xfrm>
            <a:off x="151977" y="3589880"/>
            <a:ext cx="6457091" cy="1954857"/>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31" name="Rounded Rectangle 30">
            <a:extLst>
              <a:ext uri="{FF2B5EF4-FFF2-40B4-BE49-F238E27FC236}">
                <a16:creationId xmlns:a16="http://schemas.microsoft.com/office/drawing/2014/main" id="{1DE579A6-1890-8B8C-A034-3D23C9D846DE}"/>
              </a:ext>
            </a:extLst>
          </p:cNvPr>
          <p:cNvSpPr/>
          <p:nvPr userDrawn="1"/>
        </p:nvSpPr>
        <p:spPr>
          <a:xfrm>
            <a:off x="151977" y="3589880"/>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a:t>عرض مختصر للفكرة</a:t>
            </a:r>
            <a:endParaRPr lang="en-US" sz="800" b="1">
              <a:solidFill>
                <a:schemeClr val="bg1"/>
              </a:solidFill>
              <a:latin typeface="Arial" panose="020B0604020202020204" pitchFamily="34" charset="0"/>
              <a:cs typeface="Arial" panose="020B0604020202020204" pitchFamily="34" charset="0"/>
            </a:endParaRPr>
          </a:p>
        </p:txBody>
      </p:sp>
      <p:sp>
        <p:nvSpPr>
          <p:cNvPr id="32" name="Rounded Rectangle 31">
            <a:extLst>
              <a:ext uri="{FF2B5EF4-FFF2-40B4-BE49-F238E27FC236}">
                <a16:creationId xmlns:a16="http://schemas.microsoft.com/office/drawing/2014/main" id="{3CC8AD09-118E-DF1A-BFD3-88442958F43D}"/>
              </a:ext>
            </a:extLst>
          </p:cNvPr>
          <p:cNvSpPr/>
          <p:nvPr userDrawn="1"/>
        </p:nvSpPr>
        <p:spPr>
          <a:xfrm>
            <a:off x="151975" y="5781361"/>
            <a:ext cx="6457091" cy="1830375"/>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33" name="Rounded Rectangle 32">
            <a:extLst>
              <a:ext uri="{FF2B5EF4-FFF2-40B4-BE49-F238E27FC236}">
                <a16:creationId xmlns:a16="http://schemas.microsoft.com/office/drawing/2014/main" id="{27CE5BFC-C872-537F-375E-C7A61EBD4DDE}"/>
              </a:ext>
            </a:extLst>
          </p:cNvPr>
          <p:cNvSpPr/>
          <p:nvPr userDrawn="1"/>
        </p:nvSpPr>
        <p:spPr>
          <a:xfrm>
            <a:off x="151975" y="5781360"/>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a:t>أهداف التعلّم</a:t>
            </a:r>
            <a:endParaRPr lang="en-US" sz="800" b="1">
              <a:solidFill>
                <a:schemeClr val="bg1"/>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E905D54D-04C7-EEEC-2985-9629CC62C04F}"/>
              </a:ext>
            </a:extLst>
          </p:cNvPr>
          <p:cNvSpPr txBox="1"/>
          <p:nvPr userDrawn="1"/>
        </p:nvSpPr>
        <p:spPr>
          <a:xfrm>
            <a:off x="173916" y="6145713"/>
            <a:ext cx="6457090" cy="215444"/>
          </a:xfrm>
          <a:prstGeom prst="rect">
            <a:avLst/>
          </a:prstGeom>
          <a:noFill/>
        </p:spPr>
        <p:txBody>
          <a:bodyPr wrap="square">
            <a:spAutoFit/>
          </a:bodyPr>
          <a:lstStyle/>
          <a:p>
            <a:pPr algn="ctr" rtl="1"/>
            <a:r>
              <a:rPr lang="ar-SA" sz="800">
                <a:solidFill>
                  <a:schemeClr val="bg1"/>
                </a:solidFill>
              </a:rPr>
              <a:t>ما المهارات أو المعرفة المحددة والقابلة للقياس التي سيكتسبها اللاعبون؟ </a:t>
            </a:r>
            <a:r>
              <a:rPr lang="ar-SA" sz="800" b="1">
                <a:solidFill>
                  <a:schemeClr val="bg1"/>
                </a:solidFill>
              </a:rPr>
              <a:t>بحد أقصى سطر واحد لكل إجابة.</a:t>
            </a:r>
            <a:endParaRPr lang="en-US" sz="800">
              <a:solidFill>
                <a:schemeClr val="bg1"/>
              </a:solidFill>
            </a:endParaRPr>
          </a:p>
        </p:txBody>
      </p:sp>
      <p:sp>
        <p:nvSpPr>
          <p:cNvPr id="35" name="TextBox 34">
            <a:extLst>
              <a:ext uri="{FF2B5EF4-FFF2-40B4-BE49-F238E27FC236}">
                <a16:creationId xmlns:a16="http://schemas.microsoft.com/office/drawing/2014/main" id="{1D429D11-020D-EB84-BBD0-FCF7A226B9CD}"/>
              </a:ext>
            </a:extLst>
          </p:cNvPr>
          <p:cNvSpPr txBox="1"/>
          <p:nvPr userDrawn="1"/>
        </p:nvSpPr>
        <p:spPr>
          <a:xfrm>
            <a:off x="151975" y="3934122"/>
            <a:ext cx="6457091" cy="215444"/>
          </a:xfrm>
          <a:prstGeom prst="rect">
            <a:avLst/>
          </a:prstGeom>
          <a:noFill/>
        </p:spPr>
        <p:txBody>
          <a:bodyPr wrap="square">
            <a:spAutoFit/>
          </a:bodyPr>
          <a:lstStyle/>
          <a:p>
            <a:pPr algn="ctr" rtl="1"/>
            <a:r>
              <a:rPr lang="ar-SA" sz="800">
                <a:solidFill>
                  <a:schemeClr val="bg1"/>
                </a:solidFill>
              </a:rPr>
              <a:t>ما نوع اللعبة؟ ما طريقة اللعب؟ كيف يتعلم منها اللاعبون؟ ما الذي يميزها؟ </a:t>
            </a:r>
            <a:r>
              <a:rPr lang="ar-SA" sz="800" b="1">
                <a:solidFill>
                  <a:schemeClr val="bg1"/>
                </a:solidFill>
              </a:rPr>
              <a:t>الحد الأقصى: 100 كلمة.</a:t>
            </a:r>
            <a:endParaRPr lang="en-US" sz="800">
              <a:solidFill>
                <a:schemeClr val="bg1"/>
              </a:solidFill>
            </a:endParaRPr>
          </a:p>
        </p:txBody>
      </p:sp>
      <p:sp>
        <p:nvSpPr>
          <p:cNvPr id="36" name="TextBox 35">
            <a:extLst>
              <a:ext uri="{FF2B5EF4-FFF2-40B4-BE49-F238E27FC236}">
                <a16:creationId xmlns:a16="http://schemas.microsoft.com/office/drawing/2014/main" id="{0DB7A2A7-48CC-1639-C3A3-757CE135CAB7}"/>
              </a:ext>
            </a:extLst>
          </p:cNvPr>
          <p:cNvSpPr txBox="1"/>
          <p:nvPr userDrawn="1"/>
        </p:nvSpPr>
        <p:spPr>
          <a:xfrm>
            <a:off x="4025431" y="3094756"/>
            <a:ext cx="2581391" cy="215444"/>
          </a:xfrm>
          <a:prstGeom prst="rect">
            <a:avLst/>
          </a:prstGeom>
          <a:noFill/>
        </p:spPr>
        <p:txBody>
          <a:bodyPr wrap="square">
            <a:spAutoFit/>
          </a:bodyPr>
          <a:lstStyle/>
          <a:p>
            <a:pPr algn="ctr" rtl="1"/>
            <a:r>
              <a:rPr lang="ar-SA" sz="800" dirty="0">
                <a:solidFill>
                  <a:schemeClr val="bg1"/>
                </a:solidFill>
              </a:rPr>
              <a:t>الرياضيات، الجغرافيا، وغيرها</a:t>
            </a:r>
            <a:endParaRPr lang="en-US" sz="800" dirty="0">
              <a:solidFill>
                <a:schemeClr val="bg1"/>
              </a:solidFill>
            </a:endParaRPr>
          </a:p>
        </p:txBody>
      </p:sp>
      <p:sp>
        <p:nvSpPr>
          <p:cNvPr id="37" name="TextBox 36">
            <a:extLst>
              <a:ext uri="{FF2B5EF4-FFF2-40B4-BE49-F238E27FC236}">
                <a16:creationId xmlns:a16="http://schemas.microsoft.com/office/drawing/2014/main" id="{D5150228-E69C-F7C9-D3F2-3D0A3237659F}"/>
              </a:ext>
            </a:extLst>
          </p:cNvPr>
          <p:cNvSpPr txBox="1"/>
          <p:nvPr userDrawn="1"/>
        </p:nvSpPr>
        <p:spPr>
          <a:xfrm>
            <a:off x="200453" y="6425450"/>
            <a:ext cx="6457090" cy="1169551"/>
          </a:xfrm>
          <a:prstGeom prst="rect">
            <a:avLst/>
          </a:prstGeom>
          <a:noFill/>
        </p:spPr>
        <p:txBody>
          <a:bodyPr wrap="square">
            <a:spAutoFit/>
          </a:bodyPr>
          <a:lstStyle/>
          <a:p>
            <a:pPr algn="r" rtl="1"/>
            <a:r>
              <a:rPr lang="ar-SA" sz="1400" b="1">
                <a:latin typeface="Arial" panose="020B0604020202020204" pitchFamily="34" charset="0"/>
                <a:cs typeface="Arial" panose="020B0604020202020204" pitchFamily="34" charset="0"/>
              </a:rPr>
              <a:t>1.</a:t>
            </a:r>
            <a:endParaRPr lang="en-US" sz="1400" b="1">
              <a:latin typeface="Arial" panose="020B0604020202020204" pitchFamily="34" charset="0"/>
              <a:cs typeface="Arial" panose="020B0604020202020204" pitchFamily="34" charset="0"/>
            </a:endParaRPr>
          </a:p>
          <a:p>
            <a:pPr algn="r" rtl="1"/>
            <a:endParaRPr lang="en-US" sz="1400" b="1">
              <a:latin typeface="Arial" panose="020B0604020202020204" pitchFamily="34" charset="0"/>
              <a:cs typeface="Arial" panose="020B0604020202020204" pitchFamily="34" charset="0"/>
            </a:endParaRPr>
          </a:p>
          <a:p>
            <a:pPr algn="r" rtl="1"/>
            <a:r>
              <a:rPr lang="ar-SA" sz="1400" b="1">
                <a:latin typeface="Arial" panose="020B0604020202020204" pitchFamily="34" charset="0"/>
                <a:cs typeface="Arial" panose="020B0604020202020204" pitchFamily="34" charset="0"/>
              </a:rPr>
              <a:t>2.</a:t>
            </a:r>
            <a:endParaRPr lang="en-US" sz="1400" b="1">
              <a:latin typeface="Arial" panose="020B0604020202020204" pitchFamily="34" charset="0"/>
              <a:cs typeface="Arial" panose="020B0604020202020204" pitchFamily="34" charset="0"/>
            </a:endParaRPr>
          </a:p>
          <a:p>
            <a:pPr algn="r" rtl="1"/>
            <a:endParaRPr lang="en-US" sz="1400" b="1">
              <a:latin typeface="Arial" panose="020B0604020202020204" pitchFamily="34" charset="0"/>
              <a:cs typeface="Arial" panose="020B0604020202020204" pitchFamily="34" charset="0"/>
            </a:endParaRPr>
          </a:p>
          <a:p>
            <a:pPr algn="r" rtl="1"/>
            <a:r>
              <a:rPr lang="ar-SA" sz="1400" b="1">
                <a:latin typeface="Arial" panose="020B0604020202020204" pitchFamily="34" charset="0"/>
                <a:cs typeface="Arial" panose="020B0604020202020204" pitchFamily="34" charset="0"/>
              </a:rPr>
              <a:t>3.</a:t>
            </a:r>
            <a:endParaRPr lang="en-US" sz="1400" b="1">
              <a:latin typeface="Arial" panose="020B0604020202020204" pitchFamily="34" charset="0"/>
              <a:cs typeface="Arial" panose="020B0604020202020204" pitchFamily="34" charset="0"/>
            </a:endParaRPr>
          </a:p>
        </p:txBody>
      </p:sp>
      <p:sp>
        <p:nvSpPr>
          <p:cNvPr id="38" name="Rounded Rectangle 37">
            <a:extLst>
              <a:ext uri="{FF2B5EF4-FFF2-40B4-BE49-F238E27FC236}">
                <a16:creationId xmlns:a16="http://schemas.microsoft.com/office/drawing/2014/main" id="{59E11404-9A78-7235-2FA6-F2C4FB78EAEC}"/>
              </a:ext>
            </a:extLst>
          </p:cNvPr>
          <p:cNvSpPr/>
          <p:nvPr userDrawn="1"/>
        </p:nvSpPr>
        <p:spPr>
          <a:xfrm>
            <a:off x="151975" y="7866518"/>
            <a:ext cx="6457091" cy="1830375"/>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39" name="Rounded Rectangle 38">
            <a:extLst>
              <a:ext uri="{FF2B5EF4-FFF2-40B4-BE49-F238E27FC236}">
                <a16:creationId xmlns:a16="http://schemas.microsoft.com/office/drawing/2014/main" id="{4A5B8614-8E33-73ED-350A-8182496E010D}"/>
              </a:ext>
            </a:extLst>
          </p:cNvPr>
          <p:cNvSpPr/>
          <p:nvPr userDrawn="1"/>
        </p:nvSpPr>
        <p:spPr>
          <a:xfrm>
            <a:off x="151975" y="7866517"/>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a:t>كيفية التعلّم من اللعبة</a:t>
            </a:r>
            <a:endParaRPr lang="en-US" sz="800" b="1">
              <a:solidFill>
                <a:schemeClr val="bg1"/>
              </a:solidFill>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4CB6C0CB-8A97-D91A-2659-622FE1CC60CD}"/>
              </a:ext>
            </a:extLst>
          </p:cNvPr>
          <p:cNvSpPr txBox="1"/>
          <p:nvPr userDrawn="1"/>
        </p:nvSpPr>
        <p:spPr>
          <a:xfrm>
            <a:off x="121641" y="8207669"/>
            <a:ext cx="6457090" cy="215444"/>
          </a:xfrm>
          <a:prstGeom prst="rect">
            <a:avLst/>
          </a:prstGeom>
          <a:noFill/>
        </p:spPr>
        <p:txBody>
          <a:bodyPr wrap="square">
            <a:spAutoFit/>
          </a:bodyPr>
          <a:lstStyle/>
          <a:p>
            <a:pPr algn="ctr" rtl="1"/>
            <a:r>
              <a:rPr lang="ar-SA" sz="800">
                <a:solidFill>
                  <a:schemeClr val="bg1"/>
                </a:solidFill>
              </a:rPr>
              <a:t>كيف يكتسب اللاعبون المعرفة والمهارات </a:t>
            </a:r>
            <a:r>
              <a:rPr lang="ar-SA" sz="800" b="1">
                <a:solidFill>
                  <a:schemeClr val="bg1"/>
                </a:solidFill>
              </a:rPr>
              <a:t>عبر</a:t>
            </a:r>
            <a:r>
              <a:rPr lang="ar-SA" sz="800">
                <a:solidFill>
                  <a:schemeClr val="bg1"/>
                </a:solidFill>
              </a:rPr>
              <a:t> اللعب؟ </a:t>
            </a:r>
            <a:r>
              <a:rPr lang="ar-SA" sz="800" b="1">
                <a:solidFill>
                  <a:schemeClr val="bg1"/>
                </a:solidFill>
              </a:rPr>
              <a:t>بحد أقصى سطر واحد لكل إجابة.</a:t>
            </a:r>
            <a:endParaRPr lang="en-US" sz="800">
              <a:solidFill>
                <a:schemeClr val="bg1"/>
              </a:solidFill>
            </a:endParaRPr>
          </a:p>
        </p:txBody>
      </p:sp>
      <p:sp>
        <p:nvSpPr>
          <p:cNvPr id="41" name="TextBox 40">
            <a:extLst>
              <a:ext uri="{FF2B5EF4-FFF2-40B4-BE49-F238E27FC236}">
                <a16:creationId xmlns:a16="http://schemas.microsoft.com/office/drawing/2014/main" id="{C49D34C5-11D0-C9F9-FFB3-E8711CA4D92D}"/>
              </a:ext>
            </a:extLst>
          </p:cNvPr>
          <p:cNvSpPr txBox="1"/>
          <p:nvPr userDrawn="1"/>
        </p:nvSpPr>
        <p:spPr>
          <a:xfrm>
            <a:off x="200453" y="8522482"/>
            <a:ext cx="6457090" cy="1169551"/>
          </a:xfrm>
          <a:prstGeom prst="rect">
            <a:avLst/>
          </a:prstGeom>
          <a:noFill/>
        </p:spPr>
        <p:txBody>
          <a:bodyPr wrap="square">
            <a:spAutoFit/>
          </a:bodyPr>
          <a:lstStyle/>
          <a:p>
            <a:pPr algn="r" rtl="1"/>
            <a:r>
              <a:rPr lang="ar-SA" sz="1400" b="1">
                <a:latin typeface="Arial" panose="020B0604020202020204" pitchFamily="34" charset="0"/>
                <a:cs typeface="Arial" panose="020B0604020202020204" pitchFamily="34" charset="0"/>
              </a:rPr>
              <a:t>1.</a:t>
            </a:r>
            <a:endParaRPr lang="en-US" sz="1400" b="1">
              <a:latin typeface="Arial" panose="020B0604020202020204" pitchFamily="34" charset="0"/>
              <a:cs typeface="Arial" panose="020B0604020202020204" pitchFamily="34" charset="0"/>
            </a:endParaRPr>
          </a:p>
          <a:p>
            <a:pPr algn="r" rtl="1"/>
            <a:endParaRPr lang="en-US" sz="1400" b="1">
              <a:latin typeface="Arial" panose="020B0604020202020204" pitchFamily="34" charset="0"/>
              <a:cs typeface="Arial" panose="020B0604020202020204" pitchFamily="34" charset="0"/>
            </a:endParaRPr>
          </a:p>
          <a:p>
            <a:pPr algn="r" rtl="1"/>
            <a:r>
              <a:rPr lang="ar-SA" sz="1400" b="1">
                <a:latin typeface="Arial" panose="020B0604020202020204" pitchFamily="34" charset="0"/>
                <a:cs typeface="Arial" panose="020B0604020202020204" pitchFamily="34" charset="0"/>
              </a:rPr>
              <a:t>2.</a:t>
            </a:r>
            <a:endParaRPr lang="en-US" sz="1400" b="1">
              <a:latin typeface="Arial" panose="020B0604020202020204" pitchFamily="34" charset="0"/>
              <a:cs typeface="Arial" panose="020B0604020202020204" pitchFamily="34" charset="0"/>
            </a:endParaRPr>
          </a:p>
          <a:p>
            <a:pPr algn="r" rtl="1"/>
            <a:endParaRPr lang="en-US" sz="1400" b="1">
              <a:latin typeface="Arial" panose="020B0604020202020204" pitchFamily="34" charset="0"/>
              <a:cs typeface="Arial" panose="020B0604020202020204" pitchFamily="34" charset="0"/>
            </a:endParaRPr>
          </a:p>
          <a:p>
            <a:pPr algn="r" rtl="1"/>
            <a:r>
              <a:rPr lang="ar-SA" sz="1400" b="1">
                <a:latin typeface="Arial" panose="020B0604020202020204" pitchFamily="34" charset="0"/>
                <a:cs typeface="Arial" panose="020B0604020202020204" pitchFamily="34" charset="0"/>
              </a:rPr>
              <a:t>3.</a:t>
            </a:r>
            <a:endParaRPr lang="en-US" sz="1400" b="1">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84682CDB-8177-2717-B115-7DB000592420}"/>
              </a:ext>
            </a:extLst>
          </p:cNvPr>
          <p:cNvGrpSpPr/>
          <p:nvPr userDrawn="1"/>
        </p:nvGrpSpPr>
        <p:grpSpPr>
          <a:xfrm>
            <a:off x="151979" y="159983"/>
            <a:ext cx="6457086" cy="2298847"/>
            <a:chOff x="151979" y="159983"/>
            <a:chExt cx="6457086" cy="2298847"/>
          </a:xfrm>
        </p:grpSpPr>
        <p:sp>
          <p:nvSpPr>
            <p:cNvPr id="6" name="Rounded Rectangle 5">
              <a:extLst>
                <a:ext uri="{FF2B5EF4-FFF2-40B4-BE49-F238E27FC236}">
                  <a16:creationId xmlns:a16="http://schemas.microsoft.com/office/drawing/2014/main" id="{D4ACE114-336D-CE94-3AED-7BDBA9A9B3B4}"/>
                </a:ext>
              </a:extLst>
            </p:cNvPr>
            <p:cNvSpPr/>
            <p:nvPr userDrawn="1"/>
          </p:nvSpPr>
          <p:spPr>
            <a:xfrm>
              <a:off x="151980" y="159984"/>
              <a:ext cx="3119243" cy="2298846"/>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US" sz="1400">
                <a:solidFill>
                  <a:schemeClr val="tx1"/>
                </a:solidFill>
                <a:latin typeface="Arial" panose="020B0604020202020204" pitchFamily="34" charset="0"/>
                <a:cs typeface="Arial" panose="020B0604020202020204" pitchFamily="34" charset="0"/>
              </a:endParaRPr>
            </a:p>
            <a:p>
              <a:pPr algn="r" rtl="1"/>
              <a:endParaRPr lang="en-US" sz="1400">
                <a:solidFill>
                  <a:schemeClr val="tx1"/>
                </a:solidFill>
                <a:latin typeface="Arial" panose="020B0604020202020204" pitchFamily="34" charset="0"/>
                <a:cs typeface="Arial" panose="020B0604020202020204" pitchFamily="34" charset="0"/>
              </a:endParaRPr>
            </a:p>
            <a:p>
              <a:pPr algn="r" rtl="1"/>
              <a:r>
                <a:rPr lang="en-US" sz="1400">
                  <a:solidFill>
                    <a:schemeClr val="tx1"/>
                  </a:solidFill>
                  <a:latin typeface="Arial" panose="020B0604020202020204" pitchFamily="34" charset="0"/>
                  <a:cs typeface="Arial" panose="020B0604020202020204" pitchFamily="34" charset="0"/>
                </a:rPr>
                <a:t> </a:t>
              </a:r>
              <a:r>
                <a:rPr lang="ar-SA" sz="1400">
                  <a:solidFill>
                    <a:schemeClr val="tx1"/>
                  </a:solidFill>
                  <a:latin typeface="Arial" panose="020B0604020202020204" pitchFamily="34" charset="0"/>
                  <a:cs typeface="Arial" panose="020B0604020202020204" pitchFamily="34" charset="0"/>
                </a:rPr>
                <a:t>    </a:t>
              </a:r>
              <a:r>
                <a:rPr lang="ar-SA" sz="1400">
                  <a:solidFill>
                    <a:schemeClr val="tx1"/>
                  </a:solidFill>
                </a:rPr>
                <a:t>لعبة منصات</a:t>
              </a:r>
              <a:endParaRPr lang="en-US" sz="1400">
                <a:solidFill>
                  <a:schemeClr val="tx1"/>
                </a:solidFill>
                <a:latin typeface="Arial" panose="020B0604020202020204" pitchFamily="34" charset="0"/>
                <a:cs typeface="Arial" panose="020B0604020202020204" pitchFamily="34" charset="0"/>
              </a:endParaRPr>
            </a:p>
            <a:p>
              <a:pPr algn="r" rtl="1"/>
              <a:r>
                <a:rPr lang="ar-SA" sz="1400">
                  <a:solidFill>
                    <a:schemeClr val="tx1"/>
                  </a:solidFill>
                </a:rPr>
                <a:t>     لعبة الألغاز</a:t>
              </a:r>
              <a:endParaRPr lang="en-US" sz="1400">
                <a:solidFill>
                  <a:schemeClr val="tx1"/>
                </a:solidFill>
                <a:latin typeface="Arial" panose="020B0604020202020204" pitchFamily="34" charset="0"/>
                <a:cs typeface="Arial" panose="020B0604020202020204" pitchFamily="34" charset="0"/>
              </a:endParaRPr>
            </a:p>
            <a:p>
              <a:pPr algn="r" rtl="1"/>
              <a:r>
                <a:rPr lang="ar-SA" sz="1400">
                  <a:solidFill>
                    <a:schemeClr val="tx1"/>
                  </a:solidFill>
                  <a:latin typeface="Arial" panose="020B0604020202020204" pitchFamily="34" charset="0"/>
                  <a:cs typeface="Arial" panose="020B0604020202020204" pitchFamily="34" charset="0"/>
                </a:rPr>
                <a:t>     </a:t>
              </a:r>
              <a:r>
                <a:rPr lang="ar-SA" sz="1400">
                  <a:solidFill>
                    <a:schemeClr val="tx1"/>
                  </a:solidFill>
                </a:rPr>
                <a:t>لعبة تقمص الأدوار</a:t>
              </a:r>
              <a:endParaRPr lang="en-US" sz="1400">
                <a:solidFill>
                  <a:schemeClr val="tx1"/>
                </a:solidFill>
                <a:latin typeface="Arial" panose="020B0604020202020204" pitchFamily="34" charset="0"/>
                <a:cs typeface="Arial" panose="020B0604020202020204" pitchFamily="34" charset="0"/>
              </a:endParaRPr>
            </a:p>
            <a:p>
              <a:pPr algn="r" rtl="1"/>
              <a:r>
                <a:rPr lang="ar-SA" sz="1400">
                  <a:solidFill>
                    <a:schemeClr val="tx1"/>
                  </a:solidFill>
                  <a:latin typeface="Arial" panose="020B0604020202020204" pitchFamily="34" charset="0"/>
                  <a:cs typeface="Arial" panose="020B0604020202020204" pitchFamily="34" charset="0"/>
                </a:rPr>
                <a:t>     </a:t>
              </a:r>
              <a:r>
                <a:rPr lang="ar-SA" sz="1400">
                  <a:solidFill>
                    <a:schemeClr val="tx1"/>
                  </a:solidFill>
                </a:rPr>
                <a:t>لعبة استراتيجية</a:t>
              </a:r>
              <a:endParaRPr lang="en-US" sz="1400">
                <a:solidFill>
                  <a:schemeClr val="tx1"/>
                </a:solidFill>
                <a:latin typeface="Arial" panose="020B0604020202020204" pitchFamily="34" charset="0"/>
                <a:cs typeface="Arial" panose="020B0604020202020204" pitchFamily="34" charset="0"/>
              </a:endParaRPr>
            </a:p>
            <a:p>
              <a:pPr algn="r" rtl="1"/>
              <a:r>
                <a:rPr lang="ar-SA" sz="1400">
                  <a:solidFill>
                    <a:schemeClr val="tx1"/>
                  </a:solidFill>
                  <a:latin typeface="Arial" panose="020B0604020202020204" pitchFamily="34" charset="0"/>
                  <a:cs typeface="Arial" panose="020B0604020202020204" pitchFamily="34" charset="0"/>
                </a:rPr>
                <a:t>     </a:t>
              </a:r>
              <a:r>
                <a:rPr lang="ar-SA" sz="1400">
                  <a:solidFill>
                    <a:schemeClr val="tx1"/>
                  </a:solidFill>
                </a:rPr>
                <a:t>لعبة سباق</a:t>
              </a:r>
              <a:endParaRPr lang="en-US" sz="1400">
                <a:solidFill>
                  <a:schemeClr val="tx1"/>
                </a:solidFill>
                <a:latin typeface="Arial" panose="020B0604020202020204" pitchFamily="34" charset="0"/>
                <a:cs typeface="Arial" panose="020B0604020202020204" pitchFamily="34" charset="0"/>
              </a:endParaRPr>
            </a:p>
            <a:p>
              <a:pPr algn="r" rtl="1"/>
              <a:r>
                <a:rPr lang="ar-SA" sz="1400">
                  <a:solidFill>
                    <a:schemeClr val="tx1"/>
                  </a:solidFill>
                </a:rPr>
                <a:t>أخرى: </a:t>
              </a:r>
              <a:r>
                <a:rPr lang="en-US" sz="1400">
                  <a:solidFill>
                    <a:schemeClr val="tx1"/>
                  </a:solidFill>
                  <a:latin typeface="Arial" panose="020B0604020202020204" pitchFamily="34" charset="0"/>
                  <a:cs typeface="Arial" panose="020B0604020202020204" pitchFamily="34" charset="0"/>
                </a:rPr>
                <a:t>____________________</a:t>
              </a:r>
              <a:r>
                <a:rPr lang="ar-SA" sz="1400">
                  <a:solidFill>
                    <a:schemeClr val="tx1"/>
                  </a:solidFill>
                </a:rPr>
                <a:t> </a:t>
              </a:r>
              <a:endParaRPr lang="en-US" sz="1400">
                <a:solidFill>
                  <a:schemeClr val="tx1"/>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48B106A3-C64F-AB0C-E87B-7B8CC55AA48B}"/>
                </a:ext>
              </a:extLst>
            </p:cNvPr>
            <p:cNvSpPr/>
            <p:nvPr userDrawn="1"/>
          </p:nvSpPr>
          <p:spPr>
            <a:xfrm>
              <a:off x="2984117" y="913723"/>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8" name="Rectangle 7">
              <a:extLst>
                <a:ext uri="{FF2B5EF4-FFF2-40B4-BE49-F238E27FC236}">
                  <a16:creationId xmlns:a16="http://schemas.microsoft.com/office/drawing/2014/main" id="{24DEABFA-4FF5-10B5-4438-C7AA3F0D70BC}"/>
                </a:ext>
              </a:extLst>
            </p:cNvPr>
            <p:cNvSpPr/>
            <p:nvPr userDrawn="1"/>
          </p:nvSpPr>
          <p:spPr>
            <a:xfrm>
              <a:off x="2984117" y="1125199"/>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9" name="Rectangle 8">
              <a:extLst>
                <a:ext uri="{FF2B5EF4-FFF2-40B4-BE49-F238E27FC236}">
                  <a16:creationId xmlns:a16="http://schemas.microsoft.com/office/drawing/2014/main" id="{4BE8B126-32AC-D3EB-C67A-E988C6DA53B6}"/>
                </a:ext>
              </a:extLst>
            </p:cNvPr>
            <p:cNvSpPr/>
            <p:nvPr userDrawn="1"/>
          </p:nvSpPr>
          <p:spPr>
            <a:xfrm>
              <a:off x="2984117" y="1336674"/>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0" name="Rectangle 9">
              <a:extLst>
                <a:ext uri="{FF2B5EF4-FFF2-40B4-BE49-F238E27FC236}">
                  <a16:creationId xmlns:a16="http://schemas.microsoft.com/office/drawing/2014/main" id="{5B2F234A-2B8F-EFAA-1952-080A1B2DEA7A}"/>
                </a:ext>
              </a:extLst>
            </p:cNvPr>
            <p:cNvSpPr/>
            <p:nvPr userDrawn="1"/>
          </p:nvSpPr>
          <p:spPr>
            <a:xfrm>
              <a:off x="2984117" y="1548149"/>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1" name="Rectangle 10">
              <a:extLst>
                <a:ext uri="{FF2B5EF4-FFF2-40B4-BE49-F238E27FC236}">
                  <a16:creationId xmlns:a16="http://schemas.microsoft.com/office/drawing/2014/main" id="{8134C917-283E-B2E0-A056-F1F460D17DCA}"/>
                </a:ext>
              </a:extLst>
            </p:cNvPr>
            <p:cNvSpPr/>
            <p:nvPr userDrawn="1"/>
          </p:nvSpPr>
          <p:spPr>
            <a:xfrm>
              <a:off x="2984117" y="1759625"/>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3" name="Rounded Rectangle 12">
              <a:extLst>
                <a:ext uri="{FF2B5EF4-FFF2-40B4-BE49-F238E27FC236}">
                  <a16:creationId xmlns:a16="http://schemas.microsoft.com/office/drawing/2014/main" id="{6F9687BB-B9B4-7D93-FA8D-1BD286A43DDA}"/>
                </a:ext>
              </a:extLst>
            </p:cNvPr>
            <p:cNvSpPr/>
            <p:nvPr userDrawn="1"/>
          </p:nvSpPr>
          <p:spPr>
            <a:xfrm>
              <a:off x="151979" y="159983"/>
              <a:ext cx="3119243" cy="583891"/>
            </a:xfrm>
            <a:prstGeom prst="roundRect">
              <a:avLst>
                <a:gd name="adj" fmla="val 5916"/>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dirty="0"/>
                <a:t>النوع</a:t>
              </a:r>
              <a:endParaRPr lang="fr-FR" sz="1400" b="1" dirty="0"/>
            </a:p>
            <a:p>
              <a:pPr algn="ctr" rtl="1"/>
              <a:endParaRPr lang="en-US" sz="800" b="1" dirty="0">
                <a:solidFill>
                  <a:schemeClr val="bg1"/>
                </a:solidFill>
                <a:latin typeface="Arial" panose="020B0604020202020204" pitchFamily="34" charset="0"/>
                <a:cs typeface="Arial" panose="020B0604020202020204" pitchFamily="34" charset="0"/>
              </a:endParaRPr>
            </a:p>
          </p:txBody>
        </p:sp>
        <p:sp>
          <p:nvSpPr>
            <p:cNvPr id="14" name="Rounded Rectangle 13">
              <a:extLst>
                <a:ext uri="{FF2B5EF4-FFF2-40B4-BE49-F238E27FC236}">
                  <a16:creationId xmlns:a16="http://schemas.microsoft.com/office/drawing/2014/main" id="{47FC33E9-241B-F49C-E319-51BA8D78B627}"/>
                </a:ext>
              </a:extLst>
            </p:cNvPr>
            <p:cNvSpPr/>
            <p:nvPr userDrawn="1"/>
          </p:nvSpPr>
          <p:spPr>
            <a:xfrm>
              <a:off x="3489820" y="159984"/>
              <a:ext cx="3119245" cy="2298846"/>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spcBef>
                  <a:spcPts val="300"/>
                </a:spcBef>
              </a:pPr>
              <a:r>
                <a:rPr lang="en-US" sz="1400">
                  <a:solidFill>
                    <a:schemeClr val="tx1"/>
                  </a:solidFill>
                  <a:latin typeface="Arial" panose="020B0604020202020204" pitchFamily="34" charset="0"/>
                  <a:cs typeface="Arial" panose="020B0604020202020204" pitchFamily="34" charset="0"/>
                </a:rPr>
                <a:t>     </a:t>
              </a:r>
            </a:p>
            <a:p>
              <a:pPr algn="r" rtl="1">
                <a:spcBef>
                  <a:spcPts val="300"/>
                </a:spcBef>
              </a:pPr>
              <a:r>
                <a:rPr lang="ar-SA" sz="1400">
                  <a:solidFill>
                    <a:schemeClr val="tx1"/>
                  </a:solidFill>
                  <a:latin typeface="Arial" panose="020B0604020202020204" pitchFamily="34" charset="0"/>
                  <a:cs typeface="Arial" panose="020B0604020202020204" pitchFamily="34" charset="0"/>
                </a:rPr>
                <a:t>     4-6 سنوات</a:t>
              </a:r>
              <a:endParaRPr lang="en-US" sz="1400">
                <a:solidFill>
                  <a:schemeClr val="tx1"/>
                </a:solidFill>
                <a:latin typeface="Arial" panose="020B0604020202020204" pitchFamily="34" charset="0"/>
                <a:cs typeface="Arial" panose="020B0604020202020204" pitchFamily="34" charset="0"/>
              </a:endParaRPr>
            </a:p>
            <a:p>
              <a:pPr algn="r" rtl="1">
                <a:spcBef>
                  <a:spcPts val="300"/>
                </a:spcBef>
              </a:pPr>
              <a:r>
                <a:rPr lang="ar-SA" sz="1400">
                  <a:solidFill>
                    <a:schemeClr val="tx1"/>
                  </a:solidFill>
                  <a:latin typeface="Arial" panose="020B0604020202020204" pitchFamily="34" charset="0"/>
                  <a:cs typeface="Arial" panose="020B0604020202020204" pitchFamily="34" charset="0"/>
                </a:rPr>
                <a:t> </a:t>
              </a:r>
              <a:r>
                <a:rPr lang="en-US" sz="1400">
                  <a:solidFill>
                    <a:schemeClr val="tx1"/>
                  </a:solidFill>
                  <a:latin typeface="Arial" panose="020B0604020202020204" pitchFamily="34" charset="0"/>
                  <a:cs typeface="Arial" panose="020B0604020202020204" pitchFamily="34" charset="0"/>
                </a:rPr>
                <a:t>   </a:t>
              </a:r>
              <a:r>
                <a:rPr lang="ar-SA" sz="1400">
                  <a:solidFill>
                    <a:schemeClr val="tx1"/>
                  </a:solidFill>
                  <a:latin typeface="Arial" panose="020B0604020202020204" pitchFamily="34" charset="0"/>
                  <a:cs typeface="Arial" panose="020B0604020202020204" pitchFamily="34" charset="0"/>
                </a:rPr>
                <a:t> 7-9 سنوات</a:t>
              </a:r>
              <a:endParaRPr lang="en-US" sz="1400">
                <a:solidFill>
                  <a:schemeClr val="tx1"/>
                </a:solidFill>
                <a:latin typeface="Arial" panose="020B0604020202020204" pitchFamily="34" charset="0"/>
                <a:cs typeface="Arial" panose="020B0604020202020204" pitchFamily="34" charset="0"/>
              </a:endParaRPr>
            </a:p>
            <a:p>
              <a:pPr algn="r" rtl="1">
                <a:spcBef>
                  <a:spcPts val="300"/>
                </a:spcBef>
              </a:pPr>
              <a:r>
                <a:rPr lang="en-US" sz="1400">
                  <a:solidFill>
                    <a:schemeClr val="tx1"/>
                  </a:solidFill>
                  <a:latin typeface="Arial" panose="020B0604020202020204" pitchFamily="34" charset="0"/>
                  <a:cs typeface="Arial" panose="020B0604020202020204" pitchFamily="34" charset="0"/>
                </a:rPr>
                <a:t>   </a:t>
              </a:r>
              <a:r>
                <a:rPr lang="ar-SA" sz="1400">
                  <a:solidFill>
                    <a:schemeClr val="tx1"/>
                  </a:solidFill>
                  <a:latin typeface="Arial" panose="020B0604020202020204" pitchFamily="34" charset="0"/>
                  <a:cs typeface="Arial" panose="020B0604020202020204" pitchFamily="34" charset="0"/>
                </a:rPr>
                <a:t>  10-12 سنة</a:t>
              </a:r>
              <a:endParaRPr lang="en-US" sz="1400">
                <a:solidFill>
                  <a:schemeClr val="tx1"/>
                </a:solidFill>
                <a:latin typeface="Arial" panose="020B0604020202020204" pitchFamily="34" charset="0"/>
                <a:cs typeface="Arial" panose="020B0604020202020204" pitchFamily="34" charset="0"/>
              </a:endParaRPr>
            </a:p>
            <a:p>
              <a:pPr algn="r" rtl="1">
                <a:spcBef>
                  <a:spcPts val="300"/>
                </a:spcBef>
              </a:pPr>
              <a:r>
                <a:rPr lang="ar-SA" sz="1400">
                  <a:solidFill>
                    <a:schemeClr val="tx1"/>
                  </a:solidFill>
                  <a:latin typeface="Arial" panose="020B0604020202020204" pitchFamily="34" charset="0"/>
                  <a:cs typeface="Arial" panose="020B0604020202020204" pitchFamily="34" charset="0"/>
                </a:rPr>
                <a:t>     13-15 سنة</a:t>
              </a:r>
              <a:endParaRPr lang="en-US" sz="1400">
                <a:solidFill>
                  <a:schemeClr val="tx1"/>
                </a:solidFill>
                <a:latin typeface="Arial" panose="020B0604020202020204" pitchFamily="34" charset="0"/>
                <a:cs typeface="Arial" panose="020B0604020202020204" pitchFamily="34" charset="0"/>
              </a:endParaRPr>
            </a:p>
            <a:p>
              <a:pPr algn="r" rtl="1">
                <a:spcBef>
                  <a:spcPts val="300"/>
                </a:spcBef>
              </a:pPr>
              <a:r>
                <a:rPr lang="ar-SA" sz="1400">
                  <a:solidFill>
                    <a:schemeClr val="tx1"/>
                  </a:solidFill>
                  <a:latin typeface="Arial" panose="020B0604020202020204" pitchFamily="34" charset="0"/>
                  <a:cs typeface="Arial" panose="020B0604020202020204" pitchFamily="34" charset="0"/>
                </a:rPr>
                <a:t>     16-18 سنة</a:t>
              </a:r>
              <a:endParaRPr lang="en-US" sz="1400">
                <a:solidFill>
                  <a:schemeClr val="tx1"/>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A0292BAD-8091-FF50-B464-4C62553C8851}"/>
                </a:ext>
              </a:extLst>
            </p:cNvPr>
            <p:cNvSpPr/>
            <p:nvPr userDrawn="1"/>
          </p:nvSpPr>
          <p:spPr>
            <a:xfrm>
              <a:off x="6326783" y="857981"/>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6" name="Rectangle 15">
              <a:extLst>
                <a:ext uri="{FF2B5EF4-FFF2-40B4-BE49-F238E27FC236}">
                  <a16:creationId xmlns:a16="http://schemas.microsoft.com/office/drawing/2014/main" id="{4DBCAA7D-6722-1256-629E-DC0D46135F66}"/>
                </a:ext>
              </a:extLst>
            </p:cNvPr>
            <p:cNvSpPr/>
            <p:nvPr userDrawn="1"/>
          </p:nvSpPr>
          <p:spPr>
            <a:xfrm>
              <a:off x="6326783" y="1111019"/>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7" name="Rectangle 16">
              <a:extLst>
                <a:ext uri="{FF2B5EF4-FFF2-40B4-BE49-F238E27FC236}">
                  <a16:creationId xmlns:a16="http://schemas.microsoft.com/office/drawing/2014/main" id="{6790B790-D4BC-162D-BE9A-048DFEDD5085}"/>
                </a:ext>
              </a:extLst>
            </p:cNvPr>
            <p:cNvSpPr/>
            <p:nvPr userDrawn="1"/>
          </p:nvSpPr>
          <p:spPr>
            <a:xfrm>
              <a:off x="6326783" y="1364057"/>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8" name="Rectangle 17">
              <a:extLst>
                <a:ext uri="{FF2B5EF4-FFF2-40B4-BE49-F238E27FC236}">
                  <a16:creationId xmlns:a16="http://schemas.microsoft.com/office/drawing/2014/main" id="{2C887695-2717-A9A8-0FBC-65D83E27ACE4}"/>
                </a:ext>
              </a:extLst>
            </p:cNvPr>
            <p:cNvSpPr/>
            <p:nvPr userDrawn="1"/>
          </p:nvSpPr>
          <p:spPr>
            <a:xfrm>
              <a:off x="6326783" y="1617095"/>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9" name="Rectangle 18">
              <a:extLst>
                <a:ext uri="{FF2B5EF4-FFF2-40B4-BE49-F238E27FC236}">
                  <a16:creationId xmlns:a16="http://schemas.microsoft.com/office/drawing/2014/main" id="{E2403A39-891E-075F-BB87-DCA5946A3819}"/>
                </a:ext>
              </a:extLst>
            </p:cNvPr>
            <p:cNvSpPr/>
            <p:nvPr userDrawn="1"/>
          </p:nvSpPr>
          <p:spPr>
            <a:xfrm>
              <a:off x="6326783" y="1870133"/>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20" name="Rounded Rectangle 19">
              <a:extLst>
                <a:ext uri="{FF2B5EF4-FFF2-40B4-BE49-F238E27FC236}">
                  <a16:creationId xmlns:a16="http://schemas.microsoft.com/office/drawing/2014/main" id="{00B01FB3-9895-8FF5-287A-273D4366F154}"/>
                </a:ext>
              </a:extLst>
            </p:cNvPr>
            <p:cNvSpPr/>
            <p:nvPr userDrawn="1"/>
          </p:nvSpPr>
          <p:spPr>
            <a:xfrm>
              <a:off x="3489821" y="159983"/>
              <a:ext cx="3119244" cy="583891"/>
            </a:xfrm>
            <a:prstGeom prst="roundRect">
              <a:avLst>
                <a:gd name="adj" fmla="val 4318"/>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dirty="0"/>
                <a:t>الجمهور المستهدف</a:t>
              </a:r>
              <a:endParaRPr lang="fr-FR" sz="1400" b="1" dirty="0"/>
            </a:p>
            <a:p>
              <a:pPr algn="ctr" rtl="1"/>
              <a:endParaRPr lang="en-US" sz="800" b="1" dirty="0">
                <a:solidFill>
                  <a:schemeClr val="bg1"/>
                </a:solidFill>
                <a:latin typeface="Arial" panose="020B0604020202020204" pitchFamily="34" charset="0"/>
                <a:cs typeface="Arial" panose="020B0604020202020204" pitchFamily="34" charset="0"/>
              </a:endParaRPr>
            </a:p>
          </p:txBody>
        </p:sp>
        <p:sp>
          <p:nvSpPr>
            <p:cNvPr id="50" name="TextBox 49">
              <a:extLst>
                <a:ext uri="{FF2B5EF4-FFF2-40B4-BE49-F238E27FC236}">
                  <a16:creationId xmlns:a16="http://schemas.microsoft.com/office/drawing/2014/main" id="{66A908A7-D38F-B8D7-FAC8-601F0B35D85D}"/>
                </a:ext>
              </a:extLst>
            </p:cNvPr>
            <p:cNvSpPr txBox="1"/>
            <p:nvPr userDrawn="1"/>
          </p:nvSpPr>
          <p:spPr>
            <a:xfrm>
              <a:off x="156385" y="519193"/>
              <a:ext cx="3119242" cy="215444"/>
            </a:xfrm>
            <a:prstGeom prst="rect">
              <a:avLst/>
            </a:prstGeom>
            <a:noFill/>
          </p:spPr>
          <p:txBody>
            <a:bodyPr wrap="square">
              <a:spAutoFit/>
            </a:bodyPr>
            <a:lstStyle/>
            <a:p>
              <a:pPr algn="ctr" rtl="1"/>
              <a:r>
                <a:rPr lang="ar-SA" sz="800" dirty="0">
                  <a:solidFill>
                    <a:schemeClr val="bg1"/>
                  </a:solidFill>
                </a:rPr>
                <a:t>نوع اللعبة</a:t>
              </a:r>
              <a:endParaRPr lang="en-US" sz="800" dirty="0">
                <a:solidFill>
                  <a:schemeClr val="bg1"/>
                </a:solidFill>
              </a:endParaRPr>
            </a:p>
          </p:txBody>
        </p:sp>
        <p:sp>
          <p:nvSpPr>
            <p:cNvPr id="51" name="TextBox 50">
              <a:extLst>
                <a:ext uri="{FF2B5EF4-FFF2-40B4-BE49-F238E27FC236}">
                  <a16:creationId xmlns:a16="http://schemas.microsoft.com/office/drawing/2014/main" id="{8EF4BAB5-68A6-FA70-C9B0-4557C7C2836B}"/>
                </a:ext>
              </a:extLst>
            </p:cNvPr>
            <p:cNvSpPr txBox="1"/>
            <p:nvPr userDrawn="1"/>
          </p:nvSpPr>
          <p:spPr>
            <a:xfrm>
              <a:off x="3489819" y="521328"/>
              <a:ext cx="3119243" cy="215444"/>
            </a:xfrm>
            <a:prstGeom prst="rect">
              <a:avLst/>
            </a:prstGeom>
            <a:noFill/>
          </p:spPr>
          <p:txBody>
            <a:bodyPr wrap="square">
              <a:spAutoFit/>
            </a:bodyPr>
            <a:lstStyle/>
            <a:p>
              <a:pPr algn="ctr" rtl="1"/>
              <a:r>
                <a:rPr lang="ar-SA" sz="800" dirty="0">
                  <a:solidFill>
                    <a:schemeClr val="bg1"/>
                  </a:solidFill>
                </a:rPr>
                <a:t>الفئة العمرية التي ستلعب لعبتك</a:t>
              </a:r>
              <a:endParaRPr lang="en-US" sz="800" dirty="0">
                <a:solidFill>
                  <a:schemeClr val="bg1"/>
                </a:solidFill>
              </a:endParaRPr>
            </a:p>
          </p:txBody>
        </p:sp>
      </p:grpSp>
    </p:spTree>
    <p:extLst>
      <p:ext uri="{BB962C8B-B14F-4D97-AF65-F5344CB8AC3E}">
        <p14:creationId xmlns:p14="http://schemas.microsoft.com/office/powerpoint/2010/main" val="3679907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2D5C0D24-703D-A4B7-55A9-5A80B59C76D6}"/>
              </a:ext>
            </a:extLst>
          </p:cNvPr>
          <p:cNvPicPr>
            <a:picLocks noChangeAspect="1"/>
          </p:cNvPicPr>
          <p:nvPr userDrawn="1"/>
        </p:nvPicPr>
        <p:blipFill>
          <a:blip r:embed="rId2"/>
          <a:stretch>
            <a:fillRect/>
          </a:stretch>
        </p:blipFill>
        <p:spPr>
          <a:xfrm>
            <a:off x="-53079" y="-53118"/>
            <a:ext cx="6911080" cy="9959118"/>
          </a:xfrm>
          <a:prstGeom prst="rect">
            <a:avLst/>
          </a:prstGeom>
        </p:spPr>
      </p:pic>
      <p:sp>
        <p:nvSpPr>
          <p:cNvPr id="6" name="Rounded Rectangle 5">
            <a:extLst>
              <a:ext uri="{FF2B5EF4-FFF2-40B4-BE49-F238E27FC236}">
                <a16:creationId xmlns:a16="http://schemas.microsoft.com/office/drawing/2014/main" id="{91A72167-3CFA-5618-1EFE-A6ECA37FE8BA}"/>
              </a:ext>
            </a:extLst>
          </p:cNvPr>
          <p:cNvSpPr/>
          <p:nvPr userDrawn="1"/>
        </p:nvSpPr>
        <p:spPr>
          <a:xfrm>
            <a:off x="199680" y="3058646"/>
            <a:ext cx="6457091" cy="1788556"/>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7" name="TextBox 6">
            <a:extLst>
              <a:ext uri="{FF2B5EF4-FFF2-40B4-BE49-F238E27FC236}">
                <a16:creationId xmlns:a16="http://schemas.microsoft.com/office/drawing/2014/main" id="{A9F5D7F8-5DA6-05D9-5AE9-757F7A9E1A1D}"/>
              </a:ext>
            </a:extLst>
          </p:cNvPr>
          <p:cNvSpPr txBox="1"/>
          <p:nvPr userDrawn="1"/>
        </p:nvSpPr>
        <p:spPr>
          <a:xfrm>
            <a:off x="248158" y="3660916"/>
            <a:ext cx="6457090" cy="1169551"/>
          </a:xfrm>
          <a:prstGeom prst="rect">
            <a:avLst/>
          </a:prstGeom>
          <a:noFill/>
        </p:spPr>
        <p:txBody>
          <a:bodyPr wrap="square">
            <a:spAutoFit/>
          </a:bodyPr>
          <a:lstStyle/>
          <a:p>
            <a:pPr algn="r" rtl="1"/>
            <a:r>
              <a:rPr lang="ar-SA" sz="1400" b="1">
                <a:latin typeface="Arial" panose="020B0604020202020204" pitchFamily="34" charset="0"/>
                <a:cs typeface="Arial" panose="020B0604020202020204" pitchFamily="34" charset="0"/>
              </a:rPr>
              <a:t>1.</a:t>
            </a:r>
            <a:endParaRPr lang="en-US" sz="1400" b="1">
              <a:latin typeface="Arial" panose="020B0604020202020204" pitchFamily="34" charset="0"/>
              <a:cs typeface="Arial" panose="020B0604020202020204" pitchFamily="34" charset="0"/>
            </a:endParaRPr>
          </a:p>
          <a:p>
            <a:pPr algn="r" rtl="1"/>
            <a:endParaRPr lang="en-US" sz="1400" b="1">
              <a:latin typeface="Arial" panose="020B0604020202020204" pitchFamily="34" charset="0"/>
              <a:cs typeface="Arial" panose="020B0604020202020204" pitchFamily="34" charset="0"/>
            </a:endParaRPr>
          </a:p>
          <a:p>
            <a:pPr algn="r" rtl="1"/>
            <a:r>
              <a:rPr lang="ar-SA" sz="1400" b="1">
                <a:latin typeface="Arial" panose="020B0604020202020204" pitchFamily="34" charset="0"/>
                <a:cs typeface="Arial" panose="020B0604020202020204" pitchFamily="34" charset="0"/>
              </a:rPr>
              <a:t>2.</a:t>
            </a:r>
            <a:endParaRPr lang="en-US" sz="1400" b="1">
              <a:latin typeface="Arial" panose="020B0604020202020204" pitchFamily="34" charset="0"/>
              <a:cs typeface="Arial" panose="020B0604020202020204" pitchFamily="34" charset="0"/>
            </a:endParaRPr>
          </a:p>
          <a:p>
            <a:pPr algn="r" rtl="1"/>
            <a:endParaRPr lang="en-US" sz="1400" b="1">
              <a:latin typeface="Arial" panose="020B0604020202020204" pitchFamily="34" charset="0"/>
              <a:cs typeface="Arial" panose="020B0604020202020204" pitchFamily="34" charset="0"/>
            </a:endParaRPr>
          </a:p>
          <a:p>
            <a:pPr algn="r" rtl="1"/>
            <a:r>
              <a:rPr lang="ar-SA" sz="1400" b="1">
                <a:latin typeface="Arial" panose="020B0604020202020204" pitchFamily="34" charset="0"/>
                <a:cs typeface="Arial" panose="020B0604020202020204" pitchFamily="34" charset="0"/>
              </a:rPr>
              <a:t>3.</a:t>
            </a:r>
            <a:endParaRPr lang="en-US" sz="1400" b="1">
              <a:latin typeface="Arial" panose="020B0604020202020204" pitchFamily="34" charset="0"/>
              <a:cs typeface="Arial" panose="020B0604020202020204" pitchFamily="34" charset="0"/>
            </a:endParaRPr>
          </a:p>
        </p:txBody>
      </p:sp>
      <p:sp>
        <p:nvSpPr>
          <p:cNvPr id="8" name="Rounded Rectangle 7">
            <a:extLst>
              <a:ext uri="{FF2B5EF4-FFF2-40B4-BE49-F238E27FC236}">
                <a16:creationId xmlns:a16="http://schemas.microsoft.com/office/drawing/2014/main" id="{7809A626-A324-CECD-1C9D-427672A4EECD}"/>
              </a:ext>
            </a:extLst>
          </p:cNvPr>
          <p:cNvSpPr/>
          <p:nvPr userDrawn="1"/>
        </p:nvSpPr>
        <p:spPr>
          <a:xfrm>
            <a:off x="200454" y="162802"/>
            <a:ext cx="6457091" cy="2696124"/>
          </a:xfrm>
          <a:prstGeom prst="roundRect">
            <a:avLst>
              <a:gd name="adj" fmla="val 1517"/>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a:solidFill>
                <a:schemeClr val="tx1"/>
              </a:solidFill>
              <a:latin typeface="Arial" panose="020B0604020202020204" pitchFamily="34" charset="0"/>
              <a:cs typeface="Arial" panose="020B0604020202020204" pitchFamily="34" charset="0"/>
            </a:endParaRPr>
          </a:p>
        </p:txBody>
      </p:sp>
      <p:sp>
        <p:nvSpPr>
          <p:cNvPr id="9" name="Rounded Rectangle 8">
            <a:extLst>
              <a:ext uri="{FF2B5EF4-FFF2-40B4-BE49-F238E27FC236}">
                <a16:creationId xmlns:a16="http://schemas.microsoft.com/office/drawing/2014/main" id="{4ABDC001-5F71-4199-1DBE-A5F107DA3CF0}"/>
              </a:ext>
            </a:extLst>
          </p:cNvPr>
          <p:cNvSpPr/>
          <p:nvPr userDrawn="1"/>
        </p:nvSpPr>
        <p:spPr>
          <a:xfrm>
            <a:off x="200454" y="162801"/>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dirty="0"/>
              <a:t>أسلوب اللعب</a:t>
            </a:r>
            <a:endParaRPr lang="fr-FR" sz="1400" b="1" dirty="0"/>
          </a:p>
          <a:p>
            <a:pPr algn="ctr" rtl="1"/>
            <a:endParaRPr lang="en-US" sz="800" b="1" dirty="0">
              <a:solidFill>
                <a:schemeClr val="bg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EAD04807-ED8D-BA8A-49C1-D4885AD7FEA9}"/>
              </a:ext>
            </a:extLst>
          </p:cNvPr>
          <p:cNvSpPr txBox="1"/>
          <p:nvPr userDrawn="1"/>
        </p:nvSpPr>
        <p:spPr>
          <a:xfrm>
            <a:off x="199680" y="513627"/>
            <a:ext cx="6457091" cy="215444"/>
          </a:xfrm>
          <a:prstGeom prst="rect">
            <a:avLst/>
          </a:prstGeom>
          <a:noFill/>
        </p:spPr>
        <p:txBody>
          <a:bodyPr wrap="square">
            <a:spAutoFit/>
          </a:bodyPr>
          <a:lstStyle/>
          <a:p>
            <a:pPr algn="ctr" rtl="1"/>
            <a:r>
              <a:rPr lang="ar-SA" sz="800" dirty="0">
                <a:solidFill>
                  <a:schemeClr val="bg1"/>
                </a:solidFill>
              </a:rPr>
              <a:t>ماذا يحدث في اللعبة؟ أين يتعلم اللاعبون؟ هل توجد مكافآت؟ استخدم الأشكال والأسهم لتوضيح طريقة عمل اللعبة.</a:t>
            </a:r>
            <a:endParaRPr lang="en-US" sz="800" dirty="0">
              <a:solidFill>
                <a:schemeClr val="bg1"/>
              </a:solidFill>
            </a:endParaRPr>
          </a:p>
        </p:txBody>
      </p:sp>
      <p:sp>
        <p:nvSpPr>
          <p:cNvPr id="11" name="Rounded Rectangle 10">
            <a:extLst>
              <a:ext uri="{FF2B5EF4-FFF2-40B4-BE49-F238E27FC236}">
                <a16:creationId xmlns:a16="http://schemas.microsoft.com/office/drawing/2014/main" id="{6A1D5D71-22A7-0D4B-26FA-A0F76F70C806}"/>
              </a:ext>
            </a:extLst>
          </p:cNvPr>
          <p:cNvSpPr/>
          <p:nvPr userDrawn="1"/>
        </p:nvSpPr>
        <p:spPr>
          <a:xfrm>
            <a:off x="200454" y="3062974"/>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dirty="0"/>
              <a:t>لماذا هي ممتعة</a:t>
            </a:r>
            <a:endParaRPr lang="fr-FR" sz="1400" b="1" dirty="0"/>
          </a:p>
          <a:p>
            <a:pPr algn="ctr" rtl="1"/>
            <a:endParaRPr lang="en-US" sz="800" b="1" dirty="0">
              <a:solidFill>
                <a:schemeClr val="bg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BBD15CE0-14B9-B5A6-9BC0-024218DE76B6}"/>
              </a:ext>
            </a:extLst>
          </p:cNvPr>
          <p:cNvSpPr txBox="1"/>
          <p:nvPr userDrawn="1"/>
        </p:nvSpPr>
        <p:spPr>
          <a:xfrm>
            <a:off x="199681" y="3403973"/>
            <a:ext cx="6457090" cy="215444"/>
          </a:xfrm>
          <a:prstGeom prst="rect">
            <a:avLst/>
          </a:prstGeom>
          <a:noFill/>
        </p:spPr>
        <p:txBody>
          <a:bodyPr wrap="square">
            <a:spAutoFit/>
          </a:bodyPr>
          <a:lstStyle/>
          <a:p>
            <a:pPr algn="ctr" rtl="1"/>
            <a:r>
              <a:rPr lang="ar-SA" sz="800" dirty="0">
                <a:solidFill>
                  <a:schemeClr val="bg1"/>
                </a:solidFill>
              </a:rPr>
              <a:t>ما الذي يجعل اللاعبين يرغبون في الاستمرار باللعب؟ </a:t>
            </a:r>
            <a:r>
              <a:rPr lang="ar-SA" sz="800" b="1" dirty="0">
                <a:solidFill>
                  <a:schemeClr val="bg1"/>
                </a:solidFill>
              </a:rPr>
              <a:t>بحد أقصى سطر واحد لكل إجابة.</a:t>
            </a:r>
            <a:endParaRPr lang="en-US" sz="800" dirty="0">
              <a:solidFill>
                <a:schemeClr val="bg1"/>
              </a:solidFill>
            </a:endParaRPr>
          </a:p>
        </p:txBody>
      </p:sp>
      <p:sp>
        <p:nvSpPr>
          <p:cNvPr id="13" name="Rounded Rectangle 12">
            <a:extLst>
              <a:ext uri="{FF2B5EF4-FFF2-40B4-BE49-F238E27FC236}">
                <a16:creationId xmlns:a16="http://schemas.microsoft.com/office/drawing/2014/main" id="{DAE88020-C761-FEFB-6BFE-4D93A1AB94E8}"/>
              </a:ext>
            </a:extLst>
          </p:cNvPr>
          <p:cNvSpPr/>
          <p:nvPr userDrawn="1"/>
        </p:nvSpPr>
        <p:spPr>
          <a:xfrm>
            <a:off x="200452" y="7611202"/>
            <a:ext cx="4237287" cy="1973615"/>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r>
              <a:rPr lang="ar-SA" sz="1100" b="1">
                <a:solidFill>
                  <a:schemeClr val="tx1"/>
                </a:solidFill>
              </a:rPr>
              <a:t>         زاوية الرؤية </a:t>
            </a:r>
            <a:r>
              <a:rPr lang="en-US" sz="1100" b="1">
                <a:solidFill>
                  <a:schemeClr val="tx1"/>
                </a:solidFill>
                <a:latin typeface="Arial" panose="020B0604020202020204" pitchFamily="34" charset="0"/>
                <a:cs typeface="Arial" panose="020B0604020202020204" pitchFamily="34" charset="0"/>
              </a:rPr>
              <a:t>	</a:t>
            </a:r>
            <a:r>
              <a:rPr lang="ar-SA" sz="1100" b="1">
                <a:solidFill>
                  <a:schemeClr val="tx1"/>
                </a:solidFill>
                <a:latin typeface="Arial" panose="020B0604020202020204" pitchFamily="34" charset="0"/>
                <a:cs typeface="Arial" panose="020B0604020202020204" pitchFamily="34" charset="0"/>
              </a:rPr>
              <a:t>  </a:t>
            </a:r>
            <a:r>
              <a:rPr lang="en-US" sz="1100" b="1">
                <a:solidFill>
                  <a:schemeClr val="tx1"/>
                </a:solidFill>
                <a:latin typeface="Arial" panose="020B0604020202020204" pitchFamily="34" charset="0"/>
                <a:cs typeface="Arial" panose="020B0604020202020204" pitchFamily="34" charset="0"/>
              </a:rPr>
              <a:t>	 </a:t>
            </a:r>
            <a:r>
              <a:rPr lang="ar-SA" sz="1100" b="1">
                <a:solidFill>
                  <a:schemeClr val="tx1"/>
                </a:solidFill>
                <a:latin typeface="Arial" panose="020B0604020202020204" pitchFamily="34" charset="0"/>
                <a:cs typeface="Arial" panose="020B0604020202020204" pitchFamily="34" charset="0"/>
              </a:rPr>
              <a:t>                 </a:t>
            </a:r>
            <a:r>
              <a:rPr lang="ar-SA" sz="1100" b="1">
                <a:solidFill>
                  <a:schemeClr val="tx1"/>
                </a:solidFill>
              </a:rPr>
              <a:t>الحركة</a:t>
            </a:r>
            <a:endParaRPr lang="en-US" sz="1100" b="1">
              <a:solidFill>
                <a:schemeClr val="tx1"/>
              </a:solidFill>
              <a:latin typeface="Arial" panose="020B0604020202020204" pitchFamily="34" charset="0"/>
              <a:cs typeface="Arial" panose="020B0604020202020204" pitchFamily="34" charset="0"/>
            </a:endParaRPr>
          </a:p>
          <a:p>
            <a:pPr algn="r" rtl="1">
              <a:lnSpc>
                <a:spcPts val="1700"/>
              </a:lnSpc>
            </a:pPr>
            <a:r>
              <a:rPr lang="ar-SA" sz="750">
                <a:solidFill>
                  <a:schemeClr val="tx1"/>
                </a:solidFill>
                <a:latin typeface="Arial" panose="020B0604020202020204" pitchFamily="34" charset="0"/>
                <a:cs typeface="Arial" panose="020B0604020202020204" pitchFamily="34" charset="0"/>
              </a:rPr>
              <a:t>    </a:t>
            </a:r>
            <a:r>
              <a:rPr lang="ar-SA" sz="750">
                <a:solidFill>
                  <a:schemeClr val="tx1"/>
                </a:solidFill>
              </a:rPr>
              <a:t>منظور أول شخص (</a:t>
            </a:r>
            <a:r>
              <a:rPr lang="en-US" sz="750">
                <a:solidFill>
                  <a:schemeClr val="tx1"/>
                </a:solidFill>
              </a:rPr>
              <a:t>First-person</a:t>
            </a:r>
            <a:r>
              <a:rPr lang="ar-SA" sz="750">
                <a:solidFill>
                  <a:schemeClr val="tx1"/>
                </a:solidFill>
              </a:rPr>
              <a:t>)</a:t>
            </a:r>
            <a:r>
              <a:rPr lang="en-US" sz="750">
                <a:solidFill>
                  <a:schemeClr val="tx1"/>
                </a:solidFill>
                <a:latin typeface="Arial" panose="020B0604020202020204" pitchFamily="34" charset="0"/>
                <a:cs typeface="Arial" panose="020B0604020202020204" pitchFamily="34" charset="0"/>
              </a:rPr>
              <a:t> 	</a:t>
            </a:r>
            <a:r>
              <a:rPr lang="ar-SA" sz="750">
                <a:solidFill>
                  <a:schemeClr val="tx1"/>
                </a:solidFill>
                <a:latin typeface="Arial" panose="020B0604020202020204" pitchFamily="34" charset="0"/>
                <a:cs typeface="Arial" panose="020B0604020202020204" pitchFamily="34" charset="0"/>
              </a:rPr>
              <a:t>          		              </a:t>
            </a:r>
            <a:r>
              <a:rPr lang="ar-SA" sz="750">
                <a:solidFill>
                  <a:schemeClr val="tx1"/>
                </a:solidFill>
              </a:rPr>
              <a:t>ثابتة (</a:t>
            </a:r>
            <a:r>
              <a:rPr lang="en-US" sz="750">
                <a:solidFill>
                  <a:schemeClr val="tx1"/>
                </a:solidFill>
              </a:rPr>
              <a:t>Fixed</a:t>
            </a:r>
            <a:r>
              <a:rPr lang="ar-SA" sz="750">
                <a:solidFill>
                  <a:schemeClr val="tx1"/>
                </a:solidFill>
              </a:rPr>
              <a:t>)</a:t>
            </a:r>
            <a:endParaRPr lang="en-US" sz="750">
              <a:solidFill>
                <a:schemeClr val="tx1"/>
              </a:solidFill>
              <a:latin typeface="Arial" panose="020B0604020202020204" pitchFamily="34" charset="0"/>
              <a:cs typeface="Arial" panose="020B0604020202020204" pitchFamily="34" charset="0"/>
            </a:endParaRPr>
          </a:p>
          <a:p>
            <a:pPr algn="r" rtl="1">
              <a:lnSpc>
                <a:spcPts val="1700"/>
              </a:lnSpc>
            </a:pPr>
            <a:r>
              <a:rPr lang="ar-SA" sz="750">
                <a:solidFill>
                  <a:schemeClr val="tx1"/>
                </a:solidFill>
              </a:rPr>
              <a:t>    منظور الشخص الثالث </a:t>
            </a:r>
            <a:r>
              <a:rPr lang="ar-SA" sz="750">
                <a:solidFill>
                  <a:schemeClr val="tx1"/>
                </a:solidFill>
                <a:latin typeface="Arial" panose="020B0604020202020204" pitchFamily="34" charset="0"/>
                <a:cs typeface="Arial" panose="020B0604020202020204" pitchFamily="34" charset="0"/>
              </a:rPr>
              <a:t>(</a:t>
            </a:r>
            <a:r>
              <a:rPr lang="en-US" sz="750">
                <a:solidFill>
                  <a:schemeClr val="tx1"/>
                </a:solidFill>
                <a:latin typeface="Arial" panose="020B0604020202020204" pitchFamily="34" charset="0"/>
                <a:cs typeface="Arial" panose="020B0604020202020204" pitchFamily="34" charset="0"/>
              </a:rPr>
              <a:t>Third-person</a:t>
            </a:r>
            <a:r>
              <a:rPr lang="ar-SA" sz="750">
                <a:solidFill>
                  <a:schemeClr val="tx1"/>
                </a:solidFill>
                <a:latin typeface="Arial" panose="020B0604020202020204" pitchFamily="34" charset="0"/>
                <a:cs typeface="Arial" panose="020B0604020202020204" pitchFamily="34" charset="0"/>
              </a:rPr>
              <a:t>)</a:t>
            </a:r>
            <a:r>
              <a:rPr lang="en-US" sz="750">
                <a:solidFill>
                  <a:schemeClr val="tx1"/>
                </a:solidFill>
                <a:latin typeface="Arial" panose="020B0604020202020204" pitchFamily="34" charset="0"/>
                <a:cs typeface="Arial" panose="020B0604020202020204" pitchFamily="34" charset="0"/>
              </a:rPr>
              <a:t>	 </a:t>
            </a:r>
            <a:r>
              <a:rPr lang="ar-SA" sz="750">
                <a:solidFill>
                  <a:schemeClr val="tx1"/>
                </a:solidFill>
                <a:latin typeface="Arial" panose="020B0604020202020204" pitchFamily="34" charset="0"/>
                <a:cs typeface="Arial" panose="020B0604020202020204" pitchFamily="34" charset="0"/>
              </a:rPr>
              <a:t>         	              </a:t>
            </a:r>
            <a:r>
              <a:rPr lang="ar-SA" sz="750">
                <a:solidFill>
                  <a:schemeClr val="tx1"/>
                </a:solidFill>
              </a:rPr>
              <a:t>تتبع اللاعب (</a:t>
            </a:r>
            <a:r>
              <a:rPr lang="en-US" sz="750">
                <a:solidFill>
                  <a:schemeClr val="tx1"/>
                </a:solidFill>
              </a:rPr>
              <a:t>Following</a:t>
            </a:r>
            <a:r>
              <a:rPr lang="ar-SA" sz="750">
                <a:solidFill>
                  <a:schemeClr val="tx1"/>
                </a:solidFill>
              </a:rPr>
              <a:t>)</a:t>
            </a:r>
            <a:endParaRPr lang="en-US" sz="750">
              <a:solidFill>
                <a:schemeClr val="tx1"/>
              </a:solidFill>
              <a:latin typeface="Arial" panose="020B0604020202020204" pitchFamily="34" charset="0"/>
              <a:cs typeface="Arial" panose="020B0604020202020204" pitchFamily="34" charset="0"/>
            </a:endParaRPr>
          </a:p>
          <a:p>
            <a:pPr algn="r" rtl="1">
              <a:lnSpc>
                <a:spcPts val="1700"/>
              </a:lnSpc>
            </a:pPr>
            <a:r>
              <a:rPr lang="ar-SA" sz="750">
                <a:solidFill>
                  <a:schemeClr val="tx1"/>
                </a:solidFill>
              </a:rPr>
              <a:t>    منظور علوي (</a:t>
            </a:r>
            <a:r>
              <a:rPr lang="en-US" sz="750">
                <a:solidFill>
                  <a:schemeClr val="tx1"/>
                </a:solidFill>
              </a:rPr>
              <a:t>Top-down</a:t>
            </a:r>
            <a:r>
              <a:rPr lang="ar-SA" sz="750">
                <a:solidFill>
                  <a:schemeClr val="tx1"/>
                </a:solidFill>
              </a:rPr>
              <a:t>)</a:t>
            </a:r>
            <a:r>
              <a:rPr lang="en-US" sz="750">
                <a:solidFill>
                  <a:schemeClr val="tx1"/>
                </a:solidFill>
                <a:latin typeface="Arial" panose="020B0604020202020204" pitchFamily="34" charset="0"/>
                <a:cs typeface="Arial" panose="020B0604020202020204" pitchFamily="34" charset="0"/>
              </a:rPr>
              <a:t>	 </a:t>
            </a:r>
            <a:r>
              <a:rPr lang="ar-SA" sz="750">
                <a:solidFill>
                  <a:schemeClr val="tx1"/>
                </a:solidFill>
                <a:latin typeface="Arial" panose="020B0604020202020204" pitchFamily="34" charset="0"/>
                <a:cs typeface="Arial" panose="020B0604020202020204" pitchFamily="34" charset="0"/>
              </a:rPr>
              <a:t>                     	              </a:t>
            </a:r>
            <a:r>
              <a:rPr lang="ar-SA" sz="750">
                <a:solidFill>
                  <a:schemeClr val="tx1"/>
                </a:solidFill>
              </a:rPr>
              <a:t>يتحكم بها اللاعب (</a:t>
            </a:r>
            <a:r>
              <a:rPr lang="en-US" sz="750">
                <a:solidFill>
                  <a:schemeClr val="tx1"/>
                </a:solidFill>
              </a:rPr>
              <a:t>Player-controlled</a:t>
            </a:r>
            <a:r>
              <a:rPr lang="ar-SA" sz="750">
                <a:solidFill>
                  <a:schemeClr val="tx1"/>
                </a:solidFill>
              </a:rPr>
              <a:t>)</a:t>
            </a:r>
            <a:r>
              <a:rPr lang="ar-SA" sz="750">
                <a:solidFill>
                  <a:schemeClr val="tx1"/>
                </a:solidFill>
                <a:latin typeface="Arial" panose="020B0604020202020204" pitchFamily="34" charset="0"/>
                <a:cs typeface="Arial" panose="020B0604020202020204" pitchFamily="34" charset="0"/>
              </a:rPr>
              <a:t>      </a:t>
            </a:r>
          </a:p>
          <a:p>
            <a:pPr algn="r" rtl="1">
              <a:lnSpc>
                <a:spcPts val="1700"/>
              </a:lnSpc>
            </a:pPr>
            <a:r>
              <a:rPr lang="ar-SA" sz="750">
                <a:solidFill>
                  <a:schemeClr val="tx1"/>
                </a:solidFill>
                <a:latin typeface="Arial" panose="020B0604020202020204" pitchFamily="34" charset="0"/>
                <a:cs typeface="Arial" panose="020B0604020202020204" pitchFamily="34" charset="0"/>
              </a:rPr>
              <a:t>    منظور جانبي (</a:t>
            </a:r>
            <a:r>
              <a:rPr lang="en-US" sz="750">
                <a:solidFill>
                  <a:schemeClr val="tx1"/>
                </a:solidFill>
                <a:latin typeface="Arial" panose="020B0604020202020204" pitchFamily="34" charset="0"/>
                <a:cs typeface="Arial" panose="020B0604020202020204" pitchFamily="34" charset="0"/>
              </a:rPr>
              <a:t>Side-view</a:t>
            </a:r>
            <a:r>
              <a:rPr lang="ar-SA" sz="750">
                <a:solidFill>
                  <a:schemeClr val="tx1"/>
                </a:solidFill>
                <a:latin typeface="Arial" panose="020B0604020202020204" pitchFamily="34" charset="0"/>
                <a:cs typeface="Arial" panose="020B0604020202020204" pitchFamily="34" charset="0"/>
              </a:rPr>
              <a:t>)</a:t>
            </a:r>
            <a:endParaRPr lang="en-US" sz="750">
              <a:solidFill>
                <a:schemeClr val="tx1"/>
              </a:solidFill>
              <a:latin typeface="Arial" panose="020B0604020202020204" pitchFamily="34" charset="0"/>
              <a:cs typeface="Arial" panose="020B0604020202020204" pitchFamily="34" charset="0"/>
            </a:endParaRPr>
          </a:p>
          <a:p>
            <a:pPr algn="r" rtl="1">
              <a:lnSpc>
                <a:spcPts val="1700"/>
              </a:lnSpc>
            </a:pPr>
            <a:r>
              <a:rPr lang="ar-SA" sz="750">
                <a:solidFill>
                  <a:schemeClr val="tx1"/>
                </a:solidFill>
              </a:rPr>
              <a:t>    منظور متساوي الأبعاد (</a:t>
            </a:r>
            <a:r>
              <a:rPr lang="en-US" sz="750">
                <a:solidFill>
                  <a:schemeClr val="tx1"/>
                </a:solidFill>
              </a:rPr>
              <a:t>Isometric</a:t>
            </a:r>
            <a:r>
              <a:rPr lang="ar-SA" sz="750">
                <a:solidFill>
                  <a:schemeClr val="tx1"/>
                </a:solidFill>
              </a:rPr>
              <a:t>)</a:t>
            </a:r>
            <a:endParaRPr lang="en-US" sz="750">
              <a:solidFill>
                <a:schemeClr val="tx1"/>
              </a:solidFill>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1E2D2064-2B51-0543-5F87-5C9E86547DDE}"/>
              </a:ext>
            </a:extLst>
          </p:cNvPr>
          <p:cNvSpPr/>
          <p:nvPr userDrawn="1"/>
        </p:nvSpPr>
        <p:spPr>
          <a:xfrm>
            <a:off x="4269297" y="8202514"/>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5" name="Rectangle 14">
            <a:extLst>
              <a:ext uri="{FF2B5EF4-FFF2-40B4-BE49-F238E27FC236}">
                <a16:creationId xmlns:a16="http://schemas.microsoft.com/office/drawing/2014/main" id="{DBFA6EF6-1DF0-AA50-8E50-9A3128DE4C9B}"/>
              </a:ext>
            </a:extLst>
          </p:cNvPr>
          <p:cNvSpPr/>
          <p:nvPr userDrawn="1"/>
        </p:nvSpPr>
        <p:spPr>
          <a:xfrm>
            <a:off x="4269297" y="8420817"/>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6" name="Rectangle 15">
            <a:extLst>
              <a:ext uri="{FF2B5EF4-FFF2-40B4-BE49-F238E27FC236}">
                <a16:creationId xmlns:a16="http://schemas.microsoft.com/office/drawing/2014/main" id="{F97B606F-C8A4-C6C4-1872-C4024532F141}"/>
              </a:ext>
            </a:extLst>
          </p:cNvPr>
          <p:cNvSpPr/>
          <p:nvPr userDrawn="1"/>
        </p:nvSpPr>
        <p:spPr>
          <a:xfrm>
            <a:off x="4269297" y="8639120"/>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7" name="Rectangle 16">
            <a:extLst>
              <a:ext uri="{FF2B5EF4-FFF2-40B4-BE49-F238E27FC236}">
                <a16:creationId xmlns:a16="http://schemas.microsoft.com/office/drawing/2014/main" id="{6A253BE0-7E3C-7EC6-7907-BC597AC94202}"/>
              </a:ext>
            </a:extLst>
          </p:cNvPr>
          <p:cNvSpPr/>
          <p:nvPr userDrawn="1"/>
        </p:nvSpPr>
        <p:spPr>
          <a:xfrm>
            <a:off x="4269297" y="8857423"/>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8" name="Rectangle 17">
            <a:extLst>
              <a:ext uri="{FF2B5EF4-FFF2-40B4-BE49-F238E27FC236}">
                <a16:creationId xmlns:a16="http://schemas.microsoft.com/office/drawing/2014/main" id="{47ED2679-C20E-89CA-43BE-A3605651B4D2}"/>
              </a:ext>
            </a:extLst>
          </p:cNvPr>
          <p:cNvSpPr/>
          <p:nvPr userDrawn="1"/>
        </p:nvSpPr>
        <p:spPr>
          <a:xfrm>
            <a:off x="4269297" y="9075726"/>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9" name="Rounded Rectangle 18">
            <a:extLst>
              <a:ext uri="{FF2B5EF4-FFF2-40B4-BE49-F238E27FC236}">
                <a16:creationId xmlns:a16="http://schemas.microsoft.com/office/drawing/2014/main" id="{C3023661-1A6B-51E8-C9E1-63DAB95D339F}"/>
              </a:ext>
            </a:extLst>
          </p:cNvPr>
          <p:cNvSpPr/>
          <p:nvPr userDrawn="1"/>
        </p:nvSpPr>
        <p:spPr>
          <a:xfrm>
            <a:off x="200451" y="7378773"/>
            <a:ext cx="4237287" cy="562355"/>
          </a:xfrm>
          <a:prstGeom prst="roundRect">
            <a:avLst>
              <a:gd name="adj" fmla="val 7761"/>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dirty="0"/>
              <a:t>الكاميرا</a:t>
            </a:r>
            <a:endParaRPr lang="fr-FR" sz="1400" b="1" dirty="0"/>
          </a:p>
          <a:p>
            <a:pPr algn="ctr" rtl="1"/>
            <a:endParaRPr lang="en-US" sz="800" b="1" dirty="0">
              <a:solidFill>
                <a:schemeClr val="bg1"/>
              </a:solidFill>
              <a:latin typeface="Arial" panose="020B0604020202020204" pitchFamily="34" charset="0"/>
              <a:cs typeface="Arial" panose="020B0604020202020204" pitchFamily="34" charset="0"/>
            </a:endParaRPr>
          </a:p>
        </p:txBody>
      </p:sp>
      <p:sp>
        <p:nvSpPr>
          <p:cNvPr id="20" name="Rounded Rectangle 19">
            <a:extLst>
              <a:ext uri="{FF2B5EF4-FFF2-40B4-BE49-F238E27FC236}">
                <a16:creationId xmlns:a16="http://schemas.microsoft.com/office/drawing/2014/main" id="{63E3ECB1-D8D9-1CBB-43B8-9759F569D926}"/>
              </a:ext>
            </a:extLst>
          </p:cNvPr>
          <p:cNvSpPr/>
          <p:nvPr userDrawn="1"/>
        </p:nvSpPr>
        <p:spPr>
          <a:xfrm>
            <a:off x="4640065" y="7611202"/>
            <a:ext cx="2017479" cy="1973615"/>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US" sz="2000">
              <a:solidFill>
                <a:schemeClr val="tx1"/>
              </a:solidFill>
              <a:latin typeface="Arial" panose="020B0604020202020204" pitchFamily="34" charset="0"/>
              <a:cs typeface="Arial" panose="020B0604020202020204" pitchFamily="34" charset="0"/>
            </a:endParaRPr>
          </a:p>
          <a:p>
            <a:pPr algn="r" rtl="1"/>
            <a:r>
              <a:rPr lang="ar-SA" sz="1400">
                <a:solidFill>
                  <a:schemeClr val="tx1"/>
                </a:solidFill>
                <a:latin typeface="Arial" panose="020B0604020202020204" pitchFamily="34" charset="0"/>
                <a:cs typeface="Arial" panose="020B0604020202020204" pitchFamily="34" charset="0"/>
              </a:rPr>
              <a:t>    1-3 أزرار</a:t>
            </a:r>
            <a:endParaRPr lang="en-US" sz="1400">
              <a:solidFill>
                <a:schemeClr val="tx1"/>
              </a:solidFill>
              <a:latin typeface="Arial" panose="020B0604020202020204" pitchFamily="34" charset="0"/>
              <a:cs typeface="Arial" panose="020B0604020202020204" pitchFamily="34" charset="0"/>
            </a:endParaRPr>
          </a:p>
          <a:p>
            <a:pPr algn="r" rtl="1"/>
            <a:r>
              <a:rPr lang="ar-SA" sz="1400">
                <a:solidFill>
                  <a:schemeClr val="tx1"/>
                </a:solidFill>
                <a:latin typeface="Arial" panose="020B0604020202020204" pitchFamily="34" charset="0"/>
                <a:cs typeface="Arial" panose="020B0604020202020204" pitchFamily="34" charset="0"/>
              </a:rPr>
              <a:t>    4-6 </a:t>
            </a:r>
            <a:r>
              <a:rPr lang="ar-SA" sz="1400">
                <a:solidFill>
                  <a:schemeClr val="tx1"/>
                </a:solidFill>
                <a:latin typeface="Arial" panose="020B0604020202020204" pitchFamily="34" charset="0"/>
                <a:cs typeface="+mn-cs"/>
              </a:rPr>
              <a:t>أزرار</a:t>
            </a:r>
            <a:endParaRPr lang="en-US" sz="1400">
              <a:solidFill>
                <a:schemeClr val="tx1"/>
              </a:solidFill>
              <a:latin typeface="Arial" panose="020B0604020202020204" pitchFamily="34" charset="0"/>
              <a:cs typeface="Arial" panose="020B0604020202020204" pitchFamily="34" charset="0"/>
            </a:endParaRPr>
          </a:p>
          <a:p>
            <a:pPr algn="r" rtl="1"/>
            <a:r>
              <a:rPr lang="ar-SA" sz="1400">
                <a:solidFill>
                  <a:schemeClr val="tx1"/>
                </a:solidFill>
                <a:latin typeface="Arial" panose="020B0604020202020204" pitchFamily="34" charset="0"/>
                <a:cs typeface="Arial" panose="020B0604020202020204" pitchFamily="34" charset="0"/>
              </a:rPr>
              <a:t>    +7 </a:t>
            </a:r>
            <a:r>
              <a:rPr lang="ar-SA" sz="1400">
                <a:solidFill>
                  <a:schemeClr val="tx1"/>
                </a:solidFill>
                <a:latin typeface="Arial" panose="020B0604020202020204" pitchFamily="34" charset="0"/>
                <a:cs typeface="+mn-cs"/>
              </a:rPr>
              <a:t>أزرار</a:t>
            </a:r>
            <a:endParaRPr lang="en-US" sz="1400">
              <a:solidFill>
                <a:schemeClr val="tx1"/>
              </a:solidFill>
              <a:latin typeface="Arial" panose="020B0604020202020204" pitchFamily="34" charset="0"/>
              <a:cs typeface="Arial" panose="020B0604020202020204" pitchFamily="34" charset="0"/>
            </a:endParaRPr>
          </a:p>
          <a:p>
            <a:pPr algn="r" rtl="1"/>
            <a:r>
              <a:rPr lang="en-US" sz="1400">
                <a:solidFill>
                  <a:schemeClr val="tx1"/>
                </a:solidFill>
                <a:latin typeface="Arial" panose="020B0604020202020204" pitchFamily="34" charset="0"/>
                <a:cs typeface="Arial" panose="020B0604020202020204" pitchFamily="34" charset="0"/>
              </a:rPr>
              <a:t>     </a:t>
            </a:r>
          </a:p>
          <a:p>
            <a:pPr algn="r" rtl="1"/>
            <a:endParaRPr lang="en-US" sz="1400">
              <a:solidFill>
                <a:schemeClr val="tx1"/>
              </a:solidFill>
              <a:latin typeface="Arial" panose="020B0604020202020204" pitchFamily="34" charset="0"/>
              <a:cs typeface="Arial" panose="020B0604020202020204" pitchFamily="34" charset="0"/>
            </a:endParaRPr>
          </a:p>
          <a:p>
            <a:pPr algn="r" rtl="1"/>
            <a:r>
              <a:rPr lang="en-US" sz="1400">
                <a:solidFill>
                  <a:schemeClr val="tx1"/>
                </a:solidFill>
                <a:latin typeface="Arial" panose="020B0604020202020204" pitchFamily="34" charset="0"/>
                <a:cs typeface="Arial" panose="020B0604020202020204" pitchFamily="34" charset="0"/>
              </a:rPr>
              <a:t>     </a:t>
            </a:r>
          </a:p>
        </p:txBody>
      </p:sp>
      <p:sp>
        <p:nvSpPr>
          <p:cNvPr id="24" name="Rounded Rectangle 23">
            <a:extLst>
              <a:ext uri="{FF2B5EF4-FFF2-40B4-BE49-F238E27FC236}">
                <a16:creationId xmlns:a16="http://schemas.microsoft.com/office/drawing/2014/main" id="{17A04B29-1595-3A7A-1972-0DB36E29E485}"/>
              </a:ext>
            </a:extLst>
          </p:cNvPr>
          <p:cNvSpPr/>
          <p:nvPr userDrawn="1"/>
        </p:nvSpPr>
        <p:spPr>
          <a:xfrm>
            <a:off x="4640064" y="7378773"/>
            <a:ext cx="2017479" cy="562355"/>
          </a:xfrm>
          <a:prstGeom prst="roundRect">
            <a:avLst>
              <a:gd name="adj" fmla="val 6471"/>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dirty="0"/>
              <a:t>التحكم</a:t>
            </a:r>
            <a:endParaRPr lang="fr-FR" sz="1400" b="1" dirty="0"/>
          </a:p>
          <a:p>
            <a:pPr algn="ctr" rtl="1"/>
            <a:endParaRPr lang="en-US" sz="800" b="1" dirty="0">
              <a:solidFill>
                <a:schemeClr val="bg1"/>
              </a:solidFill>
              <a:latin typeface="Arial" panose="020B0604020202020204" pitchFamily="34" charset="0"/>
              <a:cs typeface="Arial" panose="020B0604020202020204" pitchFamily="34" charset="0"/>
            </a:endParaRPr>
          </a:p>
        </p:txBody>
      </p:sp>
      <p:sp>
        <p:nvSpPr>
          <p:cNvPr id="25" name="Rounded Rectangle 24">
            <a:extLst>
              <a:ext uri="{FF2B5EF4-FFF2-40B4-BE49-F238E27FC236}">
                <a16:creationId xmlns:a16="http://schemas.microsoft.com/office/drawing/2014/main" id="{6C57B49A-232E-B460-89EE-00D066E11083}"/>
              </a:ext>
            </a:extLst>
          </p:cNvPr>
          <p:cNvSpPr/>
          <p:nvPr userDrawn="1"/>
        </p:nvSpPr>
        <p:spPr>
          <a:xfrm>
            <a:off x="200454" y="5004330"/>
            <a:ext cx="6457091" cy="2187617"/>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a:solidFill>
                <a:schemeClr val="tx1"/>
              </a:solidFill>
              <a:latin typeface="Arial" panose="020B0604020202020204" pitchFamily="34" charset="0"/>
              <a:cs typeface="Arial" panose="020B0604020202020204" pitchFamily="34" charset="0"/>
            </a:endParaRPr>
          </a:p>
        </p:txBody>
      </p:sp>
      <p:sp>
        <p:nvSpPr>
          <p:cNvPr id="26" name="Rounded Rectangle 25">
            <a:extLst>
              <a:ext uri="{FF2B5EF4-FFF2-40B4-BE49-F238E27FC236}">
                <a16:creationId xmlns:a16="http://schemas.microsoft.com/office/drawing/2014/main" id="{BA2DC22F-EC8D-1B75-0FD1-4D4589AB0435}"/>
              </a:ext>
            </a:extLst>
          </p:cNvPr>
          <p:cNvSpPr/>
          <p:nvPr userDrawn="1"/>
        </p:nvSpPr>
        <p:spPr>
          <a:xfrm>
            <a:off x="200454" y="4996423"/>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dirty="0"/>
              <a:t>الشخصيات</a:t>
            </a:r>
            <a:endParaRPr lang="fr-FR" sz="1400" b="1" dirty="0"/>
          </a:p>
          <a:p>
            <a:pPr algn="ctr" rtl="1"/>
            <a:endParaRPr lang="en-US" sz="800" b="1" dirty="0">
              <a:solidFill>
                <a:schemeClr val="bg1"/>
              </a:solidFill>
              <a:latin typeface="Arial" panose="020B0604020202020204" pitchFamily="34" charset="0"/>
              <a:cs typeface="Arial" panose="020B0604020202020204" pitchFamily="34" charset="0"/>
            </a:endParaRPr>
          </a:p>
        </p:txBody>
      </p:sp>
      <p:cxnSp>
        <p:nvCxnSpPr>
          <p:cNvPr id="27" name="Straight Connector 26">
            <a:extLst>
              <a:ext uri="{FF2B5EF4-FFF2-40B4-BE49-F238E27FC236}">
                <a16:creationId xmlns:a16="http://schemas.microsoft.com/office/drawing/2014/main" id="{8AEB0A8D-1B65-BE8B-4703-63FCF7E1BC29}"/>
              </a:ext>
            </a:extLst>
          </p:cNvPr>
          <p:cNvCxnSpPr/>
          <p:nvPr userDrawn="1"/>
        </p:nvCxnSpPr>
        <p:spPr>
          <a:xfrm>
            <a:off x="2270589" y="8192142"/>
            <a:ext cx="0" cy="1263470"/>
          </a:xfrm>
          <a:prstGeom prst="line">
            <a:avLst/>
          </a:prstGeom>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9A4E5A91-8EED-735D-4222-E0A44D37AA88}"/>
              </a:ext>
            </a:extLst>
          </p:cNvPr>
          <p:cNvSpPr/>
          <p:nvPr userDrawn="1"/>
        </p:nvSpPr>
        <p:spPr>
          <a:xfrm>
            <a:off x="1701985" y="8209587"/>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29" name="Rectangle 28">
            <a:extLst>
              <a:ext uri="{FF2B5EF4-FFF2-40B4-BE49-F238E27FC236}">
                <a16:creationId xmlns:a16="http://schemas.microsoft.com/office/drawing/2014/main" id="{EF5FE5D4-7FCD-5613-C670-67DE790F217E}"/>
              </a:ext>
            </a:extLst>
          </p:cNvPr>
          <p:cNvSpPr/>
          <p:nvPr userDrawn="1"/>
        </p:nvSpPr>
        <p:spPr>
          <a:xfrm>
            <a:off x="1701985" y="8426545"/>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30" name="Rectangle 29">
            <a:extLst>
              <a:ext uri="{FF2B5EF4-FFF2-40B4-BE49-F238E27FC236}">
                <a16:creationId xmlns:a16="http://schemas.microsoft.com/office/drawing/2014/main" id="{572E66A2-EA49-AAE1-ABA2-E0A67D4FD632}"/>
              </a:ext>
            </a:extLst>
          </p:cNvPr>
          <p:cNvSpPr/>
          <p:nvPr userDrawn="1"/>
        </p:nvSpPr>
        <p:spPr>
          <a:xfrm>
            <a:off x="1701985" y="8643503"/>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31" name="TextBox 30">
            <a:extLst>
              <a:ext uri="{FF2B5EF4-FFF2-40B4-BE49-F238E27FC236}">
                <a16:creationId xmlns:a16="http://schemas.microsoft.com/office/drawing/2014/main" id="{D0068BD6-A28B-0BBA-50E6-D0E55E7442A8}"/>
              </a:ext>
            </a:extLst>
          </p:cNvPr>
          <p:cNvSpPr txBox="1"/>
          <p:nvPr userDrawn="1"/>
        </p:nvSpPr>
        <p:spPr>
          <a:xfrm>
            <a:off x="200451" y="5340911"/>
            <a:ext cx="6457090" cy="215444"/>
          </a:xfrm>
          <a:prstGeom prst="rect">
            <a:avLst/>
          </a:prstGeom>
          <a:noFill/>
        </p:spPr>
        <p:txBody>
          <a:bodyPr wrap="square">
            <a:spAutoFit/>
          </a:bodyPr>
          <a:lstStyle/>
          <a:p>
            <a:pPr algn="ctr" rtl="1"/>
            <a:r>
              <a:rPr lang="ar-SA" sz="800" dirty="0">
                <a:solidFill>
                  <a:schemeClr val="bg1"/>
                </a:solidFill>
              </a:rPr>
              <a:t>من هم الشخصيات؟ ما قدراتهم الرئيسية؟ كيف تتطور؟ </a:t>
            </a:r>
            <a:r>
              <a:rPr lang="ar-SA" sz="800" b="1" dirty="0">
                <a:solidFill>
                  <a:schemeClr val="bg1"/>
                </a:solidFill>
              </a:rPr>
              <a:t>الحد الأقصى: 100 كلمة.</a:t>
            </a:r>
            <a:endParaRPr lang="en-US" sz="800" dirty="0">
              <a:solidFill>
                <a:schemeClr val="bg1"/>
              </a:solidFill>
            </a:endParaRPr>
          </a:p>
        </p:txBody>
      </p:sp>
      <p:sp>
        <p:nvSpPr>
          <p:cNvPr id="32" name="TextBox 31">
            <a:extLst>
              <a:ext uri="{FF2B5EF4-FFF2-40B4-BE49-F238E27FC236}">
                <a16:creationId xmlns:a16="http://schemas.microsoft.com/office/drawing/2014/main" id="{097F5CFA-AFD3-BFBB-C63B-D33D30E44FB5}"/>
              </a:ext>
            </a:extLst>
          </p:cNvPr>
          <p:cNvSpPr txBox="1"/>
          <p:nvPr userDrawn="1"/>
        </p:nvSpPr>
        <p:spPr>
          <a:xfrm>
            <a:off x="200451" y="7721356"/>
            <a:ext cx="4237287" cy="215444"/>
          </a:xfrm>
          <a:prstGeom prst="rect">
            <a:avLst/>
          </a:prstGeom>
          <a:noFill/>
        </p:spPr>
        <p:txBody>
          <a:bodyPr wrap="square">
            <a:spAutoFit/>
          </a:bodyPr>
          <a:lstStyle/>
          <a:p>
            <a:pPr algn="ctr" rtl="1"/>
            <a:r>
              <a:rPr lang="ar-SA" sz="800" dirty="0">
                <a:solidFill>
                  <a:schemeClr val="bg1"/>
                </a:solidFill>
              </a:rPr>
              <a:t>كيف يرى اللاعب عالم اللعبة؟</a:t>
            </a:r>
            <a:endParaRPr lang="en-US" sz="800" dirty="0">
              <a:solidFill>
                <a:schemeClr val="bg1"/>
              </a:solidFill>
            </a:endParaRPr>
          </a:p>
        </p:txBody>
      </p:sp>
      <p:sp>
        <p:nvSpPr>
          <p:cNvPr id="33" name="TextBox 32">
            <a:extLst>
              <a:ext uri="{FF2B5EF4-FFF2-40B4-BE49-F238E27FC236}">
                <a16:creationId xmlns:a16="http://schemas.microsoft.com/office/drawing/2014/main" id="{72EBB52C-41D3-62F2-F8AD-9FE0F012689C}"/>
              </a:ext>
            </a:extLst>
          </p:cNvPr>
          <p:cNvSpPr txBox="1"/>
          <p:nvPr userDrawn="1"/>
        </p:nvSpPr>
        <p:spPr>
          <a:xfrm>
            <a:off x="4640062" y="7727848"/>
            <a:ext cx="2017480" cy="215444"/>
          </a:xfrm>
          <a:prstGeom prst="rect">
            <a:avLst/>
          </a:prstGeom>
          <a:noFill/>
        </p:spPr>
        <p:txBody>
          <a:bodyPr wrap="square">
            <a:spAutoFit/>
          </a:bodyPr>
          <a:lstStyle/>
          <a:p>
            <a:pPr algn="ctr" rtl="1"/>
            <a:r>
              <a:rPr lang="ar-SA" sz="800" dirty="0">
                <a:solidFill>
                  <a:schemeClr val="bg1"/>
                </a:solidFill>
              </a:rPr>
              <a:t>كيفية التحرك أو التفاعل؟</a:t>
            </a:r>
            <a:endParaRPr lang="en-US" sz="800" dirty="0">
              <a:solidFill>
                <a:schemeClr val="bg1"/>
              </a:solidFill>
            </a:endParaRPr>
          </a:p>
        </p:txBody>
      </p:sp>
      <p:sp>
        <p:nvSpPr>
          <p:cNvPr id="34" name="Rectangle 33">
            <a:extLst>
              <a:ext uri="{FF2B5EF4-FFF2-40B4-BE49-F238E27FC236}">
                <a16:creationId xmlns:a16="http://schemas.microsoft.com/office/drawing/2014/main" id="{B941893D-8CE8-5A8E-44AD-28D656BBF3D3}"/>
              </a:ext>
            </a:extLst>
          </p:cNvPr>
          <p:cNvSpPr/>
          <p:nvPr userDrawn="1"/>
        </p:nvSpPr>
        <p:spPr>
          <a:xfrm>
            <a:off x="6436446" y="8137060"/>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35" name="Rectangle 34">
            <a:extLst>
              <a:ext uri="{FF2B5EF4-FFF2-40B4-BE49-F238E27FC236}">
                <a16:creationId xmlns:a16="http://schemas.microsoft.com/office/drawing/2014/main" id="{8E65B6E8-E490-B20B-39BF-DC0CC8D8DD71}"/>
              </a:ext>
            </a:extLst>
          </p:cNvPr>
          <p:cNvSpPr/>
          <p:nvPr userDrawn="1"/>
        </p:nvSpPr>
        <p:spPr>
          <a:xfrm>
            <a:off x="6436446" y="8354018"/>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36" name="Rectangle 35">
            <a:extLst>
              <a:ext uri="{FF2B5EF4-FFF2-40B4-BE49-F238E27FC236}">
                <a16:creationId xmlns:a16="http://schemas.microsoft.com/office/drawing/2014/main" id="{3DD197FB-B89A-8246-F4FB-9677D89CA5F5}"/>
              </a:ext>
            </a:extLst>
          </p:cNvPr>
          <p:cNvSpPr/>
          <p:nvPr userDrawn="1"/>
        </p:nvSpPr>
        <p:spPr>
          <a:xfrm>
            <a:off x="6436446" y="8570976"/>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Tree>
    <p:extLst>
      <p:ext uri="{BB962C8B-B14F-4D97-AF65-F5344CB8AC3E}">
        <p14:creationId xmlns:p14="http://schemas.microsoft.com/office/powerpoint/2010/main" val="4258011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7B9FB6D-D924-42A5-187B-99EADBACE697}"/>
              </a:ext>
            </a:extLst>
          </p:cNvPr>
          <p:cNvPicPr>
            <a:picLocks noChangeAspect="1"/>
          </p:cNvPicPr>
          <p:nvPr userDrawn="1"/>
        </p:nvPicPr>
        <p:blipFill>
          <a:blip r:embed="rId2"/>
          <a:stretch>
            <a:fillRect/>
          </a:stretch>
        </p:blipFill>
        <p:spPr>
          <a:xfrm>
            <a:off x="-53079" y="-53118"/>
            <a:ext cx="6911080" cy="9959118"/>
          </a:xfrm>
          <a:prstGeom prst="rect">
            <a:avLst/>
          </a:prstGeom>
        </p:spPr>
      </p:pic>
      <p:sp>
        <p:nvSpPr>
          <p:cNvPr id="7" name="Rounded Rectangle 6">
            <a:extLst>
              <a:ext uri="{FF2B5EF4-FFF2-40B4-BE49-F238E27FC236}">
                <a16:creationId xmlns:a16="http://schemas.microsoft.com/office/drawing/2014/main" id="{84FF4966-EFB5-50A2-99BB-6FAB1B2295A7}"/>
              </a:ext>
            </a:extLst>
          </p:cNvPr>
          <p:cNvSpPr/>
          <p:nvPr userDrawn="1"/>
        </p:nvSpPr>
        <p:spPr>
          <a:xfrm>
            <a:off x="151973" y="2626239"/>
            <a:ext cx="6505565" cy="6411239"/>
          </a:xfrm>
          <a:prstGeom prst="roundRect">
            <a:avLst>
              <a:gd name="adj" fmla="val 983"/>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a:solidFill>
                <a:schemeClr val="tx1"/>
              </a:solidFill>
              <a:latin typeface="Arial" panose="020B0604020202020204" pitchFamily="34" charset="0"/>
              <a:cs typeface="Arial" panose="020B0604020202020204" pitchFamily="34" charset="0"/>
            </a:endParaRPr>
          </a:p>
        </p:txBody>
      </p:sp>
      <p:sp>
        <p:nvSpPr>
          <p:cNvPr id="8" name="Rounded Rectangle 7">
            <a:extLst>
              <a:ext uri="{FF2B5EF4-FFF2-40B4-BE49-F238E27FC236}">
                <a16:creationId xmlns:a16="http://schemas.microsoft.com/office/drawing/2014/main" id="{D8D78153-F95E-A01E-D066-608DAC159832}"/>
              </a:ext>
            </a:extLst>
          </p:cNvPr>
          <p:cNvSpPr/>
          <p:nvPr userDrawn="1"/>
        </p:nvSpPr>
        <p:spPr>
          <a:xfrm>
            <a:off x="2266403" y="193537"/>
            <a:ext cx="4391137" cy="2265293"/>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a:solidFill>
                <a:schemeClr val="tx1"/>
              </a:solidFill>
              <a:latin typeface="Arial" panose="020B0604020202020204" pitchFamily="34" charset="0"/>
              <a:cs typeface="Arial" panose="020B0604020202020204" pitchFamily="34" charset="0"/>
            </a:endParaRPr>
          </a:p>
        </p:txBody>
      </p:sp>
      <p:sp>
        <p:nvSpPr>
          <p:cNvPr id="9" name="Rounded Rectangle 8">
            <a:extLst>
              <a:ext uri="{FF2B5EF4-FFF2-40B4-BE49-F238E27FC236}">
                <a16:creationId xmlns:a16="http://schemas.microsoft.com/office/drawing/2014/main" id="{B48F8658-0994-D0BC-E99D-E130AAC4BAE3}"/>
              </a:ext>
            </a:extLst>
          </p:cNvPr>
          <p:cNvSpPr/>
          <p:nvPr userDrawn="1"/>
        </p:nvSpPr>
        <p:spPr>
          <a:xfrm>
            <a:off x="2266409" y="158423"/>
            <a:ext cx="4391137" cy="597470"/>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a:t>الفن الذي يدعم التعلّم</a:t>
            </a:r>
            <a:endParaRPr lang="en-US" sz="800" b="1">
              <a:solidFill>
                <a:schemeClr val="bg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EF6BDA0B-0F63-C96C-88E7-6867464A09FE}"/>
              </a:ext>
            </a:extLst>
          </p:cNvPr>
          <p:cNvSpPr txBox="1"/>
          <p:nvPr userDrawn="1"/>
        </p:nvSpPr>
        <p:spPr>
          <a:xfrm>
            <a:off x="2266402" y="554973"/>
            <a:ext cx="4391138" cy="215444"/>
          </a:xfrm>
          <a:prstGeom prst="rect">
            <a:avLst/>
          </a:prstGeom>
          <a:noFill/>
        </p:spPr>
        <p:txBody>
          <a:bodyPr wrap="square">
            <a:spAutoFit/>
          </a:bodyPr>
          <a:lstStyle/>
          <a:p>
            <a:pPr algn="ctr" rtl="1"/>
            <a:r>
              <a:rPr lang="ar-SA" sz="800">
                <a:solidFill>
                  <a:schemeClr val="bg1"/>
                </a:solidFill>
              </a:rPr>
              <a:t>كيف يدعم الفن أهداف التعلم في لعبتك؟ </a:t>
            </a:r>
            <a:r>
              <a:rPr lang="ar-SA" sz="800" b="1">
                <a:solidFill>
                  <a:schemeClr val="bg1"/>
                </a:solidFill>
              </a:rPr>
              <a:t>الحد الأقصى: 100 كلمة.</a:t>
            </a:r>
            <a:endParaRPr lang="en-US" sz="800">
              <a:solidFill>
                <a:schemeClr val="bg1"/>
              </a:solidFill>
            </a:endParaRPr>
          </a:p>
        </p:txBody>
      </p:sp>
      <p:sp>
        <p:nvSpPr>
          <p:cNvPr id="11" name="Rounded Rectangle 10">
            <a:extLst>
              <a:ext uri="{FF2B5EF4-FFF2-40B4-BE49-F238E27FC236}">
                <a16:creationId xmlns:a16="http://schemas.microsoft.com/office/drawing/2014/main" id="{D4B17111-50FD-A8F9-0905-4EE1E6F0949C}"/>
              </a:ext>
            </a:extLst>
          </p:cNvPr>
          <p:cNvSpPr/>
          <p:nvPr userDrawn="1"/>
        </p:nvSpPr>
        <p:spPr>
          <a:xfrm>
            <a:off x="151979" y="2626239"/>
            <a:ext cx="6505565" cy="609489"/>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1400" b="1"/>
              <a:t>لوحة الإلهام البصرية</a:t>
            </a:r>
            <a:endParaRPr lang="en-US" sz="800" b="1">
              <a:solidFill>
                <a:schemeClr val="bg1"/>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D555B3C-174E-DF22-3BC6-51D0E0D1A3F0}"/>
              </a:ext>
            </a:extLst>
          </p:cNvPr>
          <p:cNvSpPr txBox="1"/>
          <p:nvPr userDrawn="1"/>
        </p:nvSpPr>
        <p:spPr>
          <a:xfrm>
            <a:off x="151975" y="2970727"/>
            <a:ext cx="6505565" cy="215444"/>
          </a:xfrm>
          <a:prstGeom prst="rect">
            <a:avLst/>
          </a:prstGeom>
          <a:noFill/>
        </p:spPr>
        <p:txBody>
          <a:bodyPr wrap="square">
            <a:spAutoFit/>
          </a:bodyPr>
          <a:lstStyle/>
          <a:p>
            <a:pPr algn="ctr"/>
            <a:r>
              <a:rPr lang="ar-SA" sz="800">
                <a:solidFill>
                  <a:schemeClr val="bg1"/>
                </a:solidFill>
              </a:rPr>
              <a:t>ألعاب، أفلام، قصص مصورة، فن مولّد بالذكاء الاصطناعي، رسومات أو مصادر من الواقع تلهم الاتجاه الفني. </a:t>
            </a:r>
            <a:r>
              <a:rPr lang="ar-SA" sz="800" b="1">
                <a:solidFill>
                  <a:schemeClr val="bg1"/>
                </a:solidFill>
              </a:rPr>
              <a:t>الحد الأدنى: 4 صور، الحد الأقصى: 7 صور.</a:t>
            </a:r>
            <a:endParaRPr lang="en-CA" sz="800">
              <a:solidFill>
                <a:schemeClr val="bg1"/>
              </a:solidFill>
              <a:latin typeface="Arial" panose="020B0604020202020204" pitchFamily="34" charset="0"/>
              <a:cs typeface="Arial" panose="020B0604020202020204" pitchFamily="34" charset="0"/>
            </a:endParaRPr>
          </a:p>
        </p:txBody>
      </p:sp>
      <p:sp>
        <p:nvSpPr>
          <p:cNvPr id="15" name="Rounded Rectangle 14">
            <a:extLst>
              <a:ext uri="{FF2B5EF4-FFF2-40B4-BE49-F238E27FC236}">
                <a16:creationId xmlns:a16="http://schemas.microsoft.com/office/drawing/2014/main" id="{50E33ADC-1068-75FC-793B-3E24F94F6D99}"/>
              </a:ext>
            </a:extLst>
          </p:cNvPr>
          <p:cNvSpPr/>
          <p:nvPr userDrawn="1"/>
        </p:nvSpPr>
        <p:spPr>
          <a:xfrm>
            <a:off x="151980" y="159984"/>
            <a:ext cx="2017479" cy="2298846"/>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pPr algn="r" rtl="1">
              <a:lnSpc>
                <a:spcPts val="1600"/>
              </a:lnSpc>
              <a:spcBef>
                <a:spcPts val="300"/>
              </a:spcBef>
            </a:pPr>
            <a:endParaRPr lang="en-US" sz="1200">
              <a:solidFill>
                <a:schemeClr val="tx1"/>
              </a:solidFill>
              <a:latin typeface="Arial" panose="020B0604020202020204" pitchFamily="34" charset="0"/>
              <a:cs typeface="Arial" panose="020B0604020202020204" pitchFamily="34" charset="0"/>
            </a:endParaRPr>
          </a:p>
          <a:p>
            <a:pPr algn="r" rtl="1">
              <a:lnSpc>
                <a:spcPts val="1600"/>
              </a:lnSpc>
              <a:spcBef>
                <a:spcPts val="300"/>
              </a:spcBef>
            </a:pPr>
            <a:endParaRPr lang="en-US" sz="1200">
              <a:solidFill>
                <a:schemeClr val="tx1"/>
              </a:solidFill>
              <a:latin typeface="Arial" panose="020B0604020202020204" pitchFamily="34" charset="0"/>
              <a:cs typeface="Arial" panose="020B0604020202020204" pitchFamily="34" charset="0"/>
            </a:endParaRPr>
          </a:p>
          <a:p>
            <a:pPr algn="r" rtl="1">
              <a:lnSpc>
                <a:spcPts val="1600"/>
              </a:lnSpc>
              <a:spcBef>
                <a:spcPts val="300"/>
              </a:spcBef>
            </a:pPr>
            <a:r>
              <a:rPr lang="ar-SA" sz="1200">
                <a:solidFill>
                  <a:schemeClr val="tx1"/>
                </a:solidFill>
                <a:latin typeface="Arial" panose="020B0604020202020204" pitchFamily="34" charset="0"/>
                <a:cs typeface="Arial" panose="020B0604020202020204" pitchFamily="34" charset="0"/>
              </a:rPr>
              <a:t>    فن البكسل (</a:t>
            </a:r>
            <a:r>
              <a:rPr lang="en-US" sz="1200">
                <a:solidFill>
                  <a:schemeClr val="tx1"/>
                </a:solidFill>
                <a:latin typeface="Arial" panose="020B0604020202020204" pitchFamily="34" charset="0"/>
                <a:cs typeface="Arial" panose="020B0604020202020204" pitchFamily="34" charset="0"/>
              </a:rPr>
              <a:t>Pixel art</a:t>
            </a:r>
            <a:r>
              <a:rPr lang="ar-SA" sz="1200">
                <a:solidFill>
                  <a:schemeClr val="tx1"/>
                </a:solidFill>
                <a:latin typeface="Arial" panose="020B0604020202020204" pitchFamily="34" charset="0"/>
                <a:cs typeface="Arial" panose="020B0604020202020204" pitchFamily="34" charset="0"/>
              </a:rPr>
              <a:t>)</a:t>
            </a:r>
            <a:endParaRPr lang="en-US" sz="1200">
              <a:solidFill>
                <a:schemeClr val="tx1"/>
              </a:solidFill>
              <a:latin typeface="Arial" panose="020B0604020202020204" pitchFamily="34" charset="0"/>
              <a:cs typeface="Arial" panose="020B0604020202020204" pitchFamily="34" charset="0"/>
            </a:endParaRPr>
          </a:p>
          <a:p>
            <a:pPr algn="r" rtl="1">
              <a:lnSpc>
                <a:spcPts val="1600"/>
              </a:lnSpc>
              <a:spcBef>
                <a:spcPts val="300"/>
              </a:spcBef>
            </a:pPr>
            <a:r>
              <a:rPr lang="ar-SA" sz="1200">
                <a:solidFill>
                  <a:schemeClr val="tx1"/>
                </a:solidFill>
                <a:latin typeface="Arial" panose="020B0604020202020204" pitchFamily="34" charset="0"/>
                <a:cs typeface="Arial" panose="020B0604020202020204" pitchFamily="34" charset="0"/>
              </a:rPr>
              <a:t>    كرتوني (</a:t>
            </a:r>
            <a:r>
              <a:rPr lang="en-US" sz="1200">
                <a:solidFill>
                  <a:schemeClr val="tx1"/>
                </a:solidFill>
                <a:latin typeface="Arial" panose="020B0604020202020204" pitchFamily="34" charset="0"/>
                <a:cs typeface="Arial" panose="020B0604020202020204" pitchFamily="34" charset="0"/>
              </a:rPr>
              <a:t>Cartoon</a:t>
            </a:r>
            <a:r>
              <a:rPr lang="ar-SA" sz="1200">
                <a:solidFill>
                  <a:schemeClr val="tx1"/>
                </a:solidFill>
                <a:latin typeface="Arial" panose="020B0604020202020204" pitchFamily="34" charset="0"/>
                <a:cs typeface="Arial" panose="020B0604020202020204" pitchFamily="34" charset="0"/>
              </a:rPr>
              <a:t>)</a:t>
            </a:r>
            <a:endParaRPr lang="en-US" sz="1200">
              <a:solidFill>
                <a:schemeClr val="tx1"/>
              </a:solidFill>
              <a:latin typeface="Arial" panose="020B0604020202020204" pitchFamily="34" charset="0"/>
              <a:cs typeface="Arial" panose="020B0604020202020204" pitchFamily="34" charset="0"/>
            </a:endParaRPr>
          </a:p>
          <a:p>
            <a:pPr algn="r" rtl="1">
              <a:lnSpc>
                <a:spcPts val="1600"/>
              </a:lnSpc>
              <a:spcBef>
                <a:spcPts val="300"/>
              </a:spcBef>
            </a:pPr>
            <a:r>
              <a:rPr lang="en-US" sz="1200">
                <a:solidFill>
                  <a:schemeClr val="tx1"/>
                </a:solidFill>
                <a:latin typeface="Arial" panose="020B0604020202020204" pitchFamily="34" charset="0"/>
                <a:cs typeface="Arial" panose="020B0604020202020204" pitchFamily="34" charset="0"/>
              </a:rPr>
              <a:t>  </a:t>
            </a:r>
            <a:r>
              <a:rPr lang="ar-SA" sz="1200">
                <a:solidFill>
                  <a:schemeClr val="tx1"/>
                </a:solidFill>
                <a:latin typeface="Arial" panose="020B0604020202020204" pitchFamily="34" charset="0"/>
                <a:cs typeface="Arial" panose="020B0604020202020204" pitchFamily="34" charset="0"/>
              </a:rPr>
              <a:t>  واقعي (</a:t>
            </a:r>
            <a:r>
              <a:rPr lang="en-US" sz="1200">
                <a:solidFill>
                  <a:schemeClr val="tx1"/>
                </a:solidFill>
                <a:latin typeface="Arial" panose="020B0604020202020204" pitchFamily="34" charset="0"/>
                <a:cs typeface="Arial" panose="020B0604020202020204" pitchFamily="34" charset="0"/>
              </a:rPr>
              <a:t>Realistic</a:t>
            </a:r>
            <a:r>
              <a:rPr lang="ar-SA" sz="1200">
                <a:solidFill>
                  <a:schemeClr val="tx1"/>
                </a:solidFill>
                <a:latin typeface="Arial" panose="020B0604020202020204" pitchFamily="34" charset="0"/>
                <a:cs typeface="Arial" panose="020B0604020202020204" pitchFamily="34" charset="0"/>
              </a:rPr>
              <a:t>)</a:t>
            </a:r>
            <a:endParaRPr lang="en-US" sz="1200">
              <a:solidFill>
                <a:schemeClr val="tx1"/>
              </a:solidFill>
              <a:latin typeface="Arial" panose="020B0604020202020204" pitchFamily="34" charset="0"/>
              <a:cs typeface="Arial" panose="020B0604020202020204" pitchFamily="34" charset="0"/>
            </a:endParaRPr>
          </a:p>
          <a:p>
            <a:pPr algn="r" rtl="1">
              <a:lnSpc>
                <a:spcPts val="1600"/>
              </a:lnSpc>
              <a:spcBef>
                <a:spcPts val="300"/>
              </a:spcBef>
            </a:pPr>
            <a:r>
              <a:rPr lang="en-US" sz="1200">
                <a:solidFill>
                  <a:schemeClr val="tx1"/>
                </a:solidFill>
                <a:latin typeface="Arial" panose="020B0604020202020204" pitchFamily="34" charset="0"/>
                <a:cs typeface="Arial" panose="020B0604020202020204" pitchFamily="34" charset="0"/>
              </a:rPr>
              <a:t>  </a:t>
            </a:r>
            <a:r>
              <a:rPr lang="ar-SA" sz="1200">
                <a:solidFill>
                  <a:schemeClr val="tx1"/>
                </a:solidFill>
                <a:latin typeface="Arial" panose="020B0604020202020204" pitchFamily="34" charset="0"/>
                <a:cs typeface="Arial" panose="020B0604020202020204" pitchFamily="34" charset="0"/>
              </a:rPr>
              <a:t>  مصمم بأسلوب فني (</a:t>
            </a:r>
            <a:r>
              <a:rPr lang="en-US" sz="1200">
                <a:solidFill>
                  <a:schemeClr val="tx1"/>
                </a:solidFill>
                <a:latin typeface="Arial" panose="020B0604020202020204" pitchFamily="34" charset="0"/>
                <a:cs typeface="Arial" panose="020B0604020202020204" pitchFamily="34" charset="0"/>
              </a:rPr>
              <a:t>Stylized</a:t>
            </a:r>
            <a:r>
              <a:rPr lang="ar-SA" sz="1200">
                <a:solidFill>
                  <a:schemeClr val="tx1"/>
                </a:solidFill>
                <a:latin typeface="Arial" panose="020B0604020202020204" pitchFamily="34" charset="0"/>
                <a:cs typeface="Arial" panose="020B0604020202020204" pitchFamily="34" charset="0"/>
              </a:rPr>
              <a:t>)</a:t>
            </a:r>
            <a:endParaRPr lang="en-US" sz="1200">
              <a:solidFill>
                <a:schemeClr val="tx1"/>
              </a:solidFill>
              <a:latin typeface="Arial" panose="020B0604020202020204" pitchFamily="34" charset="0"/>
              <a:cs typeface="Arial" panose="020B0604020202020204" pitchFamily="34" charset="0"/>
            </a:endParaRPr>
          </a:p>
          <a:p>
            <a:pPr algn="r" rtl="1">
              <a:lnSpc>
                <a:spcPts val="1600"/>
              </a:lnSpc>
              <a:spcBef>
                <a:spcPts val="300"/>
              </a:spcBef>
            </a:pPr>
            <a:r>
              <a:rPr lang="ar-SA" sz="1200">
                <a:solidFill>
                  <a:schemeClr val="tx1"/>
                </a:solidFill>
                <a:latin typeface="Arial" panose="020B0604020202020204" pitchFamily="34" charset="0"/>
                <a:cs typeface="Arial" panose="020B0604020202020204" pitchFamily="34" charset="0"/>
              </a:rPr>
              <a:t>    بسيط (</a:t>
            </a:r>
            <a:r>
              <a:rPr lang="en-US" sz="1200">
                <a:solidFill>
                  <a:schemeClr val="tx1"/>
                </a:solidFill>
                <a:latin typeface="Arial" panose="020B0604020202020204" pitchFamily="34" charset="0"/>
                <a:cs typeface="Arial" panose="020B0604020202020204" pitchFamily="34" charset="0"/>
              </a:rPr>
              <a:t>Minimalist</a:t>
            </a:r>
            <a:r>
              <a:rPr lang="ar-SA" sz="1200">
                <a:solidFill>
                  <a:schemeClr val="tx1"/>
                </a:solidFill>
                <a:latin typeface="Arial" panose="020B0604020202020204" pitchFamily="34" charset="0"/>
                <a:cs typeface="Arial" panose="020B0604020202020204" pitchFamily="34" charset="0"/>
              </a:rPr>
              <a:t>)</a:t>
            </a:r>
            <a:endParaRPr lang="en-US" sz="1200">
              <a:solidFill>
                <a:schemeClr val="tx1"/>
              </a:solidFill>
              <a:latin typeface="Arial" panose="020B0604020202020204" pitchFamily="34" charset="0"/>
              <a:cs typeface="Arial" panose="020B0604020202020204" pitchFamily="34" charset="0"/>
            </a:endParaRPr>
          </a:p>
          <a:p>
            <a:pPr algn="r" rtl="1">
              <a:lnSpc>
                <a:spcPts val="1600"/>
              </a:lnSpc>
              <a:spcBef>
                <a:spcPts val="300"/>
              </a:spcBef>
            </a:pPr>
            <a:r>
              <a:rPr lang="ar-SA" sz="1200">
                <a:solidFill>
                  <a:schemeClr val="tx1"/>
                </a:solidFill>
              </a:rPr>
              <a:t>    منخفض التفاصيل (</a:t>
            </a:r>
            <a:r>
              <a:rPr lang="en-US" sz="1200">
                <a:solidFill>
                  <a:schemeClr val="tx1"/>
                </a:solidFill>
              </a:rPr>
              <a:t>Low poly</a:t>
            </a:r>
            <a:r>
              <a:rPr lang="ar-SA" sz="1200">
                <a:solidFill>
                  <a:schemeClr val="tx1"/>
                </a:solidFill>
              </a:rPr>
              <a:t>)</a:t>
            </a:r>
            <a:endParaRPr lang="en-US" sz="1200">
              <a:solidFill>
                <a:schemeClr val="tx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DC5B6AE8-5CC7-1B37-2E05-5E08CD624A84}"/>
              </a:ext>
            </a:extLst>
          </p:cNvPr>
          <p:cNvSpPr/>
          <p:nvPr userDrawn="1"/>
        </p:nvSpPr>
        <p:spPr>
          <a:xfrm>
            <a:off x="1955174" y="848420"/>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7" name="Rectangle 16">
            <a:extLst>
              <a:ext uri="{FF2B5EF4-FFF2-40B4-BE49-F238E27FC236}">
                <a16:creationId xmlns:a16="http://schemas.microsoft.com/office/drawing/2014/main" id="{3644857E-807A-4A16-2DD8-20884B3A3FCC}"/>
              </a:ext>
            </a:extLst>
          </p:cNvPr>
          <p:cNvSpPr/>
          <p:nvPr userDrawn="1"/>
        </p:nvSpPr>
        <p:spPr>
          <a:xfrm>
            <a:off x="1955174" y="1098764"/>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8" name="Rectangle 17">
            <a:extLst>
              <a:ext uri="{FF2B5EF4-FFF2-40B4-BE49-F238E27FC236}">
                <a16:creationId xmlns:a16="http://schemas.microsoft.com/office/drawing/2014/main" id="{5995F59F-E6E6-7ED7-312F-094F04DD7037}"/>
              </a:ext>
            </a:extLst>
          </p:cNvPr>
          <p:cNvSpPr/>
          <p:nvPr userDrawn="1"/>
        </p:nvSpPr>
        <p:spPr>
          <a:xfrm>
            <a:off x="1955174" y="1349108"/>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19" name="Rectangle 18">
            <a:extLst>
              <a:ext uri="{FF2B5EF4-FFF2-40B4-BE49-F238E27FC236}">
                <a16:creationId xmlns:a16="http://schemas.microsoft.com/office/drawing/2014/main" id="{A18E1CF9-48E0-BBC8-1BC4-FA3D5A821082}"/>
              </a:ext>
            </a:extLst>
          </p:cNvPr>
          <p:cNvSpPr/>
          <p:nvPr userDrawn="1"/>
        </p:nvSpPr>
        <p:spPr>
          <a:xfrm>
            <a:off x="1955174" y="1599452"/>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20" name="Rectangle 19">
            <a:extLst>
              <a:ext uri="{FF2B5EF4-FFF2-40B4-BE49-F238E27FC236}">
                <a16:creationId xmlns:a16="http://schemas.microsoft.com/office/drawing/2014/main" id="{7C2A0D04-EEE3-3B48-8FC9-4636D85DD5C5}"/>
              </a:ext>
            </a:extLst>
          </p:cNvPr>
          <p:cNvSpPr/>
          <p:nvPr userDrawn="1"/>
        </p:nvSpPr>
        <p:spPr>
          <a:xfrm>
            <a:off x="1955174" y="1849796"/>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21" name="Rectangle 20">
            <a:extLst>
              <a:ext uri="{FF2B5EF4-FFF2-40B4-BE49-F238E27FC236}">
                <a16:creationId xmlns:a16="http://schemas.microsoft.com/office/drawing/2014/main" id="{F19FD650-E539-6D02-3394-FC89588B6E64}"/>
              </a:ext>
            </a:extLst>
          </p:cNvPr>
          <p:cNvSpPr/>
          <p:nvPr userDrawn="1"/>
        </p:nvSpPr>
        <p:spPr>
          <a:xfrm>
            <a:off x="1955174" y="2100140"/>
            <a:ext cx="142859" cy="1449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31" name="Rounded Rectangle 30">
            <a:extLst>
              <a:ext uri="{FF2B5EF4-FFF2-40B4-BE49-F238E27FC236}">
                <a16:creationId xmlns:a16="http://schemas.microsoft.com/office/drawing/2014/main" id="{13F9EAAA-0F52-77E7-8D89-34425FAC2245}"/>
              </a:ext>
            </a:extLst>
          </p:cNvPr>
          <p:cNvSpPr/>
          <p:nvPr userDrawn="1"/>
        </p:nvSpPr>
        <p:spPr>
          <a:xfrm>
            <a:off x="151979" y="159983"/>
            <a:ext cx="2017479" cy="583891"/>
          </a:xfrm>
          <a:prstGeom prst="roundRect">
            <a:avLst>
              <a:gd name="adj" fmla="val 5916"/>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a:t>الأسلوب الفني</a:t>
            </a:r>
            <a:endParaRPr lang="en-US" sz="1400" b="1">
              <a:solidFill>
                <a:schemeClr val="bg1"/>
              </a:solidFill>
              <a:latin typeface="Arial" panose="020B0604020202020204" pitchFamily="34" charset="0"/>
              <a:cs typeface="Arial" panose="020B0604020202020204" pitchFamily="34" charset="0"/>
            </a:endParaRPr>
          </a:p>
        </p:txBody>
      </p:sp>
      <p:sp>
        <p:nvSpPr>
          <p:cNvPr id="35" name="Rounded Rectangle 34">
            <a:extLst>
              <a:ext uri="{FF2B5EF4-FFF2-40B4-BE49-F238E27FC236}">
                <a16:creationId xmlns:a16="http://schemas.microsoft.com/office/drawing/2014/main" id="{8FD44385-81FC-E95D-F391-EAE7859F5D68}"/>
              </a:ext>
            </a:extLst>
          </p:cNvPr>
          <p:cNvSpPr/>
          <p:nvPr userDrawn="1"/>
        </p:nvSpPr>
        <p:spPr>
          <a:xfrm>
            <a:off x="156581" y="9204888"/>
            <a:ext cx="6500957" cy="562356"/>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dirty="0">
              <a:solidFill>
                <a:schemeClr val="tx1"/>
              </a:solidFill>
            </a:endParaRPr>
          </a:p>
        </p:txBody>
      </p:sp>
      <p:sp>
        <p:nvSpPr>
          <p:cNvPr id="36" name="Rounded Rectangle 35">
            <a:extLst>
              <a:ext uri="{FF2B5EF4-FFF2-40B4-BE49-F238E27FC236}">
                <a16:creationId xmlns:a16="http://schemas.microsoft.com/office/drawing/2014/main" id="{CB03887A-45CD-A639-79E6-9B7BA1EB34FD}"/>
              </a:ext>
            </a:extLst>
          </p:cNvPr>
          <p:cNvSpPr/>
          <p:nvPr userDrawn="1"/>
        </p:nvSpPr>
        <p:spPr>
          <a:xfrm>
            <a:off x="4445138" y="9204888"/>
            <a:ext cx="2212399"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AE" sz="1400" dirty="0">
                <a:cs typeface="+mn-cs"/>
              </a:rPr>
              <a:t>مصادر الصور</a:t>
            </a:r>
            <a:endParaRPr lang="fr-FR" sz="1400" dirty="0">
              <a:cs typeface="+mn-cs"/>
            </a:endParaRPr>
          </a:p>
          <a:p>
            <a:pPr algn="ctr"/>
            <a:endParaRPr lang="en-US" sz="800" b="1" dirty="0">
              <a:solidFill>
                <a:schemeClr val="bg1"/>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9C3E5DEE-2750-CF94-725D-75D9D74B28D7}"/>
              </a:ext>
            </a:extLst>
          </p:cNvPr>
          <p:cNvSpPr txBox="1"/>
          <p:nvPr userDrawn="1"/>
        </p:nvSpPr>
        <p:spPr>
          <a:xfrm>
            <a:off x="4445138" y="9551800"/>
            <a:ext cx="2212399" cy="215444"/>
          </a:xfrm>
          <a:prstGeom prst="rect">
            <a:avLst/>
          </a:prstGeom>
          <a:noFill/>
        </p:spPr>
        <p:txBody>
          <a:bodyPr wrap="square">
            <a:spAutoFit/>
          </a:bodyPr>
          <a:lstStyle/>
          <a:p>
            <a:pPr algn="ctr"/>
            <a:r>
              <a:rPr lang="ar-AE" sz="800" dirty="0">
                <a:solidFill>
                  <a:schemeClr val="bg1"/>
                </a:solidFill>
              </a:rPr>
              <a:t>رسوماتك الخاصة، الذكاء الاصطناعي، صور جوجل، إلخ</a:t>
            </a:r>
            <a:endParaRPr lang="en-US" sz="800" dirty="0">
              <a:solidFill>
                <a:schemeClr val="bg1"/>
              </a:solidFill>
            </a:endParaRPr>
          </a:p>
        </p:txBody>
      </p:sp>
    </p:spTree>
    <p:extLst>
      <p:ext uri="{BB962C8B-B14F-4D97-AF65-F5344CB8AC3E}">
        <p14:creationId xmlns:p14="http://schemas.microsoft.com/office/powerpoint/2010/main" val="654025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CECC1F28-4219-8A4C-FD64-DDB158EFADEE}"/>
              </a:ext>
            </a:extLst>
          </p:cNvPr>
          <p:cNvPicPr>
            <a:picLocks noChangeAspect="1"/>
          </p:cNvPicPr>
          <p:nvPr userDrawn="1"/>
        </p:nvPicPr>
        <p:blipFill>
          <a:blip r:embed="rId2"/>
          <a:stretch>
            <a:fillRect/>
          </a:stretch>
        </p:blipFill>
        <p:spPr>
          <a:xfrm>
            <a:off x="-53079" y="-53118"/>
            <a:ext cx="6911080" cy="9959118"/>
          </a:xfrm>
          <a:prstGeom prst="rect">
            <a:avLst/>
          </a:prstGeom>
        </p:spPr>
      </p:pic>
      <p:sp>
        <p:nvSpPr>
          <p:cNvPr id="6" name="Rounded Rectangle 5">
            <a:extLst>
              <a:ext uri="{FF2B5EF4-FFF2-40B4-BE49-F238E27FC236}">
                <a16:creationId xmlns:a16="http://schemas.microsoft.com/office/drawing/2014/main" id="{C192753B-264A-D8E1-400C-1E08D66230C0}"/>
              </a:ext>
            </a:extLst>
          </p:cNvPr>
          <p:cNvSpPr/>
          <p:nvPr userDrawn="1"/>
        </p:nvSpPr>
        <p:spPr>
          <a:xfrm>
            <a:off x="172744" y="162802"/>
            <a:ext cx="6457091" cy="4322934"/>
          </a:xfrm>
          <a:prstGeom prst="roundRect">
            <a:avLst>
              <a:gd name="adj" fmla="val 1517"/>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a:solidFill>
                <a:schemeClr val="tx1"/>
              </a:solidFill>
              <a:latin typeface="Arial" panose="020B0604020202020204" pitchFamily="34" charset="0"/>
              <a:cs typeface="Arial" panose="020B0604020202020204" pitchFamily="34" charset="0"/>
            </a:endParaRPr>
          </a:p>
        </p:txBody>
      </p:sp>
      <p:sp>
        <p:nvSpPr>
          <p:cNvPr id="7" name="Rounded Rectangle 6">
            <a:extLst>
              <a:ext uri="{FF2B5EF4-FFF2-40B4-BE49-F238E27FC236}">
                <a16:creationId xmlns:a16="http://schemas.microsoft.com/office/drawing/2014/main" id="{A7C5E4C7-0A02-5E9C-8582-3AB2A6FFEB5F}"/>
              </a:ext>
            </a:extLst>
          </p:cNvPr>
          <p:cNvSpPr/>
          <p:nvPr userDrawn="1"/>
        </p:nvSpPr>
        <p:spPr>
          <a:xfrm>
            <a:off x="172742" y="162802"/>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dirty="0"/>
              <a:t>السرد والقصة</a:t>
            </a:r>
            <a:endParaRPr lang="fr-FR" sz="1400" b="1" dirty="0"/>
          </a:p>
          <a:p>
            <a:pPr algn="ctr" rtl="1"/>
            <a:endParaRPr lang="en-US" sz="800" b="1" dirty="0">
              <a:solidFill>
                <a:schemeClr val="bg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CC561D3B-611B-51EE-34FC-49AA369EFCEC}"/>
              </a:ext>
            </a:extLst>
          </p:cNvPr>
          <p:cNvSpPr txBox="1"/>
          <p:nvPr userDrawn="1"/>
        </p:nvSpPr>
        <p:spPr>
          <a:xfrm>
            <a:off x="172740" y="494150"/>
            <a:ext cx="6457091" cy="215444"/>
          </a:xfrm>
          <a:prstGeom prst="rect">
            <a:avLst/>
          </a:prstGeom>
          <a:noFill/>
        </p:spPr>
        <p:txBody>
          <a:bodyPr wrap="square">
            <a:spAutoFit/>
          </a:bodyPr>
          <a:lstStyle/>
          <a:p>
            <a:pPr algn="ctr" rtl="1"/>
            <a:r>
              <a:rPr lang="ar-SA" sz="800" dirty="0">
                <a:solidFill>
                  <a:schemeClr val="bg1"/>
                </a:solidFill>
              </a:rPr>
              <a:t>لخص القصة، خلفية عالم اللعبة، المواضيع والشخصيات الرئيسية. </a:t>
            </a:r>
            <a:r>
              <a:rPr lang="ar-SA" sz="800" b="1" dirty="0">
                <a:solidFill>
                  <a:schemeClr val="bg1"/>
                </a:solidFill>
              </a:rPr>
              <a:t>الحد الأقصى: 300 كلمة.</a:t>
            </a:r>
            <a:endParaRPr lang="en-US" sz="800" dirty="0">
              <a:solidFill>
                <a:schemeClr val="bg1"/>
              </a:solidFill>
              <a:latin typeface="Arial" panose="020B0604020202020204" pitchFamily="34" charset="0"/>
              <a:cs typeface="Arial" panose="020B0604020202020204" pitchFamily="34" charset="0"/>
            </a:endParaRPr>
          </a:p>
        </p:txBody>
      </p:sp>
      <p:sp>
        <p:nvSpPr>
          <p:cNvPr id="9" name="Rounded Rectangle 8">
            <a:extLst>
              <a:ext uri="{FF2B5EF4-FFF2-40B4-BE49-F238E27FC236}">
                <a16:creationId xmlns:a16="http://schemas.microsoft.com/office/drawing/2014/main" id="{FC803751-CB70-3108-7A86-1C53F4E82CEB}"/>
              </a:ext>
            </a:extLst>
          </p:cNvPr>
          <p:cNvSpPr/>
          <p:nvPr userDrawn="1"/>
        </p:nvSpPr>
        <p:spPr>
          <a:xfrm>
            <a:off x="172742" y="4754610"/>
            <a:ext cx="6457091" cy="2832821"/>
          </a:xfrm>
          <a:prstGeom prst="roundRect">
            <a:avLst>
              <a:gd name="adj" fmla="val 1517"/>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a:solidFill>
                <a:schemeClr val="tx1"/>
              </a:solidFill>
              <a:latin typeface="Arial" panose="020B0604020202020204" pitchFamily="34" charset="0"/>
              <a:cs typeface="Arial" panose="020B0604020202020204" pitchFamily="34" charset="0"/>
            </a:endParaRPr>
          </a:p>
        </p:txBody>
      </p:sp>
      <p:sp>
        <p:nvSpPr>
          <p:cNvPr id="10" name="Rounded Rectangle 9">
            <a:extLst>
              <a:ext uri="{FF2B5EF4-FFF2-40B4-BE49-F238E27FC236}">
                <a16:creationId xmlns:a16="http://schemas.microsoft.com/office/drawing/2014/main" id="{8D9D6BDD-7B09-B8C3-5027-345352722989}"/>
              </a:ext>
            </a:extLst>
          </p:cNvPr>
          <p:cNvSpPr/>
          <p:nvPr userDrawn="1"/>
        </p:nvSpPr>
        <p:spPr>
          <a:xfrm>
            <a:off x="172742" y="4754609"/>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dirty="0"/>
              <a:t>أدوات الذكاء الاصطناعي المستخدمة</a:t>
            </a:r>
            <a:endParaRPr lang="fr-FR" sz="1400" b="1" dirty="0"/>
          </a:p>
          <a:p>
            <a:pPr algn="ctr" rtl="1"/>
            <a:endParaRPr lang="en-US" sz="800" b="1" dirty="0">
              <a:solidFill>
                <a:schemeClr val="bg1"/>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A10E7D4A-215E-98E5-C113-D9A076F2213E}"/>
              </a:ext>
            </a:extLst>
          </p:cNvPr>
          <p:cNvSpPr txBox="1"/>
          <p:nvPr userDrawn="1"/>
        </p:nvSpPr>
        <p:spPr>
          <a:xfrm>
            <a:off x="172740" y="5095288"/>
            <a:ext cx="6457091" cy="215444"/>
          </a:xfrm>
          <a:prstGeom prst="rect">
            <a:avLst/>
          </a:prstGeom>
          <a:noFill/>
        </p:spPr>
        <p:txBody>
          <a:bodyPr wrap="square">
            <a:spAutoFit/>
          </a:bodyPr>
          <a:lstStyle/>
          <a:p>
            <a:pPr algn="ctr" rtl="1"/>
            <a:r>
              <a:rPr lang="ar-SA" sz="800" dirty="0">
                <a:solidFill>
                  <a:schemeClr val="bg1"/>
                </a:solidFill>
              </a:rPr>
              <a:t>اذكر الأدوات المستخدمة، وأجزاء الوثيقة التي ساعدت فيها، وكيف ساهمت في عملك. </a:t>
            </a:r>
            <a:r>
              <a:rPr lang="ar-SA" sz="800" b="1" dirty="0">
                <a:solidFill>
                  <a:schemeClr val="bg1"/>
                </a:solidFill>
              </a:rPr>
              <a:t>سطران كحد أقصى لكل أداة.</a:t>
            </a:r>
            <a:endParaRPr lang="en-US" sz="800" dirty="0">
              <a:solidFill>
                <a:schemeClr val="bg1"/>
              </a:solidFill>
              <a:latin typeface="Arial" panose="020B0604020202020204" pitchFamily="34" charset="0"/>
              <a:cs typeface="Arial" panose="020B0604020202020204" pitchFamily="34" charset="0"/>
            </a:endParaRPr>
          </a:p>
        </p:txBody>
      </p:sp>
      <p:sp>
        <p:nvSpPr>
          <p:cNvPr id="13" name="Rounded Rectangle 12">
            <a:extLst>
              <a:ext uri="{FF2B5EF4-FFF2-40B4-BE49-F238E27FC236}">
                <a16:creationId xmlns:a16="http://schemas.microsoft.com/office/drawing/2014/main" id="{8E98CB2E-D8B7-F8DF-2F33-E75E545114EA}"/>
              </a:ext>
            </a:extLst>
          </p:cNvPr>
          <p:cNvSpPr/>
          <p:nvPr userDrawn="1"/>
        </p:nvSpPr>
        <p:spPr>
          <a:xfrm>
            <a:off x="6058647" y="5517861"/>
            <a:ext cx="394481" cy="562355"/>
          </a:xfrm>
          <a:prstGeom prst="roundRect">
            <a:avLst/>
          </a:prstGeom>
          <a:solidFill>
            <a:srgbClr val="512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en-SA" sz="1600">
                <a:latin typeface="Arial" panose="020B0604020202020204" pitchFamily="34" charset="0"/>
                <a:cs typeface="Arial" panose="020B0604020202020204" pitchFamily="34" charset="0"/>
              </a:rPr>
              <a:t>1</a:t>
            </a:r>
          </a:p>
        </p:txBody>
      </p:sp>
      <p:sp>
        <p:nvSpPr>
          <p:cNvPr id="15" name="Rounded Rectangle 14">
            <a:extLst>
              <a:ext uri="{FF2B5EF4-FFF2-40B4-BE49-F238E27FC236}">
                <a16:creationId xmlns:a16="http://schemas.microsoft.com/office/drawing/2014/main" id="{088483D6-8639-A572-C879-D6F14005CA82}"/>
              </a:ext>
            </a:extLst>
          </p:cNvPr>
          <p:cNvSpPr/>
          <p:nvPr userDrawn="1"/>
        </p:nvSpPr>
        <p:spPr>
          <a:xfrm>
            <a:off x="6058647" y="6183467"/>
            <a:ext cx="394481" cy="562355"/>
          </a:xfrm>
          <a:prstGeom prst="roundRect">
            <a:avLst/>
          </a:prstGeom>
          <a:solidFill>
            <a:srgbClr val="512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en-SA" sz="1600">
                <a:latin typeface="Arial" panose="020B0604020202020204" pitchFamily="34" charset="0"/>
                <a:cs typeface="Arial" panose="020B0604020202020204" pitchFamily="34" charset="0"/>
              </a:rPr>
              <a:t>2</a:t>
            </a:r>
          </a:p>
        </p:txBody>
      </p:sp>
      <p:sp>
        <p:nvSpPr>
          <p:cNvPr id="17" name="Rounded Rectangle 16">
            <a:extLst>
              <a:ext uri="{FF2B5EF4-FFF2-40B4-BE49-F238E27FC236}">
                <a16:creationId xmlns:a16="http://schemas.microsoft.com/office/drawing/2014/main" id="{2C0BE4FB-31A4-7B30-B2E5-74E25B6C35B4}"/>
              </a:ext>
            </a:extLst>
          </p:cNvPr>
          <p:cNvSpPr/>
          <p:nvPr userDrawn="1"/>
        </p:nvSpPr>
        <p:spPr>
          <a:xfrm>
            <a:off x="6058647" y="6849073"/>
            <a:ext cx="394481" cy="562355"/>
          </a:xfrm>
          <a:prstGeom prst="roundRect">
            <a:avLst/>
          </a:prstGeom>
          <a:solidFill>
            <a:srgbClr val="512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en-SA" sz="1600">
                <a:latin typeface="Arial" panose="020B0604020202020204" pitchFamily="34" charset="0"/>
                <a:cs typeface="Arial" panose="020B0604020202020204" pitchFamily="34" charset="0"/>
              </a:rPr>
              <a:t>3</a:t>
            </a:r>
          </a:p>
        </p:txBody>
      </p:sp>
      <p:sp>
        <p:nvSpPr>
          <p:cNvPr id="2" name="TextBox 1">
            <a:extLst>
              <a:ext uri="{FF2B5EF4-FFF2-40B4-BE49-F238E27FC236}">
                <a16:creationId xmlns:a16="http://schemas.microsoft.com/office/drawing/2014/main" id="{672E4BD1-A5AD-CE72-55FF-F802792A9057}"/>
              </a:ext>
            </a:extLst>
          </p:cNvPr>
          <p:cNvSpPr txBox="1"/>
          <p:nvPr userDrawn="1"/>
        </p:nvSpPr>
        <p:spPr>
          <a:xfrm>
            <a:off x="172740" y="8245343"/>
            <a:ext cx="6457091" cy="1038746"/>
          </a:xfrm>
          <a:prstGeom prst="rect">
            <a:avLst/>
          </a:prstGeom>
          <a:noFill/>
        </p:spPr>
        <p:txBody>
          <a:bodyPr wrap="square">
            <a:spAutoFit/>
          </a:bodyPr>
          <a:lstStyle/>
          <a:p>
            <a:pPr algn="ctr" rtl="1">
              <a:buNone/>
            </a:pPr>
            <a:r>
              <a:rPr lang="en-US" sz="2400" b="1" i="0" u="none" strike="noStrike">
                <a:solidFill>
                  <a:srgbClr val="E13140"/>
                </a:solidFill>
                <a:effectLst/>
                <a:latin typeface="Arial" panose="020B0604020202020204" pitchFamily="34" charset="0"/>
                <a:cs typeface="Arial" panose="020B0604020202020204" pitchFamily="34" charset="0"/>
              </a:rPr>
              <a:t>- </a:t>
            </a:r>
            <a:r>
              <a:rPr lang="ar-SA" sz="2400" b="1" i="0" u="none" strike="noStrike">
                <a:solidFill>
                  <a:srgbClr val="E13140"/>
                </a:solidFill>
                <a:effectLst/>
                <a:latin typeface="Arial" panose="020B0604020202020204" pitchFamily="34" charset="0"/>
                <a:cs typeface="Arial" panose="020B0604020202020204" pitchFamily="34" charset="0"/>
              </a:rPr>
              <a:t> </a:t>
            </a:r>
            <a:r>
              <a:rPr lang="ar-SA" sz="2400" b="1">
                <a:solidFill>
                  <a:srgbClr val="E13140"/>
                </a:solidFill>
              </a:rPr>
              <a:t>نهاية وثيقة فكرة اللعبة</a:t>
            </a:r>
            <a:r>
              <a:rPr lang="en-US" sz="2400" b="1" i="0" u="none" strike="noStrike">
                <a:solidFill>
                  <a:srgbClr val="E13140"/>
                </a:solidFill>
                <a:effectLst/>
                <a:latin typeface="Arial" panose="020B0604020202020204" pitchFamily="34" charset="0"/>
                <a:cs typeface="Arial" panose="020B0604020202020204" pitchFamily="34" charset="0"/>
              </a:rPr>
              <a:t>- </a:t>
            </a:r>
          </a:p>
          <a:p>
            <a:pPr algn="ctr" rtl="1">
              <a:buNone/>
            </a:pPr>
            <a:endParaRPr lang="en-US" sz="600" b="1" i="1" u="none" strike="noStrike">
              <a:solidFill>
                <a:srgbClr val="FFFFFF"/>
              </a:solidFill>
              <a:effectLst/>
              <a:latin typeface="Arial" panose="020B0604020202020204" pitchFamily="34" charset="0"/>
              <a:cs typeface="Arial" panose="020B0604020202020204" pitchFamily="34" charset="0"/>
            </a:endParaRPr>
          </a:p>
          <a:p>
            <a:pPr algn="ctr" rtl="1"/>
            <a:r>
              <a:rPr lang="ar-SA" sz="1050">
                <a:solidFill>
                  <a:schemeClr val="bg1"/>
                </a:solidFill>
              </a:rPr>
              <a:t>أحسنت! الآن، احفظ وثيقتك بصيغة </a:t>
            </a:r>
            <a:r>
              <a:rPr lang="en-US" sz="1050">
                <a:solidFill>
                  <a:schemeClr val="bg1"/>
                </a:solidFill>
              </a:rPr>
              <a:t>PDF</a:t>
            </a:r>
            <a:r>
              <a:rPr lang="ar-SA" sz="1050">
                <a:solidFill>
                  <a:schemeClr val="bg1"/>
                </a:solidFill>
              </a:rPr>
              <a:t> وشاركها عبر البريد الإلكتروني مع عضو لجنة التحكيم المدرسية. سيقوم أعضاء اللجنة بمراجعة جميع المشاركات واختيار المشاركة التي ستمثل مدرستك على مستوى المنطقة. بعد ذلك، ستقوم مجموعة سافي باختيار الفائزين على مستوى المنطقة، وفي النهاية سيتم إعلان الفائز على المستوى الوطني.</a:t>
            </a:r>
          </a:p>
        </p:txBody>
      </p:sp>
    </p:spTree>
    <p:extLst>
      <p:ext uri="{BB962C8B-B14F-4D97-AF65-F5344CB8AC3E}">
        <p14:creationId xmlns:p14="http://schemas.microsoft.com/office/powerpoint/2010/main" val="584610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B7BAF50-20CB-49E1-BC54-11DBB35C5170}"/>
              </a:ext>
            </a:extLst>
          </p:cNvPr>
          <p:cNvPicPr>
            <a:picLocks noChangeAspect="1"/>
          </p:cNvPicPr>
          <p:nvPr userDrawn="1"/>
        </p:nvPicPr>
        <p:blipFill>
          <a:blip r:embed="rId2"/>
          <a:stretch>
            <a:fillRect/>
          </a:stretch>
        </p:blipFill>
        <p:spPr>
          <a:xfrm>
            <a:off x="-53079" y="-36789"/>
            <a:ext cx="6911080" cy="9959118"/>
          </a:xfrm>
          <a:prstGeom prst="rect">
            <a:avLst/>
          </a:prstGeom>
        </p:spPr>
      </p:pic>
      <p:sp>
        <p:nvSpPr>
          <p:cNvPr id="8" name="Rounded Rectangle 7">
            <a:extLst>
              <a:ext uri="{FF2B5EF4-FFF2-40B4-BE49-F238E27FC236}">
                <a16:creationId xmlns:a16="http://schemas.microsoft.com/office/drawing/2014/main" id="{91E8968B-AD81-907D-DF8E-460266C3BEE3}"/>
              </a:ext>
            </a:extLst>
          </p:cNvPr>
          <p:cNvSpPr/>
          <p:nvPr userDrawn="1"/>
        </p:nvSpPr>
        <p:spPr>
          <a:xfrm>
            <a:off x="167796" y="180257"/>
            <a:ext cx="6457091" cy="1830375"/>
          </a:xfrm>
          <a:prstGeom prst="roundRect">
            <a:avLst>
              <a:gd name="adj" fmla="val 3241"/>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a:solidFill>
                <a:schemeClr val="tx1"/>
              </a:solidFill>
              <a:latin typeface="Arial" panose="020B0604020202020204" pitchFamily="34" charset="0"/>
              <a:cs typeface="Arial" panose="020B0604020202020204" pitchFamily="34" charset="0"/>
            </a:endParaRPr>
          </a:p>
        </p:txBody>
      </p:sp>
      <p:sp>
        <p:nvSpPr>
          <p:cNvPr id="9" name="Rounded Rectangle 8">
            <a:extLst>
              <a:ext uri="{FF2B5EF4-FFF2-40B4-BE49-F238E27FC236}">
                <a16:creationId xmlns:a16="http://schemas.microsoft.com/office/drawing/2014/main" id="{A7D8AB15-55BC-84BD-9DD3-BD67C13318FB}"/>
              </a:ext>
            </a:extLst>
          </p:cNvPr>
          <p:cNvSpPr/>
          <p:nvPr userDrawn="1"/>
        </p:nvSpPr>
        <p:spPr>
          <a:xfrm>
            <a:off x="167796" y="180256"/>
            <a:ext cx="6457091"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a:t>قائمة التحقق من الاستخدام الأخلاقي والعادل</a:t>
            </a:r>
          </a:p>
        </p:txBody>
      </p:sp>
      <p:sp>
        <p:nvSpPr>
          <p:cNvPr id="10" name="TextBox 9">
            <a:extLst>
              <a:ext uri="{FF2B5EF4-FFF2-40B4-BE49-F238E27FC236}">
                <a16:creationId xmlns:a16="http://schemas.microsoft.com/office/drawing/2014/main" id="{99B24C3D-3242-4328-D5A1-13F5C2837252}"/>
              </a:ext>
            </a:extLst>
          </p:cNvPr>
          <p:cNvSpPr txBox="1"/>
          <p:nvPr userDrawn="1"/>
        </p:nvSpPr>
        <p:spPr>
          <a:xfrm>
            <a:off x="216274" y="807940"/>
            <a:ext cx="6457090" cy="1061829"/>
          </a:xfrm>
          <a:prstGeom prst="rect">
            <a:avLst/>
          </a:prstGeom>
          <a:noFill/>
        </p:spPr>
        <p:txBody>
          <a:bodyPr wrap="square">
            <a:spAutoFit/>
          </a:bodyPr>
          <a:lstStyle/>
          <a:p>
            <a:pPr algn="r" rtl="1"/>
            <a:r>
              <a:rPr lang="ar-SA" sz="900" b="1"/>
              <a:t>بتقديمنا هذه الوثيقة، فإننا نؤكد ما يلي:</a:t>
            </a:r>
          </a:p>
          <a:p>
            <a:pPr marL="171450" indent="-171450" algn="r" rtl="1">
              <a:buFont typeface="Arial" panose="020B0604020202020204" pitchFamily="34" charset="0"/>
              <a:buChar char="•"/>
            </a:pPr>
            <a:r>
              <a:rPr lang="ar-SA" sz="900"/>
              <a:t>لم نستخدم الذكاء الاصطناعي لنسخ أو سرقة أعمال محمية بحقوق الطبع والنشر.</a:t>
            </a:r>
          </a:p>
          <a:p>
            <a:pPr marL="171450" indent="-171450" algn="r" rtl="1">
              <a:buFont typeface="Arial" panose="020B0604020202020204" pitchFamily="34" charset="0"/>
              <a:buChar char="•"/>
            </a:pPr>
            <a:r>
              <a:rPr lang="ar-SA" sz="900"/>
              <a:t>استخدمنا الذكاء الاصطناعي كمساعد فقط، وليس لإنجاز كامل العمل الإبداعي.</a:t>
            </a:r>
          </a:p>
          <a:p>
            <a:pPr marL="171450" indent="-171450" algn="r" rtl="1">
              <a:buFont typeface="Arial" panose="020B0604020202020204" pitchFamily="34" charset="0"/>
              <a:buChar char="•"/>
            </a:pPr>
            <a:r>
              <a:rPr lang="ar-SA" sz="900"/>
              <a:t>ندرك أن التقييم يعتمد على أفكارنا وتصميمنا الأصلي، وليس على مدى استخدامنا للذكاء الاصطناعي.</a:t>
            </a:r>
          </a:p>
          <a:p>
            <a:pPr marL="171450" indent="-171450" algn="r" rtl="1">
              <a:buFont typeface="Arial" panose="020B0604020202020204" pitchFamily="34" charset="0"/>
              <a:buChar char="•"/>
            </a:pPr>
            <a:r>
              <a:rPr lang="ar-SA" sz="900"/>
              <a:t>نعلم أن المشاركة اختيارية، ولا توجد ضمانات للفوز.</a:t>
            </a:r>
          </a:p>
          <a:p>
            <a:pPr marL="171450" indent="-171450" algn="r" rtl="1">
              <a:buFont typeface="Arial" panose="020B0604020202020204" pitchFamily="34" charset="0"/>
              <a:buChar char="•"/>
            </a:pPr>
            <a:r>
              <a:rPr lang="ar-SA" sz="900"/>
              <a:t>نوافق على أن قرارات المنظمين نهائية ولا يمكن الطعن فيها.</a:t>
            </a:r>
          </a:p>
          <a:p>
            <a:pPr marL="171450" indent="-171450" algn="r" rtl="1">
              <a:buFont typeface="Arial" panose="020B0604020202020204" pitchFamily="34" charset="0"/>
              <a:buChar char="•"/>
            </a:pPr>
            <a:r>
              <a:rPr lang="ar-SA" sz="900"/>
              <a:t>نلتزم بقواعد المسابقة ونحترم جميع المشاركين الآخرين.</a:t>
            </a:r>
          </a:p>
        </p:txBody>
      </p:sp>
      <p:sp>
        <p:nvSpPr>
          <p:cNvPr id="11" name="Rounded Rectangle 10">
            <a:extLst>
              <a:ext uri="{FF2B5EF4-FFF2-40B4-BE49-F238E27FC236}">
                <a16:creationId xmlns:a16="http://schemas.microsoft.com/office/drawing/2014/main" id="{8D3AACB2-AB93-DFAA-3559-73B05F45BD6B}"/>
              </a:ext>
            </a:extLst>
          </p:cNvPr>
          <p:cNvSpPr/>
          <p:nvPr userDrawn="1"/>
        </p:nvSpPr>
        <p:spPr>
          <a:xfrm>
            <a:off x="167796" y="2224089"/>
            <a:ext cx="6457091" cy="7468996"/>
          </a:xfrm>
          <a:prstGeom prst="roundRect">
            <a:avLst>
              <a:gd name="adj" fmla="val 1062"/>
            </a:avLst>
          </a:prstGeom>
          <a:solidFill>
            <a:schemeClr val="bg2"/>
          </a:solidFill>
          <a:ln w="6350">
            <a:solidFill>
              <a:schemeClr val="tx1">
                <a:lumMod val="75000"/>
                <a:lumOff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14" name="Rounded Rectangle 13">
            <a:extLst>
              <a:ext uri="{FF2B5EF4-FFF2-40B4-BE49-F238E27FC236}">
                <a16:creationId xmlns:a16="http://schemas.microsoft.com/office/drawing/2014/main" id="{14487ED4-892F-AC0B-8B16-77CF6A03D3F8}"/>
              </a:ext>
            </a:extLst>
          </p:cNvPr>
          <p:cNvSpPr/>
          <p:nvPr userDrawn="1"/>
        </p:nvSpPr>
        <p:spPr>
          <a:xfrm>
            <a:off x="167796" y="2224088"/>
            <a:ext cx="6481328" cy="562355"/>
          </a:xfrm>
          <a:prstGeom prst="roundRect">
            <a:avLst>
              <a:gd name="adj" fmla="val 4844"/>
            </a:avLst>
          </a:prstGeom>
          <a:solidFill>
            <a:srgbClr val="E1314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b="1" dirty="0"/>
              <a:t>شبكة التقييم</a:t>
            </a:r>
            <a:endParaRPr lang="fr-FR" sz="1400" b="1" dirty="0"/>
          </a:p>
          <a:p>
            <a:pPr algn="ctr" rtl="1"/>
            <a:endParaRPr lang="en-US" sz="800" b="1"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8C329407-F567-88D5-8611-5D8EEE9A8965}"/>
              </a:ext>
            </a:extLst>
          </p:cNvPr>
          <p:cNvSpPr txBox="1"/>
          <p:nvPr userDrawn="1"/>
        </p:nvSpPr>
        <p:spPr>
          <a:xfrm>
            <a:off x="167792" y="2559245"/>
            <a:ext cx="6481328" cy="215444"/>
          </a:xfrm>
          <a:prstGeom prst="rect">
            <a:avLst/>
          </a:prstGeom>
          <a:noFill/>
        </p:spPr>
        <p:txBody>
          <a:bodyPr wrap="square">
            <a:spAutoFit/>
          </a:bodyPr>
          <a:lstStyle/>
          <a:p>
            <a:pPr algn="ctr" rtl="1"/>
            <a:r>
              <a:rPr lang="ar-SA" sz="800" dirty="0">
                <a:solidFill>
                  <a:schemeClr val="bg1"/>
                </a:solidFill>
              </a:rPr>
              <a:t>في إطار ضمان العدالة والشفافية، إليك المعايير التي ستُستخدم لتقييم فكرة لعبتك.</a:t>
            </a:r>
          </a:p>
        </p:txBody>
      </p:sp>
      <p:pic>
        <p:nvPicPr>
          <p:cNvPr id="3" name="Picture 2" descr="A screenshot of a computer&#10;&#10;AI-generated content may be incorrect.">
            <a:extLst>
              <a:ext uri="{FF2B5EF4-FFF2-40B4-BE49-F238E27FC236}">
                <a16:creationId xmlns:a16="http://schemas.microsoft.com/office/drawing/2014/main" id="{5A939A32-6BDA-054C-A446-991F3ED42C77}"/>
              </a:ext>
            </a:extLst>
          </p:cNvPr>
          <p:cNvPicPr>
            <a:picLocks noChangeAspect="1"/>
          </p:cNvPicPr>
          <p:nvPr userDrawn="1"/>
        </p:nvPicPr>
        <p:blipFill>
          <a:blip r:embed="rId3"/>
          <a:stretch>
            <a:fillRect/>
          </a:stretch>
        </p:blipFill>
        <p:spPr>
          <a:xfrm>
            <a:off x="-1060204" y="2773459"/>
            <a:ext cx="8913081" cy="6916106"/>
          </a:xfrm>
          <a:prstGeom prst="rect">
            <a:avLst/>
          </a:prstGeom>
        </p:spPr>
      </p:pic>
    </p:spTree>
    <p:extLst>
      <p:ext uri="{BB962C8B-B14F-4D97-AF65-F5344CB8AC3E}">
        <p14:creationId xmlns:p14="http://schemas.microsoft.com/office/powerpoint/2010/main" val="3261155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7"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2DDFB7E-2FBF-6A4D-987E-4EA5B0AC2CA8}" type="datetimeFigureOut">
              <a:rPr lang="en-SA" smtClean="0"/>
              <a:t>11/04/2025</a:t>
            </a:fld>
            <a:endParaRPr lang="en-SA"/>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SA"/>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0058CF0C-FABB-8845-BDF9-E1081C638B2A}" type="slidenum">
              <a:rPr lang="en-SA" smtClean="0"/>
              <a:t>‹#›</a:t>
            </a:fld>
            <a:endParaRPr lang="en-SA"/>
          </a:p>
        </p:txBody>
      </p:sp>
      <p:sp>
        <p:nvSpPr>
          <p:cNvPr id="8" name="TextBox 7">
            <a:extLst>
              <a:ext uri="{FF2B5EF4-FFF2-40B4-BE49-F238E27FC236}">
                <a16:creationId xmlns:a16="http://schemas.microsoft.com/office/drawing/2014/main" id="{96912FC7-8C82-F7A0-0D07-BDC050061E85}"/>
              </a:ext>
            </a:extLst>
          </p:cNvPr>
          <p:cNvSpPr txBox="1"/>
          <p:nvPr userDrawn="1">
            <p:extLst>
              <p:ext uri="{1162E1C5-73C7-4A58-AE30-91384D911F3F}">
                <p184:classification xmlns:p184="http://schemas.microsoft.com/office/powerpoint/2018/4/main" val="ftr"/>
              </p:ext>
            </p:extLst>
          </p:nvPr>
        </p:nvSpPr>
        <p:spPr>
          <a:xfrm>
            <a:off x="3167063" y="9690100"/>
            <a:ext cx="552450" cy="152400"/>
          </a:xfrm>
          <a:prstGeom prst="rect">
            <a:avLst/>
          </a:prstGeom>
        </p:spPr>
        <p:txBody>
          <a:bodyPr horzOverflow="overflow" lIns="0" tIns="0" rIns="0" bIns="0">
            <a:spAutoFit/>
          </a:bodyPr>
          <a:lstStyle/>
          <a:p>
            <a:pPr algn="l"/>
            <a:r>
              <a:rPr lang="en-SA" sz="1000">
                <a:solidFill>
                  <a:srgbClr val="E6AF00">
                    <a:alpha val="50000"/>
                  </a:srgbClr>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35508004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8" r:id="rId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8DB1B-1382-E0A7-ADAD-C8F07622A4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E28866-3B79-5414-A1B3-A037F139BFB1}"/>
              </a:ext>
            </a:extLst>
          </p:cNvPr>
          <p:cNvSpPr txBox="1"/>
          <p:nvPr/>
        </p:nvSpPr>
        <p:spPr>
          <a:xfrm>
            <a:off x="261259" y="2857501"/>
            <a:ext cx="4078082" cy="262180"/>
          </a:xfrm>
          <a:prstGeom prst="rect">
            <a:avLst/>
          </a:prstGeom>
          <a:solidFill>
            <a:schemeClr val="bg1"/>
          </a:solidFill>
          <a:ln>
            <a:solidFill>
              <a:schemeClr val="bg1">
                <a:lumMod val="85000"/>
              </a:schemeClr>
            </a:solidFill>
          </a:ln>
        </p:spPr>
        <p:txBody>
          <a:bodyPr wrap="square" lIns="91440" tIns="45720" rIns="91440" bIns="45720" rtlCol="0" anchor="t">
            <a:noAutofit/>
          </a:bodyPr>
          <a:lstStyle/>
          <a:p>
            <a:pPr algn="r"/>
            <a:endParaRPr lang="en-US" sz="1200">
              <a:latin typeface="Arial"/>
              <a:cs typeface="Arial"/>
            </a:endParaRPr>
          </a:p>
        </p:txBody>
      </p:sp>
      <p:sp>
        <p:nvSpPr>
          <p:cNvPr id="5" name="TextBox 4">
            <a:extLst>
              <a:ext uri="{FF2B5EF4-FFF2-40B4-BE49-F238E27FC236}">
                <a16:creationId xmlns:a16="http://schemas.microsoft.com/office/drawing/2014/main" id="{FEF82F26-7677-5259-F3B9-C050681B07A9}"/>
              </a:ext>
            </a:extLst>
          </p:cNvPr>
          <p:cNvSpPr txBox="1"/>
          <p:nvPr/>
        </p:nvSpPr>
        <p:spPr>
          <a:xfrm>
            <a:off x="261258" y="3581401"/>
            <a:ext cx="4078082" cy="262180"/>
          </a:xfrm>
          <a:prstGeom prst="rect">
            <a:avLst/>
          </a:prstGeom>
          <a:solidFill>
            <a:schemeClr val="bg1"/>
          </a:solidFill>
          <a:ln>
            <a:solidFill>
              <a:schemeClr val="bg1">
                <a:lumMod val="85000"/>
              </a:schemeClr>
            </a:solidFill>
          </a:ln>
        </p:spPr>
        <p:txBody>
          <a:bodyPr wrap="square" rtlCol="0">
            <a:noAutofit/>
          </a:bodyPr>
          <a:lstStyle/>
          <a:p>
            <a:pPr algn="r"/>
            <a:endParaRPr lang="en-SA" sz="120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70807A1-5585-E1AA-DCB1-CE54959CC9F8}"/>
              </a:ext>
            </a:extLst>
          </p:cNvPr>
          <p:cNvSpPr txBox="1"/>
          <p:nvPr/>
        </p:nvSpPr>
        <p:spPr>
          <a:xfrm>
            <a:off x="261257" y="4305301"/>
            <a:ext cx="4078082" cy="262180"/>
          </a:xfrm>
          <a:prstGeom prst="rect">
            <a:avLst/>
          </a:prstGeom>
          <a:solidFill>
            <a:schemeClr val="bg1"/>
          </a:solidFill>
          <a:ln>
            <a:solidFill>
              <a:schemeClr val="bg1">
                <a:lumMod val="85000"/>
              </a:schemeClr>
            </a:solidFill>
          </a:ln>
        </p:spPr>
        <p:txBody>
          <a:bodyPr wrap="square" rtlCol="0">
            <a:noAutofit/>
          </a:bodyPr>
          <a:lstStyle/>
          <a:p>
            <a:pPr algn="r"/>
            <a:endParaRPr lang="en-SA" sz="120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2ECC057-9493-43DB-2945-8846E2DFD5C3}"/>
              </a:ext>
            </a:extLst>
          </p:cNvPr>
          <p:cNvSpPr txBox="1"/>
          <p:nvPr/>
        </p:nvSpPr>
        <p:spPr>
          <a:xfrm>
            <a:off x="261257" y="5029109"/>
            <a:ext cx="4078082" cy="262180"/>
          </a:xfrm>
          <a:prstGeom prst="rect">
            <a:avLst/>
          </a:prstGeom>
          <a:solidFill>
            <a:schemeClr val="bg1"/>
          </a:solidFill>
          <a:ln>
            <a:solidFill>
              <a:schemeClr val="bg1">
                <a:lumMod val="85000"/>
              </a:schemeClr>
            </a:solidFill>
          </a:ln>
        </p:spPr>
        <p:txBody>
          <a:bodyPr wrap="square" rtlCol="0">
            <a:noAutofit/>
          </a:bodyPr>
          <a:lstStyle/>
          <a:p>
            <a:pPr algn="r"/>
            <a:endParaRPr lang="en-SA" sz="120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22C4B6D-21AC-2E5A-9A05-4BAEF48FD9D2}"/>
              </a:ext>
            </a:extLst>
          </p:cNvPr>
          <p:cNvSpPr txBox="1"/>
          <p:nvPr/>
        </p:nvSpPr>
        <p:spPr>
          <a:xfrm>
            <a:off x="261257" y="6259287"/>
            <a:ext cx="6281057" cy="3363684"/>
          </a:xfrm>
          <a:prstGeom prst="rect">
            <a:avLst/>
          </a:prstGeom>
          <a:solidFill>
            <a:schemeClr val="bg1"/>
          </a:solidFill>
          <a:ln>
            <a:solidFill>
              <a:schemeClr val="bg1">
                <a:lumMod val="85000"/>
              </a:schemeClr>
            </a:solidFill>
          </a:ln>
        </p:spPr>
        <p:txBody>
          <a:bodyPr wrap="square" rtlCol="0">
            <a:normAutofit/>
          </a:bodyPr>
          <a:lstStyle/>
          <a:p>
            <a:pPr algn="r"/>
            <a:endParaRPr lang="en-SA"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984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5386DF-64BC-276F-A828-8AF8D9B91AD4}"/>
              </a:ext>
            </a:extLst>
          </p:cNvPr>
          <p:cNvSpPr txBox="1"/>
          <p:nvPr/>
        </p:nvSpPr>
        <p:spPr>
          <a:xfrm>
            <a:off x="193702" y="2899181"/>
            <a:ext cx="3621693" cy="280416"/>
          </a:xfrm>
          <a:prstGeom prst="rect">
            <a:avLst/>
          </a:prstGeom>
          <a:solidFill>
            <a:schemeClr val="bg1"/>
          </a:solidFill>
          <a:ln>
            <a:solidFill>
              <a:schemeClr val="bg1">
                <a:lumMod val="85000"/>
              </a:schemeClr>
            </a:solidFill>
          </a:ln>
        </p:spPr>
        <p:txBody>
          <a:bodyPr wrap="square" rtlCol="0">
            <a:normAutofit/>
          </a:bodyPr>
          <a:lstStyle/>
          <a:p>
            <a:pPr algn="r"/>
            <a:endParaRPr lang="en-SA" sz="120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E5F7E24-AA97-08C8-AF91-4EB6789DFC42}"/>
              </a:ext>
            </a:extLst>
          </p:cNvPr>
          <p:cNvSpPr txBox="1"/>
          <p:nvPr/>
        </p:nvSpPr>
        <p:spPr>
          <a:xfrm>
            <a:off x="280556" y="4267199"/>
            <a:ext cx="6192980" cy="1094510"/>
          </a:xfrm>
          <a:prstGeom prst="rect">
            <a:avLst/>
          </a:prstGeom>
          <a:solidFill>
            <a:schemeClr val="bg1"/>
          </a:solidFill>
          <a:ln>
            <a:solidFill>
              <a:schemeClr val="bg1">
                <a:lumMod val="85000"/>
              </a:schemeClr>
            </a:solidFill>
          </a:ln>
        </p:spPr>
        <p:txBody>
          <a:bodyPr wrap="square" rtlCol="0">
            <a:noAutofit/>
          </a:bodyPr>
          <a:lstStyle/>
          <a:p>
            <a:pPr algn="r"/>
            <a:endParaRPr lang="en-SA" sz="120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52491FD9-7532-6715-0A29-B8F98D19F91A}"/>
              </a:ext>
            </a:extLst>
          </p:cNvPr>
          <p:cNvSpPr txBox="1"/>
          <p:nvPr/>
        </p:nvSpPr>
        <p:spPr>
          <a:xfrm>
            <a:off x="372815" y="6449311"/>
            <a:ext cx="5947063" cy="276999"/>
          </a:xfrm>
          <a:prstGeom prst="rect">
            <a:avLst/>
          </a:prstGeom>
          <a:solidFill>
            <a:schemeClr val="bg1"/>
          </a:solidFill>
          <a:ln>
            <a:solidFill>
              <a:schemeClr val="bg1">
                <a:lumMod val="85000"/>
              </a:schemeClr>
            </a:solidFill>
          </a:ln>
        </p:spPr>
        <p:txBody>
          <a:bodyPr wrap="square" rtlCol="0">
            <a:normAutofit/>
          </a:bodyPr>
          <a:lstStyle/>
          <a:p>
            <a:pPr algn="r"/>
            <a:endParaRPr lang="en-SA" sz="120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1798CCA-390B-FE4D-D55A-937ED0F7F882}"/>
              </a:ext>
            </a:extLst>
          </p:cNvPr>
          <p:cNvSpPr txBox="1"/>
          <p:nvPr/>
        </p:nvSpPr>
        <p:spPr>
          <a:xfrm>
            <a:off x="372817" y="6863019"/>
            <a:ext cx="5947063" cy="276999"/>
          </a:xfrm>
          <a:prstGeom prst="rect">
            <a:avLst/>
          </a:prstGeom>
          <a:solidFill>
            <a:schemeClr val="bg1"/>
          </a:solidFill>
          <a:ln>
            <a:solidFill>
              <a:schemeClr val="bg1">
                <a:lumMod val="85000"/>
              </a:schemeClr>
            </a:solidFill>
          </a:ln>
        </p:spPr>
        <p:txBody>
          <a:bodyPr wrap="square" rtlCol="0">
            <a:normAutofit/>
          </a:bodyPr>
          <a:lstStyle/>
          <a:p>
            <a:pPr algn="r"/>
            <a:endParaRPr lang="en-SA" sz="120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7D811ED-A00D-85D4-45FE-47B20344C249}"/>
              </a:ext>
            </a:extLst>
          </p:cNvPr>
          <p:cNvSpPr txBox="1"/>
          <p:nvPr/>
        </p:nvSpPr>
        <p:spPr>
          <a:xfrm>
            <a:off x="372816" y="7276727"/>
            <a:ext cx="5947063" cy="276999"/>
          </a:xfrm>
          <a:prstGeom prst="rect">
            <a:avLst/>
          </a:prstGeom>
          <a:solidFill>
            <a:schemeClr val="bg1"/>
          </a:solidFill>
          <a:ln>
            <a:solidFill>
              <a:schemeClr val="bg1">
                <a:lumMod val="85000"/>
              </a:schemeClr>
            </a:solidFill>
          </a:ln>
        </p:spPr>
        <p:txBody>
          <a:bodyPr wrap="square" rtlCol="0">
            <a:normAutofit/>
          </a:bodyPr>
          <a:lstStyle/>
          <a:p>
            <a:pPr algn="r"/>
            <a:endParaRPr lang="en-SA" sz="120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7716F37-5D12-6C1C-FE00-4912BD0B28AE}"/>
              </a:ext>
            </a:extLst>
          </p:cNvPr>
          <p:cNvSpPr txBox="1"/>
          <p:nvPr/>
        </p:nvSpPr>
        <p:spPr>
          <a:xfrm>
            <a:off x="376913" y="8538121"/>
            <a:ext cx="5947063" cy="276999"/>
          </a:xfrm>
          <a:prstGeom prst="rect">
            <a:avLst/>
          </a:prstGeom>
          <a:solidFill>
            <a:schemeClr val="bg1"/>
          </a:solidFill>
          <a:ln>
            <a:solidFill>
              <a:schemeClr val="bg1">
                <a:lumMod val="85000"/>
              </a:schemeClr>
            </a:solidFill>
          </a:ln>
        </p:spPr>
        <p:txBody>
          <a:bodyPr wrap="square" rtlCol="0">
            <a:spAutoFit/>
          </a:bodyPr>
          <a:lstStyle/>
          <a:p>
            <a:pPr algn="r"/>
            <a:endParaRPr lang="en-SA" sz="120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C869845-A18F-B6A2-12F3-113C5DCCFC30}"/>
              </a:ext>
            </a:extLst>
          </p:cNvPr>
          <p:cNvSpPr txBox="1"/>
          <p:nvPr/>
        </p:nvSpPr>
        <p:spPr>
          <a:xfrm>
            <a:off x="376913" y="8951829"/>
            <a:ext cx="5947063" cy="276999"/>
          </a:xfrm>
          <a:prstGeom prst="rect">
            <a:avLst/>
          </a:prstGeom>
          <a:solidFill>
            <a:schemeClr val="bg1"/>
          </a:solidFill>
          <a:ln>
            <a:solidFill>
              <a:schemeClr val="bg1">
                <a:lumMod val="85000"/>
              </a:schemeClr>
            </a:solidFill>
          </a:ln>
        </p:spPr>
        <p:txBody>
          <a:bodyPr wrap="square" rtlCol="0">
            <a:spAutoFit/>
          </a:bodyPr>
          <a:lstStyle/>
          <a:p>
            <a:pPr algn="r"/>
            <a:endParaRPr lang="en-SA" sz="120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55EDA78E-4D10-542C-DC80-FF612096D691}"/>
              </a:ext>
            </a:extLst>
          </p:cNvPr>
          <p:cNvSpPr txBox="1"/>
          <p:nvPr/>
        </p:nvSpPr>
        <p:spPr>
          <a:xfrm>
            <a:off x="376913" y="9374535"/>
            <a:ext cx="5947063" cy="276999"/>
          </a:xfrm>
          <a:prstGeom prst="rect">
            <a:avLst/>
          </a:prstGeom>
          <a:solidFill>
            <a:schemeClr val="bg1"/>
          </a:solidFill>
          <a:ln>
            <a:solidFill>
              <a:schemeClr val="bg1">
                <a:lumMod val="85000"/>
              </a:schemeClr>
            </a:solidFill>
          </a:ln>
        </p:spPr>
        <p:txBody>
          <a:bodyPr wrap="square" rtlCol="0">
            <a:spAutoFit/>
          </a:bodyPr>
          <a:lstStyle/>
          <a:p>
            <a:pPr algn="r"/>
            <a:endParaRPr lang="en-SA" sz="120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F53A1DBB-F494-ED98-56CF-AE8A0AD263E5}"/>
              </a:ext>
            </a:extLst>
          </p:cNvPr>
          <p:cNvSpPr txBox="1"/>
          <p:nvPr/>
        </p:nvSpPr>
        <p:spPr>
          <a:xfrm>
            <a:off x="2991285" y="918739"/>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233AE777-8755-60F0-B347-56A9FAF75AD0}"/>
              </a:ext>
            </a:extLst>
          </p:cNvPr>
          <p:cNvSpPr txBox="1"/>
          <p:nvPr/>
        </p:nvSpPr>
        <p:spPr>
          <a:xfrm>
            <a:off x="2991284" y="1132021"/>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01FF5F26-21B0-379E-AD3C-3540C70DF7D2}"/>
              </a:ext>
            </a:extLst>
          </p:cNvPr>
          <p:cNvSpPr txBox="1"/>
          <p:nvPr/>
        </p:nvSpPr>
        <p:spPr>
          <a:xfrm>
            <a:off x="2991283" y="1345303"/>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AABAA3A4-F918-2198-BE9E-C6087CFFB9F8}"/>
              </a:ext>
            </a:extLst>
          </p:cNvPr>
          <p:cNvSpPr txBox="1"/>
          <p:nvPr/>
        </p:nvSpPr>
        <p:spPr>
          <a:xfrm>
            <a:off x="2991282" y="1554759"/>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28ECC8F6-A668-BFB2-9E37-8FCF81093F07}"/>
              </a:ext>
            </a:extLst>
          </p:cNvPr>
          <p:cNvSpPr txBox="1"/>
          <p:nvPr/>
        </p:nvSpPr>
        <p:spPr>
          <a:xfrm>
            <a:off x="2991282" y="1764214"/>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008E991-5A23-438E-A76A-36D2976A3FDA}"/>
              </a:ext>
            </a:extLst>
          </p:cNvPr>
          <p:cNvSpPr txBox="1"/>
          <p:nvPr/>
        </p:nvSpPr>
        <p:spPr>
          <a:xfrm>
            <a:off x="784937" y="1947072"/>
            <a:ext cx="1952835" cy="179907"/>
          </a:xfrm>
          <a:prstGeom prst="rect">
            <a:avLst/>
          </a:prstGeom>
          <a:solidFill>
            <a:schemeClr val="bg1"/>
          </a:solidFill>
          <a:ln>
            <a:solidFill>
              <a:schemeClr val="bg1">
                <a:lumMod val="85000"/>
              </a:schemeClr>
            </a:solidFill>
          </a:ln>
        </p:spPr>
        <p:txBody>
          <a:bodyPr wrap="square" lIns="90000" rtlCol="0" anchor="ctr" anchorCtr="0">
            <a:noAutofit/>
          </a:bodyPr>
          <a:lstStyle/>
          <a:p>
            <a:pPr algn="r"/>
            <a:endParaRPr lang="en-SA" sz="800">
              <a:solidFill>
                <a:srgbClr val="E13140"/>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33B23572-3BBB-60B4-A44B-5B741E58F278}"/>
              </a:ext>
            </a:extLst>
          </p:cNvPr>
          <p:cNvSpPr txBox="1"/>
          <p:nvPr/>
        </p:nvSpPr>
        <p:spPr>
          <a:xfrm>
            <a:off x="6338632" y="864166"/>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83262253-E359-5E2E-848B-7D04DC98CEB6}"/>
              </a:ext>
            </a:extLst>
          </p:cNvPr>
          <p:cNvSpPr txBox="1"/>
          <p:nvPr/>
        </p:nvSpPr>
        <p:spPr>
          <a:xfrm>
            <a:off x="6338631" y="1119176"/>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8E625D4-B415-2BEE-1503-A4B402B0F613}"/>
              </a:ext>
            </a:extLst>
          </p:cNvPr>
          <p:cNvSpPr txBox="1"/>
          <p:nvPr/>
        </p:nvSpPr>
        <p:spPr>
          <a:xfrm>
            <a:off x="6338630" y="1370360"/>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36C1073A-4A99-7AEA-0115-4CFF353C407E}"/>
              </a:ext>
            </a:extLst>
          </p:cNvPr>
          <p:cNvSpPr txBox="1"/>
          <p:nvPr/>
        </p:nvSpPr>
        <p:spPr>
          <a:xfrm>
            <a:off x="6338629" y="1625370"/>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53F7415C-BA5E-6083-B635-236C160BCEC3}"/>
              </a:ext>
            </a:extLst>
          </p:cNvPr>
          <p:cNvSpPr txBox="1"/>
          <p:nvPr/>
        </p:nvSpPr>
        <p:spPr>
          <a:xfrm>
            <a:off x="6338629" y="1880378"/>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2933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3A2088-737F-430C-D332-3AE6932A4C72}"/>
              </a:ext>
            </a:extLst>
          </p:cNvPr>
          <p:cNvSpPr txBox="1"/>
          <p:nvPr/>
        </p:nvSpPr>
        <p:spPr>
          <a:xfrm>
            <a:off x="446811" y="3665288"/>
            <a:ext cx="5947063" cy="276999"/>
          </a:xfrm>
          <a:prstGeom prst="rect">
            <a:avLst/>
          </a:prstGeom>
          <a:solidFill>
            <a:schemeClr val="bg1"/>
          </a:solidFill>
          <a:ln>
            <a:solidFill>
              <a:schemeClr val="bg1">
                <a:lumMod val="85000"/>
              </a:schemeClr>
            </a:solidFill>
          </a:ln>
        </p:spPr>
        <p:txBody>
          <a:bodyPr wrap="square" rtlCol="0">
            <a:normAutofit/>
          </a:bodyPr>
          <a:lstStyle/>
          <a:p>
            <a:pPr algn="r"/>
            <a:endParaRPr lang="en-SA" sz="120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22C3FFC9-828E-5B48-03F9-1979FAA6DF1A}"/>
              </a:ext>
            </a:extLst>
          </p:cNvPr>
          <p:cNvSpPr txBox="1"/>
          <p:nvPr/>
        </p:nvSpPr>
        <p:spPr>
          <a:xfrm>
            <a:off x="446810" y="4074675"/>
            <a:ext cx="5947063" cy="276999"/>
          </a:xfrm>
          <a:prstGeom prst="rect">
            <a:avLst/>
          </a:prstGeom>
          <a:solidFill>
            <a:schemeClr val="bg1"/>
          </a:solidFill>
          <a:ln>
            <a:solidFill>
              <a:schemeClr val="bg1">
                <a:lumMod val="85000"/>
              </a:schemeClr>
            </a:solidFill>
          </a:ln>
        </p:spPr>
        <p:txBody>
          <a:bodyPr wrap="square" rtlCol="0">
            <a:normAutofit/>
          </a:bodyPr>
          <a:lstStyle/>
          <a:p>
            <a:pPr algn="r"/>
            <a:endParaRPr lang="en-SA" sz="120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E83184F0-D090-9EBB-DDFC-A67E29A68772}"/>
              </a:ext>
            </a:extLst>
          </p:cNvPr>
          <p:cNvSpPr txBox="1"/>
          <p:nvPr/>
        </p:nvSpPr>
        <p:spPr>
          <a:xfrm>
            <a:off x="446811" y="4487279"/>
            <a:ext cx="5947063" cy="276999"/>
          </a:xfrm>
          <a:prstGeom prst="rect">
            <a:avLst/>
          </a:prstGeom>
          <a:solidFill>
            <a:schemeClr val="bg1"/>
          </a:solidFill>
          <a:ln>
            <a:solidFill>
              <a:schemeClr val="bg1">
                <a:lumMod val="85000"/>
              </a:schemeClr>
            </a:solidFill>
          </a:ln>
        </p:spPr>
        <p:txBody>
          <a:bodyPr wrap="square" rtlCol="0">
            <a:normAutofit/>
          </a:bodyPr>
          <a:lstStyle/>
          <a:p>
            <a:pPr algn="r"/>
            <a:endParaRPr lang="en-SA" sz="120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8BD189F-1204-078F-4D62-578BBF95D078}"/>
              </a:ext>
            </a:extLst>
          </p:cNvPr>
          <p:cNvSpPr txBox="1"/>
          <p:nvPr/>
        </p:nvSpPr>
        <p:spPr>
          <a:xfrm>
            <a:off x="363682" y="5649329"/>
            <a:ext cx="6141025" cy="1426880"/>
          </a:xfrm>
          <a:prstGeom prst="rect">
            <a:avLst/>
          </a:prstGeom>
          <a:solidFill>
            <a:schemeClr val="bg1"/>
          </a:solidFill>
          <a:ln>
            <a:solidFill>
              <a:schemeClr val="bg1">
                <a:lumMod val="85000"/>
              </a:schemeClr>
            </a:solidFill>
          </a:ln>
        </p:spPr>
        <p:txBody>
          <a:bodyPr wrap="square" rtlCol="0">
            <a:normAutofit/>
          </a:bodyPr>
          <a:lstStyle/>
          <a:p>
            <a:pPr algn="r"/>
            <a:endParaRPr lang="en-SA" sz="120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385A7C8-E7E6-969B-3647-76C317BDE4DB}"/>
              </a:ext>
            </a:extLst>
          </p:cNvPr>
          <p:cNvSpPr txBox="1"/>
          <p:nvPr/>
        </p:nvSpPr>
        <p:spPr>
          <a:xfrm>
            <a:off x="4279741" y="8211998"/>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60A2CAED-05A2-C0A5-AA47-9693F8A40F7E}"/>
              </a:ext>
            </a:extLst>
          </p:cNvPr>
          <p:cNvSpPr txBox="1"/>
          <p:nvPr/>
        </p:nvSpPr>
        <p:spPr>
          <a:xfrm>
            <a:off x="4280291" y="8428472"/>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35CACD37-E77C-DFA8-788B-0372F58F09C0}"/>
              </a:ext>
            </a:extLst>
          </p:cNvPr>
          <p:cNvSpPr txBox="1"/>
          <p:nvPr/>
        </p:nvSpPr>
        <p:spPr>
          <a:xfrm>
            <a:off x="4280841" y="8644946"/>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CE95A709-DF55-1A01-B487-29EE6964DED6}"/>
              </a:ext>
            </a:extLst>
          </p:cNvPr>
          <p:cNvSpPr txBox="1"/>
          <p:nvPr/>
        </p:nvSpPr>
        <p:spPr>
          <a:xfrm>
            <a:off x="4280841" y="8865484"/>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BD423B70-120D-C5FB-9A94-EC5834FA954B}"/>
              </a:ext>
            </a:extLst>
          </p:cNvPr>
          <p:cNvSpPr txBox="1"/>
          <p:nvPr/>
        </p:nvSpPr>
        <p:spPr>
          <a:xfrm>
            <a:off x="4279740" y="9081962"/>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A5554888-15DC-F658-E5E0-5D7D047844BE}"/>
              </a:ext>
            </a:extLst>
          </p:cNvPr>
          <p:cNvSpPr txBox="1"/>
          <p:nvPr/>
        </p:nvSpPr>
        <p:spPr>
          <a:xfrm>
            <a:off x="1714592" y="8217441"/>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88EE2F1A-9160-8806-AAC7-447094853292}"/>
              </a:ext>
            </a:extLst>
          </p:cNvPr>
          <p:cNvSpPr txBox="1"/>
          <p:nvPr/>
        </p:nvSpPr>
        <p:spPr>
          <a:xfrm>
            <a:off x="1713341" y="8437161"/>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ACA989DC-41E9-2623-CC20-1875C2316A87}"/>
              </a:ext>
            </a:extLst>
          </p:cNvPr>
          <p:cNvSpPr txBox="1"/>
          <p:nvPr/>
        </p:nvSpPr>
        <p:spPr>
          <a:xfrm>
            <a:off x="1713341" y="8656322"/>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CE7AC9F-00A2-73D7-CA78-009EDD6A384F}"/>
              </a:ext>
            </a:extLst>
          </p:cNvPr>
          <p:cNvSpPr txBox="1"/>
          <p:nvPr/>
        </p:nvSpPr>
        <p:spPr>
          <a:xfrm>
            <a:off x="6442993" y="8154573"/>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91E5DE36-5D9E-7FDD-2889-B99D5E993B4E}"/>
              </a:ext>
            </a:extLst>
          </p:cNvPr>
          <p:cNvSpPr txBox="1"/>
          <p:nvPr/>
        </p:nvSpPr>
        <p:spPr>
          <a:xfrm>
            <a:off x="6442993" y="8369669"/>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87DD590-B7A7-E520-C42D-318539555F85}"/>
              </a:ext>
            </a:extLst>
          </p:cNvPr>
          <p:cNvSpPr txBox="1"/>
          <p:nvPr/>
        </p:nvSpPr>
        <p:spPr>
          <a:xfrm>
            <a:off x="6442993" y="8584765"/>
            <a:ext cx="123423" cy="125737"/>
          </a:xfrm>
          <a:prstGeom prst="rect">
            <a:avLst/>
          </a:prstGeom>
          <a:solidFill>
            <a:schemeClr val="bg1"/>
          </a:solidFill>
          <a:ln>
            <a:solidFill>
              <a:schemeClr val="bg1">
                <a:lumMod val="85000"/>
              </a:schemeClr>
            </a:solidFill>
          </a:ln>
        </p:spPr>
        <p:txBody>
          <a:bodyPr wrap="square" lIns="90000" rtlCol="0" anchor="ctr" anchorCtr="0">
            <a:noAutofit/>
          </a:bodyPr>
          <a:lstStyle/>
          <a:p>
            <a:pPr algn="ctr"/>
            <a:endParaRPr lang="en-SA" sz="800">
              <a:solidFill>
                <a:srgbClr val="E13140"/>
              </a:solidFill>
              <a:latin typeface="Arial" panose="020B0604020202020204" pitchFamily="34" charset="0"/>
              <a:cs typeface="Arial" panose="020B0604020202020204" pitchFamily="34" charset="0"/>
            </a:endParaRPr>
          </a:p>
        </p:txBody>
      </p:sp>
      <p:sp>
        <p:nvSpPr>
          <p:cNvPr id="19" name="Rounded Rectangle 18">
            <a:extLst>
              <a:ext uri="{FF2B5EF4-FFF2-40B4-BE49-F238E27FC236}">
                <a16:creationId xmlns:a16="http://schemas.microsoft.com/office/drawing/2014/main" id="{E0ECD240-FFAE-C0B2-F015-8B48FA7914A4}"/>
              </a:ext>
            </a:extLst>
          </p:cNvPr>
          <p:cNvSpPr/>
          <p:nvPr/>
        </p:nvSpPr>
        <p:spPr>
          <a:xfrm>
            <a:off x="2754995" y="955122"/>
            <a:ext cx="1367333" cy="495946"/>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a:latin typeface="Arial" panose="020B0604020202020204" pitchFamily="34" charset="0"/>
                <a:cs typeface="Arial" panose="020B0604020202020204" pitchFamily="34" charset="0"/>
              </a:rPr>
              <a:t>البداية</a:t>
            </a:r>
            <a:endParaRPr lang="en-SA" sz="1400">
              <a:latin typeface="Arial" panose="020B0604020202020204" pitchFamily="34" charset="0"/>
              <a:cs typeface="Arial" panose="020B0604020202020204" pitchFamily="34" charset="0"/>
            </a:endParaRPr>
          </a:p>
        </p:txBody>
      </p:sp>
      <p:sp>
        <p:nvSpPr>
          <p:cNvPr id="20" name="Rounded Rectangle 19">
            <a:extLst>
              <a:ext uri="{FF2B5EF4-FFF2-40B4-BE49-F238E27FC236}">
                <a16:creationId xmlns:a16="http://schemas.microsoft.com/office/drawing/2014/main" id="{4E32F0C1-A61B-4BD1-3BD1-83F1234B4210}"/>
              </a:ext>
            </a:extLst>
          </p:cNvPr>
          <p:cNvSpPr/>
          <p:nvPr/>
        </p:nvSpPr>
        <p:spPr>
          <a:xfrm>
            <a:off x="5018043" y="1451068"/>
            <a:ext cx="1367333" cy="495946"/>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a:t>الحركة</a:t>
            </a:r>
          </a:p>
          <a:p>
            <a:pPr algn="ctr" rtl="1"/>
            <a:r>
              <a:rPr lang="ar-SA" sz="900"/>
              <a:t>حدد المدينة على الخريطة</a:t>
            </a:r>
            <a:endParaRPr lang="en-SA" sz="900">
              <a:latin typeface="Arial" panose="020B0604020202020204" pitchFamily="34" charset="0"/>
              <a:cs typeface="Arial" panose="020B0604020202020204" pitchFamily="34" charset="0"/>
            </a:endParaRPr>
          </a:p>
        </p:txBody>
      </p:sp>
      <p:sp>
        <p:nvSpPr>
          <p:cNvPr id="21" name="Rounded Rectangle 20">
            <a:extLst>
              <a:ext uri="{FF2B5EF4-FFF2-40B4-BE49-F238E27FC236}">
                <a16:creationId xmlns:a16="http://schemas.microsoft.com/office/drawing/2014/main" id="{5D5A019B-A8F1-770F-117E-C56C5DE725E3}"/>
              </a:ext>
            </a:extLst>
          </p:cNvPr>
          <p:cNvSpPr/>
          <p:nvPr/>
        </p:nvSpPr>
        <p:spPr>
          <a:xfrm>
            <a:off x="3764916" y="2138369"/>
            <a:ext cx="1367333" cy="495946"/>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a:latin typeface="Arial" panose="020B0604020202020204" pitchFamily="34" charset="0"/>
                <a:cs typeface="Arial" panose="020B0604020202020204" pitchFamily="34" charset="0"/>
              </a:rPr>
              <a:t>التعلّم</a:t>
            </a:r>
            <a:endParaRPr lang="en-SA" sz="1400">
              <a:latin typeface="Arial" panose="020B0604020202020204" pitchFamily="34" charset="0"/>
              <a:cs typeface="Arial" panose="020B0604020202020204" pitchFamily="34" charset="0"/>
            </a:endParaRPr>
          </a:p>
          <a:p>
            <a:pPr algn="ctr" rtl="1"/>
            <a:r>
              <a:rPr lang="ar-SA" sz="1000"/>
              <a:t>حقائق ممتعة</a:t>
            </a:r>
            <a:endParaRPr lang="en-SA" sz="1000">
              <a:latin typeface="Arial" panose="020B0604020202020204" pitchFamily="34" charset="0"/>
              <a:cs typeface="Arial" panose="020B0604020202020204" pitchFamily="34" charset="0"/>
            </a:endParaRPr>
          </a:p>
        </p:txBody>
      </p:sp>
      <p:sp>
        <p:nvSpPr>
          <p:cNvPr id="22" name="Rounded Rectangle 21">
            <a:extLst>
              <a:ext uri="{FF2B5EF4-FFF2-40B4-BE49-F238E27FC236}">
                <a16:creationId xmlns:a16="http://schemas.microsoft.com/office/drawing/2014/main" id="{3A55D3A0-7C7A-F43A-0B40-5A59F2CBD110}"/>
              </a:ext>
            </a:extLst>
          </p:cNvPr>
          <p:cNvSpPr/>
          <p:nvPr/>
        </p:nvSpPr>
        <p:spPr>
          <a:xfrm>
            <a:off x="1675154" y="2138369"/>
            <a:ext cx="1367333" cy="495946"/>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a:t>مكافأة</a:t>
            </a:r>
            <a:endParaRPr lang="en-SA" sz="1400">
              <a:latin typeface="Arial" panose="020B0604020202020204" pitchFamily="34" charset="0"/>
              <a:cs typeface="Arial" panose="020B0604020202020204" pitchFamily="34" charset="0"/>
            </a:endParaRPr>
          </a:p>
          <a:p>
            <a:pPr algn="ctr" rtl="1"/>
            <a:r>
              <a:rPr lang="ar-SA" sz="1000">
                <a:latin typeface="Arial" panose="020B0604020202020204" pitchFamily="34" charset="0"/>
                <a:cs typeface="Arial" panose="020B0604020202020204" pitchFamily="34" charset="0"/>
              </a:rPr>
              <a:t>+10 نقاط</a:t>
            </a:r>
            <a:endParaRPr lang="en-SA" sz="1000">
              <a:latin typeface="Arial" panose="020B0604020202020204" pitchFamily="34" charset="0"/>
              <a:cs typeface="Arial" panose="020B0604020202020204" pitchFamily="34" charset="0"/>
            </a:endParaRPr>
          </a:p>
        </p:txBody>
      </p:sp>
      <p:sp>
        <p:nvSpPr>
          <p:cNvPr id="23" name="Rounded Rectangle 22">
            <a:extLst>
              <a:ext uri="{FF2B5EF4-FFF2-40B4-BE49-F238E27FC236}">
                <a16:creationId xmlns:a16="http://schemas.microsoft.com/office/drawing/2014/main" id="{8BDD1D92-9818-4B16-C229-4481BEFB4F8B}"/>
              </a:ext>
            </a:extLst>
          </p:cNvPr>
          <p:cNvSpPr/>
          <p:nvPr/>
        </p:nvSpPr>
        <p:spPr>
          <a:xfrm>
            <a:off x="491947" y="1402826"/>
            <a:ext cx="1367333" cy="495946"/>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400"/>
              <a:t>التقدم</a:t>
            </a:r>
            <a:endParaRPr lang="en-SA" sz="1400">
              <a:latin typeface="Arial" panose="020B0604020202020204" pitchFamily="34" charset="0"/>
              <a:cs typeface="Arial" panose="020B0604020202020204" pitchFamily="34" charset="0"/>
            </a:endParaRPr>
          </a:p>
          <a:p>
            <a:pPr algn="ctr" rtl="1"/>
            <a:r>
              <a:rPr lang="ar-SA" sz="1000"/>
              <a:t>الانتقال إلى الدولة التالية</a:t>
            </a:r>
            <a:endParaRPr lang="en-SA" sz="1000">
              <a:latin typeface="Arial" panose="020B0604020202020204" pitchFamily="34" charset="0"/>
              <a:cs typeface="Arial" panose="020B0604020202020204" pitchFamily="34" charset="0"/>
            </a:endParaRPr>
          </a:p>
        </p:txBody>
      </p:sp>
      <p:cxnSp>
        <p:nvCxnSpPr>
          <p:cNvPr id="27" name="Elbow Connector 26">
            <a:extLst>
              <a:ext uri="{FF2B5EF4-FFF2-40B4-BE49-F238E27FC236}">
                <a16:creationId xmlns:a16="http://schemas.microsoft.com/office/drawing/2014/main" id="{AEC6A973-016E-C11E-C24F-D39CD13F668E}"/>
              </a:ext>
            </a:extLst>
          </p:cNvPr>
          <p:cNvCxnSpPr>
            <a:cxnSpLocks/>
            <a:stCxn id="19" idx="3"/>
            <a:endCxn id="20" idx="0"/>
          </p:cNvCxnSpPr>
          <p:nvPr/>
        </p:nvCxnSpPr>
        <p:spPr>
          <a:xfrm>
            <a:off x="4122328" y="1203095"/>
            <a:ext cx="1579382" cy="24797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Elbow Connector 27">
            <a:extLst>
              <a:ext uri="{FF2B5EF4-FFF2-40B4-BE49-F238E27FC236}">
                <a16:creationId xmlns:a16="http://schemas.microsoft.com/office/drawing/2014/main" id="{2B4FC86E-D71A-1798-0F02-53529D1E4642}"/>
              </a:ext>
            </a:extLst>
          </p:cNvPr>
          <p:cNvCxnSpPr>
            <a:cxnSpLocks/>
            <a:stCxn id="20" idx="2"/>
            <a:endCxn id="21" idx="3"/>
          </p:cNvCxnSpPr>
          <p:nvPr/>
        </p:nvCxnSpPr>
        <p:spPr>
          <a:xfrm rot="5400000">
            <a:off x="5197316" y="1881948"/>
            <a:ext cx="439328" cy="56946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Elbow Connector 30">
            <a:extLst>
              <a:ext uri="{FF2B5EF4-FFF2-40B4-BE49-F238E27FC236}">
                <a16:creationId xmlns:a16="http://schemas.microsoft.com/office/drawing/2014/main" id="{77E4353A-E874-221E-D8EA-F7FA8C90C77C}"/>
              </a:ext>
            </a:extLst>
          </p:cNvPr>
          <p:cNvCxnSpPr>
            <a:cxnSpLocks/>
            <a:stCxn id="23" idx="0"/>
            <a:endCxn id="19" idx="1"/>
          </p:cNvCxnSpPr>
          <p:nvPr/>
        </p:nvCxnSpPr>
        <p:spPr>
          <a:xfrm rot="5400000" flipH="1" flipV="1">
            <a:off x="1865439" y="513271"/>
            <a:ext cx="199731" cy="157938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Elbow Connector 33">
            <a:extLst>
              <a:ext uri="{FF2B5EF4-FFF2-40B4-BE49-F238E27FC236}">
                <a16:creationId xmlns:a16="http://schemas.microsoft.com/office/drawing/2014/main" id="{BE8E9C1F-485A-E910-403D-8130E398BAB1}"/>
              </a:ext>
            </a:extLst>
          </p:cNvPr>
          <p:cNvCxnSpPr>
            <a:cxnSpLocks/>
            <a:stCxn id="22" idx="1"/>
            <a:endCxn id="23" idx="2"/>
          </p:cNvCxnSpPr>
          <p:nvPr/>
        </p:nvCxnSpPr>
        <p:spPr>
          <a:xfrm rot="10800000">
            <a:off x="1175614" y="1898772"/>
            <a:ext cx="499540" cy="48757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7819BCBE-D335-965A-7D79-02BC14898658}"/>
              </a:ext>
            </a:extLst>
          </p:cNvPr>
          <p:cNvCxnSpPr>
            <a:cxnSpLocks/>
            <a:stCxn id="21" idx="1"/>
            <a:endCxn id="22" idx="3"/>
          </p:cNvCxnSpPr>
          <p:nvPr/>
        </p:nvCxnSpPr>
        <p:spPr>
          <a:xfrm flipH="1">
            <a:off x="3042487" y="2386342"/>
            <a:ext cx="72242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871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descr="A grey square with a picture of a mountain&#10;&#10;AI-generated content may be incorrect.">
            <a:extLst>
              <a:ext uri="{FF2B5EF4-FFF2-40B4-BE49-F238E27FC236}">
                <a16:creationId xmlns:a16="http://schemas.microsoft.com/office/drawing/2014/main" id="{F2851604-18A5-DE56-EA7B-2E2C4E7C5BE4}"/>
              </a:ext>
            </a:extLst>
          </p:cNvPr>
          <p:cNvPicPr>
            <a:picLocks noChangeAspect="1"/>
          </p:cNvPicPr>
          <p:nvPr/>
        </p:nvPicPr>
        <p:blipFill>
          <a:blip r:embed="rId2"/>
          <a:srcRect r="3742"/>
          <a:stretch>
            <a:fillRect/>
          </a:stretch>
        </p:blipFill>
        <p:spPr>
          <a:xfrm>
            <a:off x="298213" y="3257256"/>
            <a:ext cx="3059854" cy="1530068"/>
          </a:xfrm>
          <a:prstGeom prst="rect">
            <a:avLst/>
          </a:prstGeom>
        </p:spPr>
      </p:pic>
      <p:pic>
        <p:nvPicPr>
          <p:cNvPr id="54" name="Picture 53" descr="A grey square with a picture of a mountain&#10;&#10;AI-generated content may be incorrect.">
            <a:extLst>
              <a:ext uri="{FF2B5EF4-FFF2-40B4-BE49-F238E27FC236}">
                <a16:creationId xmlns:a16="http://schemas.microsoft.com/office/drawing/2014/main" id="{C2CE074C-F47C-4B99-67C8-FF225A9B59F5}"/>
              </a:ext>
            </a:extLst>
          </p:cNvPr>
          <p:cNvPicPr>
            <a:picLocks noChangeAspect="1"/>
          </p:cNvPicPr>
          <p:nvPr/>
        </p:nvPicPr>
        <p:blipFill>
          <a:blip r:embed="rId2"/>
          <a:srcRect r="3742"/>
          <a:stretch>
            <a:fillRect/>
          </a:stretch>
        </p:blipFill>
        <p:spPr>
          <a:xfrm>
            <a:off x="3448897" y="3257256"/>
            <a:ext cx="3059854" cy="1530068"/>
          </a:xfrm>
          <a:prstGeom prst="rect">
            <a:avLst/>
          </a:prstGeom>
        </p:spPr>
      </p:pic>
      <p:pic>
        <p:nvPicPr>
          <p:cNvPr id="55" name="Picture 54" descr="A grey square with a picture of a mountain&#10;&#10;AI-generated content may be incorrect.">
            <a:extLst>
              <a:ext uri="{FF2B5EF4-FFF2-40B4-BE49-F238E27FC236}">
                <a16:creationId xmlns:a16="http://schemas.microsoft.com/office/drawing/2014/main" id="{D59D631B-A899-6152-FD51-AA1A971BE1FE}"/>
              </a:ext>
            </a:extLst>
          </p:cNvPr>
          <p:cNvPicPr>
            <a:picLocks noChangeAspect="1"/>
          </p:cNvPicPr>
          <p:nvPr/>
        </p:nvPicPr>
        <p:blipFill>
          <a:blip r:embed="rId2"/>
          <a:srcRect r="3742"/>
          <a:stretch>
            <a:fillRect/>
          </a:stretch>
        </p:blipFill>
        <p:spPr>
          <a:xfrm>
            <a:off x="298213" y="4850122"/>
            <a:ext cx="3059854" cy="1530068"/>
          </a:xfrm>
          <a:prstGeom prst="rect">
            <a:avLst/>
          </a:prstGeom>
        </p:spPr>
      </p:pic>
      <p:pic>
        <p:nvPicPr>
          <p:cNvPr id="56" name="Picture 55" descr="A grey square with a picture of a mountain&#10;&#10;AI-generated content may be incorrect.">
            <a:extLst>
              <a:ext uri="{FF2B5EF4-FFF2-40B4-BE49-F238E27FC236}">
                <a16:creationId xmlns:a16="http://schemas.microsoft.com/office/drawing/2014/main" id="{D95618B4-FB4C-6333-70DF-F403BFFE8F0A}"/>
              </a:ext>
            </a:extLst>
          </p:cNvPr>
          <p:cNvPicPr>
            <a:picLocks noChangeAspect="1"/>
          </p:cNvPicPr>
          <p:nvPr/>
        </p:nvPicPr>
        <p:blipFill>
          <a:blip r:embed="rId2"/>
          <a:srcRect r="3742"/>
          <a:stretch>
            <a:fillRect/>
          </a:stretch>
        </p:blipFill>
        <p:spPr>
          <a:xfrm>
            <a:off x="3448897" y="4850122"/>
            <a:ext cx="3059854" cy="1530068"/>
          </a:xfrm>
          <a:prstGeom prst="rect">
            <a:avLst/>
          </a:prstGeom>
        </p:spPr>
      </p:pic>
      <p:pic>
        <p:nvPicPr>
          <p:cNvPr id="57" name="Picture 56" descr="A grey and white image&#10;&#10;AI-generated content may be incorrect.">
            <a:extLst>
              <a:ext uri="{FF2B5EF4-FFF2-40B4-BE49-F238E27FC236}">
                <a16:creationId xmlns:a16="http://schemas.microsoft.com/office/drawing/2014/main" id="{032A5028-23BF-1254-099D-2E505CCED566}"/>
              </a:ext>
            </a:extLst>
          </p:cNvPr>
          <p:cNvPicPr>
            <a:picLocks noChangeAspect="1"/>
          </p:cNvPicPr>
          <p:nvPr/>
        </p:nvPicPr>
        <p:blipFill>
          <a:blip r:embed="rId3"/>
          <a:stretch>
            <a:fillRect/>
          </a:stretch>
        </p:blipFill>
        <p:spPr>
          <a:xfrm>
            <a:off x="437455" y="6469783"/>
            <a:ext cx="1879063" cy="2408120"/>
          </a:xfrm>
          <a:prstGeom prst="rect">
            <a:avLst/>
          </a:prstGeom>
        </p:spPr>
      </p:pic>
      <p:pic>
        <p:nvPicPr>
          <p:cNvPr id="58" name="Picture 57" descr="A grey and white image&#10;&#10;AI-generated content may be incorrect.">
            <a:extLst>
              <a:ext uri="{FF2B5EF4-FFF2-40B4-BE49-F238E27FC236}">
                <a16:creationId xmlns:a16="http://schemas.microsoft.com/office/drawing/2014/main" id="{C5A06EE4-221E-E7C7-6779-722400EEF74B}"/>
              </a:ext>
            </a:extLst>
          </p:cNvPr>
          <p:cNvPicPr>
            <a:picLocks noChangeAspect="1"/>
          </p:cNvPicPr>
          <p:nvPr/>
        </p:nvPicPr>
        <p:blipFill>
          <a:blip r:embed="rId3"/>
          <a:stretch>
            <a:fillRect/>
          </a:stretch>
        </p:blipFill>
        <p:spPr>
          <a:xfrm>
            <a:off x="2489468" y="6469783"/>
            <a:ext cx="1879063" cy="2408120"/>
          </a:xfrm>
          <a:prstGeom prst="rect">
            <a:avLst/>
          </a:prstGeom>
        </p:spPr>
      </p:pic>
      <p:pic>
        <p:nvPicPr>
          <p:cNvPr id="59" name="Picture 58" descr="A grey and white image&#10;&#10;AI-generated content may be incorrect.">
            <a:extLst>
              <a:ext uri="{FF2B5EF4-FFF2-40B4-BE49-F238E27FC236}">
                <a16:creationId xmlns:a16="http://schemas.microsoft.com/office/drawing/2014/main" id="{885DF6D1-43F3-4FB4-5556-3811EB9739E2}"/>
              </a:ext>
            </a:extLst>
          </p:cNvPr>
          <p:cNvPicPr>
            <a:picLocks noChangeAspect="1"/>
          </p:cNvPicPr>
          <p:nvPr/>
        </p:nvPicPr>
        <p:blipFill>
          <a:blip r:embed="rId3"/>
          <a:stretch>
            <a:fillRect/>
          </a:stretch>
        </p:blipFill>
        <p:spPr>
          <a:xfrm>
            <a:off x="4548408" y="6469783"/>
            <a:ext cx="1879063" cy="2408120"/>
          </a:xfrm>
          <a:prstGeom prst="rect">
            <a:avLst/>
          </a:prstGeom>
        </p:spPr>
      </p:pic>
      <p:sp>
        <p:nvSpPr>
          <p:cNvPr id="60" name="TextBox 59">
            <a:extLst>
              <a:ext uri="{FF2B5EF4-FFF2-40B4-BE49-F238E27FC236}">
                <a16:creationId xmlns:a16="http://schemas.microsoft.com/office/drawing/2014/main" id="{5CD7C7E5-A0B9-BAEA-BA77-7DE408BD223B}"/>
              </a:ext>
            </a:extLst>
          </p:cNvPr>
          <p:cNvSpPr txBox="1"/>
          <p:nvPr/>
        </p:nvSpPr>
        <p:spPr>
          <a:xfrm>
            <a:off x="253196" y="9371062"/>
            <a:ext cx="4078082" cy="262180"/>
          </a:xfrm>
          <a:prstGeom prst="rect">
            <a:avLst/>
          </a:prstGeom>
          <a:solidFill>
            <a:schemeClr val="bg1"/>
          </a:solidFill>
          <a:ln>
            <a:solidFill>
              <a:schemeClr val="bg1">
                <a:lumMod val="85000"/>
              </a:schemeClr>
            </a:solidFill>
          </a:ln>
        </p:spPr>
        <p:txBody>
          <a:bodyPr wrap="square" rtlCol="0">
            <a:noAutofit/>
          </a:bodyPr>
          <a:lstStyle/>
          <a:p>
            <a:endParaRPr lang="en-SA" sz="1200">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33C56376-8270-235A-8048-E8FC56907BA8}"/>
              </a:ext>
            </a:extLst>
          </p:cNvPr>
          <p:cNvSpPr txBox="1"/>
          <p:nvPr/>
        </p:nvSpPr>
        <p:spPr>
          <a:xfrm>
            <a:off x="2360802" y="818277"/>
            <a:ext cx="4248267" cy="1530068"/>
          </a:xfrm>
          <a:prstGeom prst="rect">
            <a:avLst/>
          </a:prstGeom>
          <a:solidFill>
            <a:schemeClr val="bg1"/>
          </a:solidFill>
          <a:ln>
            <a:solidFill>
              <a:schemeClr val="bg1">
                <a:lumMod val="85000"/>
              </a:schemeClr>
            </a:solidFill>
          </a:ln>
        </p:spPr>
        <p:txBody>
          <a:bodyPr wrap="square" rtlCol="0">
            <a:noAutofit/>
          </a:bodyPr>
          <a:lstStyle/>
          <a:p>
            <a:pPr algn="r"/>
            <a:endParaRPr lang="en-SA"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5233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A5E7AD-C6F2-58AA-40B5-296C177A2339}"/>
              </a:ext>
            </a:extLst>
          </p:cNvPr>
          <p:cNvSpPr txBox="1"/>
          <p:nvPr/>
        </p:nvSpPr>
        <p:spPr>
          <a:xfrm>
            <a:off x="282620" y="797494"/>
            <a:ext cx="6232480" cy="3587469"/>
          </a:xfrm>
          <a:prstGeom prst="rect">
            <a:avLst/>
          </a:prstGeom>
          <a:solidFill>
            <a:schemeClr val="bg1"/>
          </a:solidFill>
          <a:ln>
            <a:solidFill>
              <a:schemeClr val="bg1">
                <a:lumMod val="85000"/>
              </a:schemeClr>
            </a:solidFill>
          </a:ln>
        </p:spPr>
        <p:txBody>
          <a:bodyPr wrap="square" rtlCol="0">
            <a:normAutofit/>
          </a:bodyPr>
          <a:lstStyle/>
          <a:p>
            <a:pPr algn="r"/>
            <a:endParaRPr lang="en-SA" sz="120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70AA979-400A-E723-CA80-589C4B91AFDA}"/>
              </a:ext>
            </a:extLst>
          </p:cNvPr>
          <p:cNvSpPr txBox="1"/>
          <p:nvPr/>
        </p:nvSpPr>
        <p:spPr>
          <a:xfrm>
            <a:off x="282620" y="5521038"/>
            <a:ext cx="5708529" cy="548836"/>
          </a:xfrm>
          <a:prstGeom prst="rect">
            <a:avLst/>
          </a:prstGeom>
          <a:solidFill>
            <a:schemeClr val="bg1"/>
          </a:solidFill>
          <a:ln>
            <a:solidFill>
              <a:schemeClr val="bg1">
                <a:lumMod val="85000"/>
              </a:schemeClr>
            </a:solidFill>
          </a:ln>
        </p:spPr>
        <p:txBody>
          <a:bodyPr wrap="square" rtlCol="0">
            <a:normAutofit/>
          </a:bodyPr>
          <a:lstStyle/>
          <a:p>
            <a:pPr algn="r"/>
            <a:endParaRPr lang="en-SA" sz="120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FDDB912-BCB3-DCEB-CFD3-FEB184409C2D}"/>
              </a:ext>
            </a:extLst>
          </p:cNvPr>
          <p:cNvSpPr txBox="1"/>
          <p:nvPr/>
        </p:nvSpPr>
        <p:spPr>
          <a:xfrm>
            <a:off x="282620" y="6195952"/>
            <a:ext cx="5708529" cy="548836"/>
          </a:xfrm>
          <a:prstGeom prst="rect">
            <a:avLst/>
          </a:prstGeom>
          <a:solidFill>
            <a:schemeClr val="bg1"/>
          </a:solidFill>
          <a:ln>
            <a:solidFill>
              <a:schemeClr val="bg1">
                <a:lumMod val="85000"/>
              </a:schemeClr>
            </a:solidFill>
          </a:ln>
        </p:spPr>
        <p:txBody>
          <a:bodyPr wrap="square" rtlCol="0">
            <a:normAutofit/>
          </a:bodyPr>
          <a:lstStyle/>
          <a:p>
            <a:pPr algn="r"/>
            <a:endParaRPr lang="en-SA" sz="120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8AEC22F-9A2A-74AB-E2E6-F808B6E25039}"/>
              </a:ext>
            </a:extLst>
          </p:cNvPr>
          <p:cNvSpPr txBox="1"/>
          <p:nvPr/>
        </p:nvSpPr>
        <p:spPr>
          <a:xfrm>
            <a:off x="282620" y="6870866"/>
            <a:ext cx="5708529" cy="548836"/>
          </a:xfrm>
          <a:prstGeom prst="rect">
            <a:avLst/>
          </a:prstGeom>
          <a:solidFill>
            <a:schemeClr val="bg1"/>
          </a:solidFill>
          <a:ln>
            <a:solidFill>
              <a:schemeClr val="bg1">
                <a:lumMod val="85000"/>
              </a:schemeClr>
            </a:solidFill>
          </a:ln>
        </p:spPr>
        <p:txBody>
          <a:bodyPr wrap="square" rtlCol="0">
            <a:normAutofit/>
          </a:bodyPr>
          <a:lstStyle/>
          <a:p>
            <a:pPr algn="r"/>
            <a:endParaRPr lang="en-SA"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5515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0939803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4c99ac5-f6ea-4135-b1c0-e58780b79fd4">
      <Terms xmlns="http://schemas.microsoft.com/office/infopath/2007/PartnerControls"/>
    </lcf76f155ced4ddcb4097134ff3c332f>
    <TaxCatchAll xmlns="5d1d679d-936a-45a1-aaba-a0947b8bc3e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25A07D506DE2748A1B740C0A72D6ABB" ma:contentTypeVersion="12" ma:contentTypeDescription="Create a new document." ma:contentTypeScope="" ma:versionID="a75a53a20a2d617b9667cdb23b6f72dd">
  <xsd:schema xmlns:xsd="http://www.w3.org/2001/XMLSchema" xmlns:xs="http://www.w3.org/2001/XMLSchema" xmlns:p="http://schemas.microsoft.com/office/2006/metadata/properties" xmlns:ns2="e4c99ac5-f6ea-4135-b1c0-e58780b79fd4" xmlns:ns3="5d1d679d-936a-45a1-aaba-a0947b8bc3e5" targetNamespace="http://schemas.microsoft.com/office/2006/metadata/properties" ma:root="true" ma:fieldsID="94af757681e451a348e1ef2840fa059f" ns2:_="" ns3:_="">
    <xsd:import namespace="e4c99ac5-f6ea-4135-b1c0-e58780b79fd4"/>
    <xsd:import namespace="5d1d679d-936a-45a1-aaba-a0947b8bc3e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c99ac5-f6ea-4135-b1c0-e58780b79f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9db886a3-360a-4c42-8388-d13770061d7a"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d1d679d-936a-45a1-aaba-a0947b8bc3e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fa73a4a-8ce2-465b-a5de-7266facd6f7e}" ma:internalName="TaxCatchAll" ma:showField="CatchAllData" ma:web="5d1d679d-936a-45a1-aaba-a0947b8bc3e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580BDE-6864-4C16-8192-D53B36CCA8E2}">
  <ds:schemaRefs>
    <ds:schemaRef ds:uri="http://purl.org/dc/elements/1.1/"/>
    <ds:schemaRef ds:uri="http://purl.org/dc/terms/"/>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5d1d679d-936a-45a1-aaba-a0947b8bc3e5"/>
    <ds:schemaRef ds:uri="e4c99ac5-f6ea-4135-b1c0-e58780b79fd4"/>
    <ds:schemaRef ds:uri="http://schemas.microsoft.com/office/2006/metadata/properties"/>
  </ds:schemaRefs>
</ds:datastoreItem>
</file>

<file path=customXml/itemProps2.xml><?xml version="1.0" encoding="utf-8"?>
<ds:datastoreItem xmlns:ds="http://schemas.openxmlformats.org/officeDocument/2006/customXml" ds:itemID="{1D1B6404-330A-4E1C-9CC0-DB42FFE98A0A}">
  <ds:schemaRefs>
    <ds:schemaRef ds:uri="5d1d679d-936a-45a1-aaba-a0947b8bc3e5"/>
    <ds:schemaRef ds:uri="e4c99ac5-f6ea-4135-b1c0-e58780b79fd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4BC52F6-AC2F-4A41-A226-E06D19A9B77A}">
  <ds:schemaRefs>
    <ds:schemaRef ds:uri="http://schemas.microsoft.com/sharepoint/v3/contenttype/forms"/>
  </ds:schemaRefs>
</ds:datastoreItem>
</file>

<file path=docMetadata/LabelInfo.xml><?xml version="1.0" encoding="utf-8"?>
<clbl:labelList xmlns:clbl="http://schemas.microsoft.com/office/2020/mipLabelMetadata">
  <clbl:label id="{9de2f3a5-898c-46a8-8767-325a3ea57c42}" enabled="1" method="Standard" siteId="{ee818347-bac4-4ebf-a695-bf2bc729f555}" removed="0"/>
</clbl:labelList>
</file>

<file path=docProps/app.xml><?xml version="1.0" encoding="utf-8"?>
<Properties xmlns="http://schemas.openxmlformats.org/officeDocument/2006/extended-properties" xmlns:vt="http://schemas.openxmlformats.org/officeDocument/2006/docPropsVTypes">
  <Template>Office Theme</Template>
  <TotalTime>2</TotalTime>
  <Words>18</Words>
  <Application>Microsoft Office PowerPoint</Application>
  <PresentationFormat>A4 Paper (210x297 mm)</PresentationFormat>
  <Paragraphs>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Guillaume Champavere</dc:creator>
  <cp:lastModifiedBy>Remas Al-Harbi</cp:lastModifiedBy>
  <cp:revision>4</cp:revision>
  <cp:lastPrinted>2025-09-24T11:20:40Z</cp:lastPrinted>
  <dcterms:created xsi:type="dcterms:W3CDTF">2025-09-23T11:39:47Z</dcterms:created>
  <dcterms:modified xsi:type="dcterms:W3CDTF">2025-11-04T10:56:03Z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Restricted</vt:lpwstr>
  </property>
  <property fmtid="{D5CDD505-2E9C-101B-9397-08002B2CF9AE}" pid="4" name="ContentTypeId">
    <vt:lpwstr>0x010100825A07D506DE2748A1B740C0A72D6ABB</vt:lpwstr>
  </property>
  <property fmtid="{D5CDD505-2E9C-101B-9397-08002B2CF9AE}" pid="5" name="MediaServiceImageTags">
    <vt:lpwstr/>
  </property>
</Properties>
</file>