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687" r:id="rId2"/>
  </p:sldMasterIdLst>
  <p:sldIdLst>
    <p:sldId id="261" r:id="rId3"/>
    <p:sldId id="262" r:id="rId4"/>
    <p:sldId id="258" r:id="rId5"/>
    <p:sldId id="256" r:id="rId6"/>
    <p:sldId id="275" r:id="rId7"/>
    <p:sldId id="276" r:id="rId8"/>
    <p:sldId id="277" r:id="rId9"/>
    <p:sldId id="278" r:id="rId10"/>
    <p:sldId id="279" r:id="rId11"/>
    <p:sldId id="280" r:id="rId12"/>
    <p:sldId id="267" r:id="rId13"/>
    <p:sldId id="273" r:id="rId14"/>
    <p:sldId id="283" r:id="rId15"/>
    <p:sldId id="281" r:id="rId16"/>
    <p:sldId id="282" r:id="rId17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55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38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4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24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01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0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35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13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3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73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39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95463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15399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48690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45369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41932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355279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498881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653267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174063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150328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0102935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99043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012664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015207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231965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507585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85836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60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425753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ver of a book&#10;&#10;AI-generated content may be incorrect.">
            <a:extLst>
              <a:ext uri="{FF2B5EF4-FFF2-40B4-BE49-F238E27FC236}">
                <a16:creationId xmlns:a16="http://schemas.microsoft.com/office/drawing/2014/main" id="{03190EB6-1142-6ACF-875E-DC1269B8D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5506065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5F6EA3A-9CB2-E62D-DB87-71EDAA4EB760}"/>
              </a:ext>
            </a:extLst>
          </p:cNvPr>
          <p:cNvSpPr txBox="1">
            <a:spLocks/>
          </p:cNvSpPr>
          <p:nvPr/>
        </p:nvSpPr>
        <p:spPr>
          <a:xfrm>
            <a:off x="5279923" y="1061884"/>
            <a:ext cx="7167717" cy="4581832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200" b="1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Mazen </a:t>
            </a:r>
          </a:p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200" b="1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Saad</a:t>
            </a:r>
          </a:p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21600" b="0" i="0" u="none" strike="noStrike" kern="1200" cap="none" spc="0" normalizeH="0" baseline="0" noProof="0" dirty="0">
              <a:ln>
                <a:noFill/>
              </a:ln>
              <a:solidFill>
                <a:srgbClr val="EBEBEB"/>
              </a:solidFill>
              <a:effectLst/>
              <a:uLnTx/>
              <a:uFillTx/>
              <a:latin typeface="Century Gothic" panose="020B0502020202020204"/>
              <a:ea typeface="+mj-ea"/>
              <a:cs typeface="Times New Roman" panose="02020603050405020304" pitchFamily="18" charset="0"/>
            </a:endParaRPr>
          </a:p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1600" b="0" i="0" u="none" strike="noStrike" kern="1200" cap="none" spc="0" normalizeH="0" baseline="0" noProof="0" dirty="0">
                <a:ln>
                  <a:noFill/>
                </a:ln>
                <a:solidFill>
                  <a:srgbClr val="E6B729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Computer teacher</a:t>
            </a:r>
            <a:endParaRPr kumimoji="0" lang="ar-EG" sz="21600" b="0" i="0" u="none" strike="noStrike" kern="1200" cap="none" spc="0" normalizeH="0" baseline="0" noProof="0" dirty="0">
              <a:ln>
                <a:noFill/>
              </a:ln>
              <a:solidFill>
                <a:srgbClr val="E6B729"/>
              </a:solidFill>
              <a:effectLst/>
              <a:uLnTx/>
              <a:uFillTx/>
              <a:latin typeface="Century Gothic" panose="020B0502020202020204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93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A1AB-7E54-CE1E-549F-89CEA43E6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324466"/>
            <a:ext cx="9144000" cy="4581832"/>
          </a:xfrm>
        </p:spPr>
        <p:txBody>
          <a:bodyPr>
            <a:normAutofit fontScale="90000"/>
          </a:bodyPr>
          <a:lstStyle/>
          <a:p>
            <a:r>
              <a:rPr lang="en-US" sz="37200" dirty="0"/>
              <a:t>ICT</a:t>
            </a:r>
            <a:endParaRPr lang="ar-EG" sz="37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9410BF-947B-2C44-CD99-421365520B67}"/>
              </a:ext>
            </a:extLst>
          </p:cNvPr>
          <p:cNvSpPr txBox="1">
            <a:spLocks/>
          </p:cNvSpPr>
          <p:nvPr/>
        </p:nvSpPr>
        <p:spPr>
          <a:xfrm>
            <a:off x="2875935" y="1951702"/>
            <a:ext cx="9144000" cy="45818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00" b="0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Grade 2</a:t>
            </a:r>
            <a:endParaRPr kumimoji="0" lang="ar-EG" sz="37200" b="0" i="0" u="none" strike="noStrike" kern="1200" cap="none" spc="0" normalizeH="0" baseline="0" noProof="0" dirty="0">
              <a:ln>
                <a:noFill/>
              </a:ln>
              <a:solidFill>
                <a:srgbClr val="EBEBEB"/>
              </a:solidFill>
              <a:effectLst/>
              <a:uLnTx/>
              <a:uFillTx/>
              <a:latin typeface="Century Gothic" panose="020B0502020202020204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47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F5DD-70DD-A14B-C9FC-65E34ACC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37" y="275303"/>
            <a:ext cx="8825657" cy="1031290"/>
          </a:xfrm>
        </p:spPr>
        <p:txBody>
          <a:bodyPr/>
          <a:lstStyle/>
          <a:p>
            <a:pPr algn="ctr"/>
            <a:r>
              <a:rPr lang="ro-RO" sz="8000" b="1" dirty="0"/>
              <a:t>Lesson title</a:t>
            </a:r>
            <a:endParaRPr lang="ar-EG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46EE9A-8C21-004E-9CB0-54CD93568534}"/>
              </a:ext>
            </a:extLst>
          </p:cNvPr>
          <p:cNvSpPr txBox="1">
            <a:spLocks/>
          </p:cNvSpPr>
          <p:nvPr/>
        </p:nvSpPr>
        <p:spPr>
          <a:xfrm>
            <a:off x="1258195" y="1591697"/>
            <a:ext cx="8825657" cy="10312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o-RO" sz="5400" dirty="0"/>
              <a:t>Create Documents</a:t>
            </a:r>
            <a:endParaRPr lang="ar-EG" sz="5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B781974-14F6-30CE-1ACC-1578929DF1FB}"/>
              </a:ext>
            </a:extLst>
          </p:cNvPr>
          <p:cNvSpPr txBox="1">
            <a:spLocks/>
          </p:cNvSpPr>
          <p:nvPr/>
        </p:nvSpPr>
        <p:spPr>
          <a:xfrm>
            <a:off x="3087430" y="3293806"/>
            <a:ext cx="5167185" cy="18055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/>
              <a:t>T</a:t>
            </a:r>
            <a:r>
              <a:rPr lang="ro-RO" sz="5400" dirty="0"/>
              <a:t>he </a:t>
            </a:r>
            <a:r>
              <a:rPr lang="en-US" sz="5400" dirty="0"/>
              <a:t>D</a:t>
            </a:r>
            <a:r>
              <a:rPr lang="ro-RO" sz="5400" dirty="0"/>
              <a:t>ate</a:t>
            </a:r>
            <a:endParaRPr lang="ar-EG" sz="5400" dirty="0"/>
          </a:p>
          <a:p>
            <a:pPr algn="ctr"/>
            <a:r>
              <a:rPr lang="en-US" sz="5400" dirty="0"/>
              <a:t>2025 / 11 / 2</a:t>
            </a:r>
            <a:endParaRPr lang="ar-EG" sz="5400" dirty="0"/>
          </a:p>
        </p:txBody>
      </p:sp>
    </p:spTree>
    <p:extLst>
      <p:ext uri="{BB962C8B-B14F-4D97-AF65-F5344CB8AC3E}">
        <p14:creationId xmlns:p14="http://schemas.microsoft.com/office/powerpoint/2010/main" val="230222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AAEF0CCC-3484-8BC9-C7D0-02A4B3A6CB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9" b="15175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A04B2-F0F6-8E03-348A-9B085AA10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612" y="990599"/>
            <a:ext cx="7618329" cy="4849091"/>
          </a:xfrm>
        </p:spPr>
        <p:txBody>
          <a:bodyPr anchor="ctr">
            <a:normAutofit/>
          </a:bodyPr>
          <a:lstStyle/>
          <a:p>
            <a:r>
              <a:rPr lang="ro-RO" sz="115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Create Documents</a:t>
            </a:r>
            <a:endParaRPr lang="ar-EG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542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E3F5E8-2002-0D2B-5399-B2AF9E5D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584" y="1141407"/>
            <a:ext cx="6656439" cy="4827639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8000" dirty="0"/>
              <a:t>Do you know what a Documents is </a:t>
            </a:r>
          </a:p>
        </p:txBody>
      </p:sp>
      <p:pic>
        <p:nvPicPr>
          <p:cNvPr id="4" name="Picture 3" descr="A cartoon of a child holding a pencil and writing in a book&#10;&#10;AI-generated content may be incorrect.">
            <a:extLst>
              <a:ext uri="{FF2B5EF4-FFF2-40B4-BE49-F238E27FC236}">
                <a16:creationId xmlns:a16="http://schemas.microsoft.com/office/drawing/2014/main" id="{1814D1B3-EE96-332F-09C6-C4DED1D2B4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5" r="2" b="2"/>
          <a:stretch>
            <a:fillRect/>
          </a:stretch>
        </p:blipFill>
        <p:spPr>
          <a:xfrm>
            <a:off x="6094411" y="10"/>
            <a:ext cx="609759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A5788BB-481F-4FC7-AD49-73D20DDD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37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 child holding a pencil and writing in a book&#10;&#10;AI-generated content may be incorrect.">
            <a:extLst>
              <a:ext uri="{FF2B5EF4-FFF2-40B4-BE49-F238E27FC236}">
                <a16:creationId xmlns:a16="http://schemas.microsoft.com/office/drawing/2014/main" id="{1814D1B3-EE96-332F-09C6-C4DED1D2B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5" r="2" b="2"/>
          <a:stretch>
            <a:fillRect/>
          </a:stretch>
        </p:blipFill>
        <p:spPr>
          <a:xfrm>
            <a:off x="6094411" y="10"/>
            <a:ext cx="6097590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010A1F3-D9DD-5ED0-FA17-004EA1960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6" y="452718"/>
            <a:ext cx="6167644" cy="4669888"/>
          </a:xfrm>
        </p:spPr>
        <p:txBody>
          <a:bodyPr/>
          <a:lstStyle/>
          <a:p>
            <a:r>
              <a:rPr lang="en-US" sz="6600" dirty="0"/>
              <a:t>document is a file that contains information.</a:t>
            </a:r>
            <a:endParaRPr lang="ar-EG" sz="6600" dirty="0"/>
          </a:p>
        </p:txBody>
      </p:sp>
    </p:spTree>
    <p:extLst>
      <p:ext uri="{BB962C8B-B14F-4D97-AF65-F5344CB8AC3E}">
        <p14:creationId xmlns:p14="http://schemas.microsoft.com/office/powerpoint/2010/main" val="4071019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72330AA-E11E-458E-8798-12C7F7738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 7">
            <a:extLst>
              <a:ext uri="{FF2B5EF4-FFF2-40B4-BE49-F238E27FC236}">
                <a16:creationId xmlns:a16="http://schemas.microsoft.com/office/drawing/2014/main" id="{A6BDC1B0-0C91-4230-BFEB-9C8ED19B9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2449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 useBgFill="1">
        <p:nvSpPr>
          <p:cNvPr id="69" name="Freeform: Shape 68">
            <a:extLst>
              <a:ext uri="{FF2B5EF4-FFF2-40B4-BE49-F238E27FC236}">
                <a16:creationId xmlns:a16="http://schemas.microsoft.com/office/drawing/2014/main" id="{68E0A26E-4EA8-4E6C-97A2-7B6C1C13F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814824" y="480824"/>
            <a:ext cx="6858001" cy="5896352"/>
          </a:xfrm>
          <a:custGeom>
            <a:avLst/>
            <a:gdLst>
              <a:gd name="connsiteX0" fmla="*/ 6858001 w 6858001"/>
              <a:gd name="connsiteY0" fmla="*/ 1177 h 5896352"/>
              <a:gd name="connsiteX1" fmla="*/ 6858001 w 6858001"/>
              <a:gd name="connsiteY1" fmla="*/ 1344715 h 5896352"/>
              <a:gd name="connsiteX2" fmla="*/ 6858000 w 6858001"/>
              <a:gd name="connsiteY2" fmla="*/ 1344715 h 5896352"/>
              <a:gd name="connsiteX3" fmla="*/ 6858000 w 6858001"/>
              <a:gd name="connsiteY3" fmla="*/ 5896352 h 5896352"/>
              <a:gd name="connsiteX4" fmla="*/ 0 w 6858001"/>
              <a:gd name="connsiteY4" fmla="*/ 5896351 h 5896352"/>
              <a:gd name="connsiteX5" fmla="*/ 0 w 6858001"/>
              <a:gd name="connsiteY5" fmla="*/ 904459 h 5896352"/>
              <a:gd name="connsiteX6" fmla="*/ 1 w 6858001"/>
              <a:gd name="connsiteY6" fmla="*/ 904459 h 5896352"/>
              <a:gd name="connsiteX7" fmla="*/ 1 w 6858001"/>
              <a:gd name="connsiteY7" fmla="*/ 0 h 5896352"/>
              <a:gd name="connsiteX8" fmla="*/ 40463 w 6858001"/>
              <a:gd name="connsiteY8" fmla="*/ 5883 h 5896352"/>
              <a:gd name="connsiteX9" fmla="*/ 159107 w 6858001"/>
              <a:gd name="connsiteY9" fmla="*/ 23196 h 5896352"/>
              <a:gd name="connsiteX10" fmla="*/ 245518 w 6858001"/>
              <a:gd name="connsiteY10" fmla="*/ 35299 h 5896352"/>
              <a:gd name="connsiteX11" fmla="*/ 348388 w 6858001"/>
              <a:gd name="connsiteY11" fmla="*/ 48073 h 5896352"/>
              <a:gd name="connsiteX12" fmla="*/ 470460 w 6858001"/>
              <a:gd name="connsiteY12" fmla="*/ 63369 h 5896352"/>
              <a:gd name="connsiteX13" fmla="*/ 605563 w 6858001"/>
              <a:gd name="connsiteY13" fmla="*/ 79506 h 5896352"/>
              <a:gd name="connsiteX14" fmla="*/ 757810 w 6858001"/>
              <a:gd name="connsiteY14" fmla="*/ 96483 h 5896352"/>
              <a:gd name="connsiteX15" fmla="*/ 923774 w 6858001"/>
              <a:gd name="connsiteY15" fmla="*/ 114469 h 5896352"/>
              <a:gd name="connsiteX16" fmla="*/ 1104139 w 6858001"/>
              <a:gd name="connsiteY16" fmla="*/ 132454 h 5896352"/>
              <a:gd name="connsiteX17" fmla="*/ 1296163 w 6858001"/>
              <a:gd name="connsiteY17" fmla="*/ 150776 h 5896352"/>
              <a:gd name="connsiteX18" fmla="*/ 1503275 w 6858001"/>
              <a:gd name="connsiteY18" fmla="*/ 167753 h 5896352"/>
              <a:gd name="connsiteX19" fmla="*/ 1719988 w 6858001"/>
              <a:gd name="connsiteY19" fmla="*/ 184058 h 5896352"/>
              <a:gd name="connsiteX20" fmla="*/ 1949045 w 6858001"/>
              <a:gd name="connsiteY20" fmla="*/ 198849 h 5896352"/>
              <a:gd name="connsiteX21" fmla="*/ 2187703 w 6858001"/>
              <a:gd name="connsiteY21" fmla="*/ 212969 h 5896352"/>
              <a:gd name="connsiteX22" fmla="*/ 2436649 w 6858001"/>
              <a:gd name="connsiteY22" fmla="*/ 226248 h 5896352"/>
              <a:gd name="connsiteX23" fmla="*/ 2564208 w 6858001"/>
              <a:gd name="connsiteY23" fmla="*/ 230955 h 5896352"/>
              <a:gd name="connsiteX24" fmla="*/ 2694509 w 6858001"/>
              <a:gd name="connsiteY24" fmla="*/ 236165 h 5896352"/>
              <a:gd name="connsiteX25" fmla="*/ 2826868 w 6858001"/>
              <a:gd name="connsiteY25" fmla="*/ 241040 h 5896352"/>
              <a:gd name="connsiteX26" fmla="*/ 2959914 w 6858001"/>
              <a:gd name="connsiteY26" fmla="*/ 244234 h 5896352"/>
              <a:gd name="connsiteX27" fmla="*/ 3095702 w 6858001"/>
              <a:gd name="connsiteY27" fmla="*/ 247091 h 5896352"/>
              <a:gd name="connsiteX28" fmla="*/ 3232862 w 6858001"/>
              <a:gd name="connsiteY28" fmla="*/ 250117 h 5896352"/>
              <a:gd name="connsiteX29" fmla="*/ 3372765 w 6858001"/>
              <a:gd name="connsiteY29" fmla="*/ 252134 h 5896352"/>
              <a:gd name="connsiteX30" fmla="*/ 3514040 w 6858001"/>
              <a:gd name="connsiteY30" fmla="*/ 252134 h 5896352"/>
              <a:gd name="connsiteX31" fmla="*/ 3656686 w 6858001"/>
              <a:gd name="connsiteY31" fmla="*/ 253142 h 5896352"/>
              <a:gd name="connsiteX32" fmla="*/ 3800704 w 6858001"/>
              <a:gd name="connsiteY32" fmla="*/ 252134 h 5896352"/>
              <a:gd name="connsiteX33" fmla="*/ 3946780 w 6858001"/>
              <a:gd name="connsiteY33" fmla="*/ 250117 h 5896352"/>
              <a:gd name="connsiteX34" fmla="*/ 4092855 w 6858001"/>
              <a:gd name="connsiteY34" fmla="*/ 248268 h 5896352"/>
              <a:gd name="connsiteX35" fmla="*/ 4240988 w 6858001"/>
              <a:gd name="connsiteY35" fmla="*/ 244234 h 5896352"/>
              <a:gd name="connsiteX36" fmla="*/ 4390492 w 6858001"/>
              <a:gd name="connsiteY36" fmla="*/ 240032 h 5896352"/>
              <a:gd name="connsiteX37" fmla="*/ 4539997 w 6858001"/>
              <a:gd name="connsiteY37" fmla="*/ 235157 h 5896352"/>
              <a:gd name="connsiteX38" fmla="*/ 4690873 w 6858001"/>
              <a:gd name="connsiteY38" fmla="*/ 228266 h 5896352"/>
              <a:gd name="connsiteX39" fmla="*/ 4843120 w 6858001"/>
              <a:gd name="connsiteY39" fmla="*/ 220029 h 5896352"/>
              <a:gd name="connsiteX40" fmla="*/ 4996054 w 6858001"/>
              <a:gd name="connsiteY40" fmla="*/ 212129 h 5896352"/>
              <a:gd name="connsiteX41" fmla="*/ 5148987 w 6858001"/>
              <a:gd name="connsiteY41" fmla="*/ 202044 h 5896352"/>
              <a:gd name="connsiteX42" fmla="*/ 5303978 w 6858001"/>
              <a:gd name="connsiteY42" fmla="*/ 189941 h 5896352"/>
              <a:gd name="connsiteX43" fmla="*/ 5456911 w 6858001"/>
              <a:gd name="connsiteY43" fmla="*/ 177839 h 5896352"/>
              <a:gd name="connsiteX44" fmla="*/ 5612588 w 6858001"/>
              <a:gd name="connsiteY44" fmla="*/ 163887 h 5896352"/>
              <a:gd name="connsiteX45" fmla="*/ 5768950 w 6858001"/>
              <a:gd name="connsiteY45" fmla="*/ 148591 h 5896352"/>
              <a:gd name="connsiteX46" fmla="*/ 5923255 w 6858001"/>
              <a:gd name="connsiteY46" fmla="*/ 132455 h 5896352"/>
              <a:gd name="connsiteX47" fmla="*/ 6079618 w 6858001"/>
              <a:gd name="connsiteY47" fmla="*/ 113629 h 5896352"/>
              <a:gd name="connsiteX48" fmla="*/ 6235294 w 6858001"/>
              <a:gd name="connsiteY48" fmla="*/ 93458 h 5896352"/>
              <a:gd name="connsiteX49" fmla="*/ 6391657 w 6858001"/>
              <a:gd name="connsiteY49" fmla="*/ 73455 h 5896352"/>
              <a:gd name="connsiteX50" fmla="*/ 6547333 w 6858001"/>
              <a:gd name="connsiteY50" fmla="*/ 50091 h 5896352"/>
              <a:gd name="connsiteX51" fmla="*/ 6702324 w 6858001"/>
              <a:gd name="connsiteY51" fmla="*/ 26222 h 589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896352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896352"/>
                </a:lnTo>
                <a:lnTo>
                  <a:pt x="0" y="5896351"/>
                </a:lnTo>
                <a:lnTo>
                  <a:pt x="0" y="904459"/>
                </a:lnTo>
                <a:lnTo>
                  <a:pt x="1" y="904459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ar-EG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1841CC0-B7A9-4828-B82F-9C6B433BD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8E05919-D800-40FD-A3BD-4B9CC407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428412" cy="6858000"/>
            <a:chOff x="0" y="0"/>
            <a:chExt cx="11428412" cy="6858000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DE70C79C-8688-4786-8FCD-43A4B5D5B7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13"/>
            <a:stretch/>
          </p:blipFill>
          <p:spPr>
            <a:xfrm>
              <a:off x="0" y="2669685"/>
              <a:ext cx="4037012" cy="4188315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A6338A0-2BDA-4E79-A762-AAD8608C0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40"/>
            <a:stretch/>
          </p:blipFill>
          <p:spPr>
            <a:xfrm>
              <a:off x="0" y="2892347"/>
              <a:ext cx="1522412" cy="2365453"/>
            </a:xfrm>
            <a:prstGeom prst="rect">
              <a:avLst/>
            </a:prstGeom>
          </p:spPr>
        </p:pic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B685624D-3645-4129-9FF6-0C59DBF23B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tx2">
                    <a:alpha val="7000"/>
                    <a:lumMod val="60000"/>
                    <a:lumOff val="40000"/>
                  </a:schemeClr>
                </a:gs>
                <a:gs pos="69000">
                  <a:schemeClr val="tx2">
                    <a:alpha val="0"/>
                    <a:lumMod val="60000"/>
                    <a:lumOff val="40000"/>
                  </a:schemeClr>
                </a:gs>
                <a:gs pos="36000">
                  <a:schemeClr val="tx2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EG"/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03F24C1B-E4C1-43E7-84B3-DD476F383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3"/>
            <a:stretch/>
          </p:blipFill>
          <p:spPr>
            <a:xfrm>
              <a:off x="7999412" y="0"/>
              <a:ext cx="1603387" cy="1141407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8725CE5D-088A-4522-9817-4B485D6E7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320"/>
            <a:stretch/>
          </p:blipFill>
          <p:spPr>
            <a:xfrm>
              <a:off x="8605878" y="6096000"/>
              <a:ext cx="993734" cy="762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135B3C-0A27-11E8-8E3D-25BB395A5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6" y="1843848"/>
            <a:ext cx="6461759" cy="2484503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/>
            <a:r>
              <a:rPr lang="en-US" sz="88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This can be</a:t>
            </a:r>
          </a:p>
        </p:txBody>
      </p:sp>
      <p:pic>
        <p:nvPicPr>
          <p:cNvPr id="27" name="Graphic 26" descr="Checkmark">
            <a:extLst>
              <a:ext uri="{FF2B5EF4-FFF2-40B4-BE49-F238E27FC236}">
                <a16:creationId xmlns:a16="http://schemas.microsoft.com/office/drawing/2014/main" id="{1D9A354B-B1AD-37A3-47F4-DA3195E3B4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03354" y="2074882"/>
            <a:ext cx="2936836" cy="293683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97743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13E5D-5A38-C1FD-84DA-C091054CB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13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text</a:t>
            </a:r>
            <a:endParaRPr lang="en-US" sz="138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6" name="Graphic 5" descr="Chat Bubble">
            <a:extLst>
              <a:ext uri="{FF2B5EF4-FFF2-40B4-BE49-F238E27FC236}">
                <a16:creationId xmlns:a16="http://schemas.microsoft.com/office/drawing/2014/main" id="{7B40B94E-F90D-134D-CA7B-30DDE455A2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8115" y="647698"/>
            <a:ext cx="5562139" cy="556213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64678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036FE-DE36-9AB7-6426-1BB125D69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7286" y="2741607"/>
            <a:ext cx="4644074" cy="202219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rtl="0"/>
            <a:r>
              <a:rPr lang="en-US" sz="8800" dirty="0"/>
              <a:t>Numbers</a:t>
            </a:r>
          </a:p>
        </p:txBody>
      </p:sp>
      <p:pic>
        <p:nvPicPr>
          <p:cNvPr id="4" name="Picture 3" descr="Rubberized numbers on the wall">
            <a:extLst>
              <a:ext uri="{FF2B5EF4-FFF2-40B4-BE49-F238E27FC236}">
                <a16:creationId xmlns:a16="http://schemas.microsoft.com/office/drawing/2014/main" id="{0863C483-34C4-92AA-4AD4-1F0BAFA6C2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044" r="12429" b="-1"/>
          <a:stretch>
            <a:fillRect/>
          </a:stretch>
        </p:blipFill>
        <p:spPr>
          <a:xfrm>
            <a:off x="-1" y="10"/>
            <a:ext cx="755414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00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4E8EDE-D253-FA0E-24EB-04686CCF5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" y="1454964"/>
            <a:ext cx="4603433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9600" dirty="0"/>
              <a:t>images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A4BD36-B0C8-F905-F336-AFD5A4E62AB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4799" r="13215"/>
          <a:stretch>
            <a:fillRect/>
          </a:stretch>
        </p:blipFill>
        <p:spPr>
          <a:xfrm>
            <a:off x="4634682" y="10"/>
            <a:ext cx="755731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FEFF673-A9DE-416D-A04E-1D5090454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3510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87786C-3C80-8CA2-6C08-40B00EB4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35" y="1325880"/>
            <a:ext cx="4171251" cy="16905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</a:pPr>
            <a:r>
              <a:rPr lang="en-US" sz="4400" b="1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We follow the explanation</a:t>
            </a:r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418EC7-5825-3C25-4652-43AA45BFBD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00" y="647698"/>
            <a:ext cx="5381369" cy="5562139"/>
          </a:xfrm>
          <a:prstGeom prst="rect">
            <a:avLst/>
          </a:prstGeom>
          <a:effectLst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A8F6AB9-BE46-D277-777C-1A581CF06212}"/>
              </a:ext>
            </a:extLst>
          </p:cNvPr>
          <p:cNvSpPr txBox="1">
            <a:spLocks/>
          </p:cNvSpPr>
          <p:nvPr/>
        </p:nvSpPr>
        <p:spPr>
          <a:xfrm>
            <a:off x="7809954" y="3497054"/>
            <a:ext cx="4053233" cy="16905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E6B729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Yes</a:t>
            </a: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 Or </a:t>
            </a: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731124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E89F-1136-C58A-F90A-FEA8F08B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798" y="894737"/>
            <a:ext cx="7279204" cy="529397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rtl="0">
              <a:lnSpc>
                <a:spcPct val="90000"/>
              </a:lnSpc>
            </a:pPr>
            <a:r>
              <a:rPr lang="en-US" sz="9600" dirty="0"/>
              <a:t>Do you know the steps to create a </a:t>
            </a:r>
            <a:r>
              <a:rPr lang="ro-RO" sz="9600" dirty="0"/>
              <a:t>Document</a:t>
            </a:r>
            <a:endParaRPr lang="en-US" sz="96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A cartoon of a child sitting at a table with a pencil&#10;&#10;AI-generated content may be incorrect.">
            <a:extLst>
              <a:ext uri="{FF2B5EF4-FFF2-40B4-BE49-F238E27FC236}">
                <a16:creationId xmlns:a16="http://schemas.microsoft.com/office/drawing/2014/main" id="{F636CC74-EFB2-55BA-E86E-32FACC8DF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925" y="570703"/>
            <a:ext cx="5342146" cy="569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534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4" name="Picture 3" descr="Person walking up a stairs">
            <a:extLst>
              <a:ext uri="{FF2B5EF4-FFF2-40B4-BE49-F238E27FC236}">
                <a16:creationId xmlns:a16="http://schemas.microsoft.com/office/drawing/2014/main" id="{8B4FE395-9133-D707-506E-8C5467DCBEE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5655" r="-1" b="22655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0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608C02-B57E-9D31-7B4E-022F46BDA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5"/>
            <a:ext cx="10407602" cy="171874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 rtl="0"/>
            <a:r>
              <a:rPr lang="en-US" sz="11500" dirty="0">
                <a:solidFill>
                  <a:srgbClr val="EBEBEB"/>
                </a:solidFill>
              </a:rPr>
              <a:t>First step</a:t>
            </a:r>
          </a:p>
        </p:txBody>
      </p:sp>
    </p:spTree>
    <p:extLst>
      <p:ext uri="{BB962C8B-B14F-4D97-AF65-F5344CB8AC3E}">
        <p14:creationId xmlns:p14="http://schemas.microsoft.com/office/powerpoint/2010/main" val="1956943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72C22-E0A5-1B98-BE2A-DC0D4939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 Word is a software that allows us to add images and </a:t>
            </a:r>
            <a:r>
              <a:rPr lang="en-US" dirty="0" err="1"/>
              <a:t>changetext</a:t>
            </a:r>
            <a:r>
              <a:rPr lang="en-US" dirty="0"/>
              <a:t> style in a document. We can also add tables, </a:t>
            </a:r>
            <a:r>
              <a:rPr lang="en-US" dirty="0" err="1"/>
              <a:t>colours</a:t>
            </a:r>
            <a:r>
              <a:rPr lang="en-US" dirty="0"/>
              <a:t>, </a:t>
            </a:r>
            <a:r>
              <a:rPr lang="en-US" dirty="0" err="1"/>
              <a:t>andshapes</a:t>
            </a:r>
            <a:r>
              <a:rPr lang="en-US" dirty="0"/>
              <a:t>. A document created with MS Word is called as a </a:t>
            </a:r>
            <a:r>
              <a:rPr lang="en-US" dirty="0" err="1"/>
              <a:t>WordDocument</a:t>
            </a:r>
            <a:r>
              <a:rPr lang="en-US" dirty="0"/>
              <a:t>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412904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AA41C-183F-6816-1807-49E0ACCDF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4718463"/>
            <a:ext cx="11592231" cy="18546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200" dirty="0">
                <a:solidFill>
                  <a:srgbClr val="EBEBEB"/>
                </a:solidFill>
              </a:rPr>
              <a:t>MS Word is a software that allows us to add images and </a:t>
            </a:r>
            <a:r>
              <a:rPr lang="en-US" sz="3200" dirty="0" err="1">
                <a:solidFill>
                  <a:srgbClr val="EBEBEB"/>
                </a:solidFill>
              </a:rPr>
              <a:t>changetext</a:t>
            </a:r>
            <a:r>
              <a:rPr lang="en-US" sz="3200" dirty="0">
                <a:solidFill>
                  <a:srgbClr val="EBEBEB"/>
                </a:solidFill>
              </a:rPr>
              <a:t> style in a document. We can also add tables, </a:t>
            </a:r>
            <a:r>
              <a:rPr lang="en-US" sz="3200" dirty="0" err="1">
                <a:solidFill>
                  <a:srgbClr val="EBEBEB"/>
                </a:solidFill>
              </a:rPr>
              <a:t>colours</a:t>
            </a:r>
            <a:r>
              <a:rPr lang="en-US" sz="3200" dirty="0">
                <a:solidFill>
                  <a:srgbClr val="EBEBEB"/>
                </a:solidFill>
              </a:rPr>
              <a:t>, </a:t>
            </a:r>
            <a:r>
              <a:rPr lang="en-US" sz="3200" dirty="0" err="1">
                <a:solidFill>
                  <a:srgbClr val="EBEBEB"/>
                </a:solidFill>
              </a:rPr>
              <a:t>andshapes</a:t>
            </a:r>
            <a:r>
              <a:rPr lang="en-US" sz="3200" dirty="0">
                <a:solidFill>
                  <a:srgbClr val="EBEBEB"/>
                </a:solidFill>
              </a:rPr>
              <a:t>. A document created with MS Word is called as a </a:t>
            </a:r>
            <a:r>
              <a:rPr lang="en-US" sz="3200" dirty="0" err="1">
                <a:solidFill>
                  <a:srgbClr val="EBEBEB"/>
                </a:solidFill>
              </a:rPr>
              <a:t>WordDocument</a:t>
            </a:r>
            <a:r>
              <a:rPr lang="en-US" sz="3200" dirty="0">
                <a:solidFill>
                  <a:srgbClr val="EBEBEB"/>
                </a:solidFill>
              </a:rPr>
              <a:t>.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6EDF8624-D62C-7952-B4A5-CF380267DD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419" y="14616"/>
            <a:ext cx="6829392" cy="455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6808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141</Words>
  <Application>Microsoft Office PowerPoint</Application>
  <PresentationFormat>Widescreen</PresentationFormat>
  <Paragraphs>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Calisto MT</vt:lpstr>
      <vt:lpstr>Century Gothic</vt:lpstr>
      <vt:lpstr>Univers Condensed</vt:lpstr>
      <vt:lpstr>Wingdings 3</vt:lpstr>
      <vt:lpstr>ChronicleVTI</vt:lpstr>
      <vt:lpstr>Ion</vt:lpstr>
      <vt:lpstr>PowerPoint Presentation</vt:lpstr>
      <vt:lpstr>ICT</vt:lpstr>
      <vt:lpstr>Lesson title</vt:lpstr>
      <vt:lpstr>Create Documents</vt:lpstr>
      <vt:lpstr>Do you know what a Documents is </vt:lpstr>
      <vt:lpstr>document is a file that contains information.</vt:lpstr>
      <vt:lpstr>This can be</vt:lpstr>
      <vt:lpstr>text</vt:lpstr>
      <vt:lpstr>Numbers</vt:lpstr>
      <vt:lpstr>images</vt:lpstr>
      <vt:lpstr>We follow the explanation</vt:lpstr>
      <vt:lpstr>Do you know the steps to create a Document</vt:lpstr>
      <vt:lpstr>First step</vt:lpstr>
      <vt:lpstr>MS Word is a software that allows us to add images and changetext style in a document. We can also add tables, colours, andshapes. A document created with MS Word is called as a WordDocument.</vt:lpstr>
      <vt:lpstr>MS Word is a software that allows us to add images and changetext style in a document. We can also add tables, colours, andshapes. A document created with MS Word is called as a WordDocument.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Mazen Abdel Tawab Saad Ahmed</dc:creator>
  <cp:lastModifiedBy>Mazen Abdel Tawab Saad Ahmed</cp:lastModifiedBy>
  <cp:revision>18</cp:revision>
  <dcterms:created xsi:type="dcterms:W3CDTF">2025-11-01T11:57:01Z</dcterms:created>
  <dcterms:modified xsi:type="dcterms:W3CDTF">2025-11-01T12:46:15Z</dcterms:modified>
</cp:coreProperties>
</file>